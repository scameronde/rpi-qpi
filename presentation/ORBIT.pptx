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vier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2443950"/>
            <a:ext cx="1874519" cy="1970098"/>
          </a:xfrm>
          <a:prstGeom prst="rect">
            <a:avLst/>
          </a:prstGeom>
        </p:spPr>
      </p:pic>
      <p:pic>
        <p:nvPicPr>
          <p:cNvPr id="4" name="Picture 3" descr="vi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095" y="411480"/>
            <a:ext cx="868680" cy="332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141732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F3C00"/>
                </a:solidFill>
                <a:latin typeface="Arial"/>
              </a:rPr>
              <a:t>AGENTISCHES ENGINEERING-FRAMEWORK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783080"/>
            <a:ext cx="6675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1" i="0">
                <a:solidFill>
                  <a:srgbClr val="141414"/>
                </a:solidFill>
                <a:latin typeface="Arial"/>
              </a:rPr>
              <a:t>ORBIT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907792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1">
                <a:solidFill>
                  <a:srgbClr val="5C5C5C"/>
                </a:solidFill>
                <a:latin typeface="Arial"/>
              </a:rPr>
              <a:t>Das Agentische Software-Engineering-Framework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1012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1">
                <a:solidFill>
                  <a:srgbClr val="8A8A8A"/>
                </a:solidFill>
                <a:latin typeface="Arial"/>
              </a:rPr>
              <a:t>Die Agentische Montagelinie — V3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3822191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0" y="4160520"/>
            <a:ext cx="365760" cy="365760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411480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Analyse &amp; Architekturplanung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A8A8A"/>
                </a:solidFill>
                <a:latin typeface="Arial"/>
              </a:rPr>
              <a:t>Mission, Spezifikation, Epic-Zerlegung</a:t>
            </a:r>
          </a:p>
        </p:txBody>
      </p:sp>
      <p:sp>
        <p:nvSpPr>
          <p:cNvPr id="12" name="Oval 11"/>
          <p:cNvSpPr/>
          <p:nvPr/>
        </p:nvSpPr>
        <p:spPr>
          <a:xfrm>
            <a:off x="4937760" y="4873752"/>
            <a:ext cx="365760" cy="365760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8112" y="4828032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Recherche &amp; automatisierte Ausführung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A8A8A"/>
                </a:solidFill>
                <a:latin typeface="Arial"/>
              </a:rPr>
              <a:t>Verifizierte Fakten, Planung, Implementierung &amp; QA</a:t>
            </a:r>
          </a:p>
        </p:txBody>
      </p:sp>
      <p:sp>
        <p:nvSpPr>
          <p:cNvPr id="14" name="Oval 13"/>
          <p:cNvSpPr/>
          <p:nvPr/>
        </p:nvSpPr>
        <p:spPr>
          <a:xfrm>
            <a:off x="4937760" y="5586984"/>
            <a:ext cx="365760" cy="365760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5541264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Lückenlose Artefakt-Kette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A8A8A"/>
                </a:solidFill>
                <a:latin typeface="Arial"/>
              </a:rPr>
              <a:t>Von der Vision bis zum Git-Commit nachverfolgbar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Zwei Stationen — eine durchgängige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>ORBIT führt jedes Projekt von der rohen Vision bis zum ausgelieferten Quellcode — durch strukturierte, nachverfolgbare KI-Pipelines.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5408676" cy="3977639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404872"/>
            <a:ext cx="48234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200">
                <a:solidFill>
                  <a:srgbClr val="FF3C00"/>
                </a:solidFill>
                <a:latin typeface="Arial"/>
              </a:rPr>
              <a:t>STATION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651760"/>
            <a:ext cx="48234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Arial"/>
              </a:rPr>
              <a:t>Analyse &amp; Architekturplanung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" y="3227832"/>
            <a:ext cx="4823460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3429000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Mission &amp; Feature-Definition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Legt Wert und Umfang fest — ohne spezifische Technologien zu nennen.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334256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Technische Spezifikation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Übersetzt die Vision in Architektur, Datenflüsse und ER-Diagramme.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5239512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Epic-Zerlegung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Zerlegt Specs in nutzerorientierte „Epics" aus 5–7 User Stories.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7356" y="2148840"/>
            <a:ext cx="5408676" cy="3977639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7356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9964" y="2404872"/>
            <a:ext cx="48234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200">
                <a:solidFill>
                  <a:srgbClr val="FF3C00"/>
                </a:solidFill>
                <a:latin typeface="Arial"/>
              </a:rPr>
              <a:t>STATION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9964" y="2651760"/>
            <a:ext cx="48234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Arial"/>
              </a:rPr>
              <a:t>Recherche &amp; automatisierte Ausführung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69964" y="3227832"/>
            <a:ext cx="4823460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9964" y="3429000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Faktenbasierte Recherche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Subagenten kartografieren die Codebasis und verifizieren jeden Anspruch.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9964" y="4334256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Blaupausen-gesteuerte Planung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Wandelt Recherche in Aufgaben um, die Code mit Zeilennummern zitieren.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9964" y="5239512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Verwaltete Implementierung &amp; QA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Der Controller orchestriert Coder, verifiziert und committet Code.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  <p:pic>
        <p:nvPicPr>
          <p:cNvPr id="23" name="Picture 22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PRINZIP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Engineering braucht Ordnung, kein Chaos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>Unstrukturiertes „Vibe Coding" im Kontrast zum disziplinierten, stufengesteuerten ORBIT-Framework.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57400"/>
            <a:ext cx="5408676" cy="33375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13432"/>
            <a:ext cx="2331720" cy="2743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50" b="1" i="0" spc="120">
                <a:solidFill>
                  <a:srgbClr val="FFFFFF"/>
                </a:solidFill>
                <a:latin typeface="Arial"/>
              </a:rPr>
              <a:t>VIBE CODING — DAS CHAOS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70632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Halluzinationen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Direkt zur Implementierung zu springen erzeugt falsche oder erfundene KI-Logik.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Scope Creep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Fehlende Grenzen lassen Projekte unkontrolliert wachsen.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53128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Kontextverlust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Unverbundene Prompts verlieren ursprüngliche Anforderungen aus dem Blick.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2057400"/>
            <a:ext cx="5408676" cy="33375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1676" y="2313432"/>
            <a:ext cx="2377440" cy="2743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50" b="1" i="0" spc="120">
                <a:solidFill>
                  <a:srgbClr val="FFFFFF"/>
                </a:solidFill>
                <a:latin typeface="Arial"/>
              </a:rPr>
              <a:t>ORBIT — DIE ORDNUNG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51676" y="2752344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5" y="2734056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Das „Warum" definieren, bevor Technologie gewählt wird.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51676" y="3401568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SPEZIFIKATION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0475" y="3383279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Architektur definieren, technologieneutral.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51676" y="4050791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PLANUNG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0475" y="4032504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Codebasis kartografieren — jede Aufgabe belegt.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1676" y="4700016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AUSFÜHRUNG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0475" y="4681728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Den verifizierten Plan implementieren.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650992"/>
            <a:ext cx="11183112" cy="56692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Die Goldene Regel: Kein Agent überspringt einen Schritt. Jede Phase setzt das Artefakt der vorherigen voraus.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3</a:t>
            </a:r>
          </a:p>
        </p:txBody>
      </p:sp>
      <p:pic>
        <p:nvPicPr>
          <p:cNvPr id="24" name="Picture 23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DAS HERZSTÜCK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Die Artefakt-Kette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1">
                <a:solidFill>
                  <a:srgbClr val="FF3C00"/>
                </a:solidFill>
                <a:latin typeface="Arial"/>
              </a:rPr>
              <a:t>ORBIT ist keine Sammlung von Befehlen — ORBIT ist eine Kette von Dokumenten.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93392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Jeder Skill ist eine Transformation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Jeder Skill liest das Artefakt der vorherigen Phase und erzeugt das Artefakt für die nächste. Die Informationsdichte steigt mit jedem Schritt.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182112"/>
            <a:ext cx="5408676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64592" rIns="164592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141414"/>
                </a:solidFill>
                <a:latin typeface="Arial"/>
              </a:rPr>
              <a:t>Alle Artefakte leben in </a:t>
            </a:r>
            <a:r>
              <a:rPr sz="1050" b="1" i="0">
                <a:solidFill>
                  <a:srgbClr val="FF3C00"/>
                </a:solidFill>
                <a:latin typeface="Courier New"/>
              </a:rPr>
              <a:t>thoughts/shared/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>Jedes Artefakt referenziert seinen Vorgänger — ein lückenloses Audit-Log.</a:t>
            </a:r>
          </a:p>
          <a:p>
            <a:pPr algn="l">
              <a:spcAft>
                <a:spcPts val="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277356" y="1993392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Die Ausnahmeregel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7356" y="2304288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Die </a:t>
            </a:r>
            <a:r>
              <a:rPr sz="1100" b="1" i="0">
                <a:solidFill>
                  <a:srgbClr val="FF3C00"/>
                </a:solidFill>
                <a:latin typeface="Courier New"/>
              </a:rPr>
              <a:t>/mission-architect</a:t>
            </a:r>
            <a:r>
              <a:rPr sz="1100" b="0" i="0">
                <a:solidFill>
                  <a:srgbClr val="5C5C5C"/>
                </a:solidFill>
                <a:latin typeface="Arial"/>
              </a:rPr>
              <a:t> und </a:t>
            </a:r>
            <a:r>
              <a:rPr sz="1100" b="1" i="0">
                <a:solidFill>
                  <a:srgbClr val="FF3C00"/>
                </a:solidFill>
                <a:latin typeface="Courier New"/>
              </a:rPr>
              <a:t>/feature-architect</a:t>
            </a:r>
            <a:r>
              <a:rPr sz="1100" b="0" i="0">
                <a:solidFill>
                  <a:srgbClr val="5C5C5C"/>
                </a:solidFill>
                <a:latin typeface="Arial"/>
              </a:rPr>
              <a:t> Skills lesen kein Artefakt — sie starten die Kette aus einem Gespräch.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7356" y="3182112"/>
            <a:ext cx="5408676" cy="8686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164592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141414"/>
                </a:solidFill>
                <a:latin typeface="Arial"/>
              </a:rPr>
              <a:t>Alle anderen Skills folgen der Regel: ein Eingabe-Artefakt rein, ein Ausgabe-Artefakt raus. Das Ende der Kette ist </a:t>
            </a:r>
            <a:r>
              <a:rPr sz="1000" b="1" i="0">
                <a:solidFill>
                  <a:srgbClr val="FF3C00"/>
                </a:solidFill>
                <a:latin typeface="Arial"/>
              </a:rPr>
              <a:t>ausführbarer Code</a:t>
            </a:r>
            <a:r>
              <a:rPr sz="1000" b="0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370832"/>
            <a:ext cx="11183112" cy="1755648"/>
          </a:xfrm>
          <a:prstGeom prst="rect">
            <a:avLst/>
          </a:prstGeom>
          <a:solidFill>
            <a:srgbClr val="F2F1EF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535424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 spc="200">
                <a:solidFill>
                  <a:srgbClr val="8A8A8A"/>
                </a:solidFill>
                <a:latin typeface="Arial"/>
              </a:rPr>
              <a:t>DIE VOLLSTÄNDIGE ARTEFAKT-KETTE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missions/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Das Warum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specs/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Das Was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5928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epics/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Die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8736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0216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research/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6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Die Fakten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1544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93024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plans/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1584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Die Aufgaben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5832" y="4937760"/>
            <a:ext cx="1481328" cy="4572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Source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Git-Commits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52160"/>
            <a:ext cx="1118311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1">
                <a:solidFill>
                  <a:srgbClr val="5C5C5C"/>
                </a:solidFill>
                <a:latin typeface="Arial"/>
              </a:rPr>
              <a:t>Jede Zeile Code ist bis zur ursprünglichen Vision rückverfolgbar.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  <p:pic>
        <p:nvPicPr>
          <p:cNvPr id="32" name="Picture 3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EINSTIEG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Den richtigen Startpunkt wählen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8A8A"/>
                </a:solidFill>
                <a:latin typeface="Arial"/>
              </a:rPr>
              <a:t>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874519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1912" y="1874519"/>
            <a:ext cx="2880360" cy="640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Neues Projekt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8A8A"/>
                </a:solidFill>
                <a:latin typeface="Arial"/>
              </a:rPr>
              <a:t>Komplett neue Codebasis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8848" y="1874519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919472" y="1874519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Courier New"/>
              </a:rPr>
              <a:t>/mission-architect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7" y="1874519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1" y="1874519"/>
            <a:ext cx="2606040" cy="640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Greenfield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07208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8A8A"/>
                </a:solidFill>
                <a:latin typeface="Arial"/>
              </a:rPr>
              <a:t>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2807208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81912" y="2807208"/>
            <a:ext cx="2880360" cy="640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Neues Feature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8A8A"/>
                </a:solidFill>
                <a:latin typeface="Arial"/>
              </a:rPr>
              <a:t>Erweiterung eines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807208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19472" y="2807208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Courier New"/>
              </a:rPr>
              <a:t>/feature-architect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7" y="2807208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1" y="2807208"/>
            <a:ext cx="2606040" cy="640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Brownfield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39896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8A8A"/>
                </a:solidFill>
                <a:latin typeface="Arial"/>
              </a:rPr>
              <a:t>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3739896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81912" y="3739896"/>
            <a:ext cx="2880360" cy="640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Kleine Änderung / Bug / QA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8A8A"/>
                </a:solidFill>
                <a:latin typeface="Arial"/>
              </a:rPr>
              <a:t>Lokalisierte Anpassung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739896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3739896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Courier New"/>
              </a:rPr>
              <a:t>/researcher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074920"/>
            <a:ext cx="11183112" cy="9601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256032" rIns="256032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Arial"/>
              </a:rPr>
              <a:t>Hinweis zur Kette: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Jeder Einstiegspunkt bestimmt, an welchem Glied der Kette die Arbeit beginnt. Die Architekten erzeugen das erste Artefakt ohne Eingabe — alle nachgelagerten Skills lesen dieses Artefakt als Startpunkt ihrer Transformation.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  <p:pic>
        <p:nvPicPr>
          <p:cNvPr id="26" name="Picture 25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Die Architekten definieren Warum und Was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1">
                <a:solidFill>
                  <a:srgbClr val="FF3C00"/>
                </a:solidFill>
                <a:latin typeface="Arial"/>
              </a:rPr>
              <a:t>Die einzige Phase ohne Eingabe-Artefakt — sie starten die Kette.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5408676" cy="26974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03704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/mission-architect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24328"/>
            <a:ext cx="658368" cy="228600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2615184"/>
            <a:ext cx="42199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8A8A8A"/>
                </a:solidFill>
                <a:latin typeface="Courier New"/>
              </a:rPr>
              <a:t>[Gespräch mit Nutzer]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35224"/>
            <a:ext cx="804672" cy="2286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926080"/>
            <a:ext cx="412851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3C00"/>
                </a:solidFill>
                <a:latin typeface="Courier New"/>
              </a:rPr>
              <a:t>thoughts/shared/missions/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91839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10712"/>
            <a:ext cx="486003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Fokus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Wert, Problem, Grenzen.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Regel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Strenges Verbot von Technologienamen (kein React, kein PostgreSQL).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7356" y="1965960"/>
            <a:ext cx="5408676" cy="26974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1676" y="2203704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/feature-architect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51676" y="2624328"/>
            <a:ext cx="658368" cy="228600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9772" y="2615184"/>
            <a:ext cx="42199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8A8A8A"/>
                </a:solidFill>
                <a:latin typeface="Courier New"/>
              </a:rPr>
              <a:t>[Gespräch + Codebasis]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51676" y="2935224"/>
            <a:ext cx="804672" cy="2286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6075" y="2926080"/>
            <a:ext cx="412851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3C00"/>
                </a:solidFill>
                <a:latin typeface="Courier New"/>
              </a:rPr>
              <a:t>thoughts/shared/features/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51676" y="3291839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1676" y="3410712"/>
            <a:ext cx="486003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Fokus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Systemkontext und Integration.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Regel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Übernimmt bestehende Architekturbeschränkungen aus der Codebasis.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42515" y="4983480"/>
            <a:ext cx="2468880" cy="4572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Gespräch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42515" y="547725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Kein Artefakt-Input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1396" y="49834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60036" y="4983480"/>
            <a:ext cx="2468880" cy="4572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missions/ · features/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0036" y="547725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Erstes Artefakt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8916" y="49834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77556" y="4983480"/>
            <a:ext cx="246888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specs/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7556" y="547725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Nächste Phase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6</a:t>
            </a:r>
          </a:p>
        </p:txBody>
      </p:sp>
      <p:pic>
        <p:nvPicPr>
          <p:cNvPr id="32" name="Picture 3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Visionen in technologieneutrale Spezifikationen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thoughts/shared/missions/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thoughts/shared/specs/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31720"/>
            <a:ext cx="3514344" cy="23317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31720"/>
            <a:ext cx="3514344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2569463"/>
            <a:ext cx="3038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Courier New"/>
              </a:rPr>
              <a:t>graph 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2898648"/>
            <a:ext cx="30388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Systemarchitektur &amp; Grenzen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520439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Zeigt Systemkomponenten, ihre Beziehungen und Grenzen in einem gerichteten Graphen.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7304" y="2331720"/>
            <a:ext cx="3514344" cy="23317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7304" y="2331720"/>
            <a:ext cx="3514344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5048" y="2569463"/>
            <a:ext cx="3038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Courier New"/>
              </a:rPr>
              <a:t>sequenceDiagram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5048" y="2898648"/>
            <a:ext cx="30388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Datenflüsse pro Kernfunktion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5048" y="3520439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Beschreibt, wie Daten zwischen Akteuren und Komponenten für jede kritische Funktion fließen.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71688" y="2331720"/>
            <a:ext cx="3514344" cy="23317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71688" y="2331720"/>
            <a:ext cx="3514344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9432" y="2569463"/>
            <a:ext cx="3038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Courier New"/>
              </a:rPr>
              <a:t>erDiagram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9432" y="2898648"/>
            <a:ext cx="30388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Abstraktes Datenmodell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9432" y="3520439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Definiert Entitäten und Beziehungen — technologieneutral, ohne DB-Festlegung.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74920"/>
            <a:ext cx="11183112" cy="9144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256032" rIns="256032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Arial"/>
              </a:rPr>
              <a:t>Schlüsselprinzip: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Entscheidungen über spezifische Stacks werden bewusst auf spätere Phasen verschoben. Das Spec-Artefakt beschreibt, </a:t>
            </a:r>
            <a:r>
              <a:rPr sz="1150" b="1" i="1">
                <a:solidFill>
                  <a:srgbClr val="141414"/>
                </a:solidFill>
                <a:latin typeface="Arial"/>
              </a:rPr>
              <a:t>was</a:t>
            </a:r>
            <a:r>
              <a:rPr sz="1150" b="0" i="0">
                <a:solidFill>
                  <a:srgbClr val="141414"/>
                </a:solidFill>
                <a:latin typeface="Arial"/>
              </a:rPr>
              <a:t> das System tun soll, nicht </a:t>
            </a:r>
            <a:r>
              <a:rPr sz="1150" b="1" i="1">
                <a:solidFill>
                  <a:srgbClr val="141414"/>
                </a:solidFill>
                <a:latin typeface="Arial"/>
              </a:rPr>
              <a:t>wie</a:t>
            </a:r>
            <a:r>
              <a:rPr sz="1150" b="0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  <p:pic>
        <p:nvPicPr>
          <p:cNvPr id="27" name="Picture 26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Spezifikationen in Nutzer-Workflows zerlegen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thoughts/shared/specs/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thoughts/shared/epics/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2331720"/>
            <a:ext cx="20116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41414"/>
                </a:solidFill>
                <a:latin typeface="Arial"/>
              </a:rPr>
              <a:t>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9864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3C00"/>
                </a:solidFill>
                <a:latin typeface="Arial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10711"/>
            <a:ext cx="274320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Epic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4050791"/>
            <a:ext cx="274320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Epic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4690872"/>
            <a:ext cx="274320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Epic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286000"/>
            <a:ext cx="6702551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Jedes Epic enthält: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2679191"/>
            <a:ext cx="6702551" cy="93268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User Stories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Nutzerorientierte Fähigkeiten (z. B. „User Authentication System", nicht „Database Schema Creation").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3721607"/>
            <a:ext cx="6702551" cy="93268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Abhängigkeiten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Identifizierte Abhängigkeiten zwischen Epics — generiert als Mermaid-Diagramme.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4764023"/>
            <a:ext cx="6702551" cy="93268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Forschungsfragen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Zwingende Fragen für den Researcher — unbeantwortet bleiben sie eine offene Gefahr.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  <p:pic>
        <p:nvPicPr>
          <p:cNvPr id="20" name="Picture 19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Der Researcher bildet das faktenbasierte Fundament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thoughts/shared/epics/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thoughts/shared/research/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5408676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Die oberste Direktive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Keine Meinungen, keine Annahmen. Nur </a:t>
            </a:r>
            <a:r>
              <a:rPr sz="1100" b="1" i="0">
                <a:solidFill>
                  <a:srgbClr val="FF3C00"/>
                </a:solidFill>
                <a:latin typeface="Arial"/>
              </a:rPr>
              <a:t>verifizierte Beweise</a:t>
            </a:r>
            <a:r>
              <a:rPr sz="1100" b="0" i="0">
                <a:solidFill>
                  <a:srgbClr val="5C5C5C"/>
                </a:solidFill>
                <a:latin typeface="Arial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84448"/>
            <a:ext cx="5408676" cy="1783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201168" rIns="182880" tIns="0" bIns="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Kartografiert die Codebasis-Topologie.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Verfolgt Ausführungspfade durch komplexe Funktionen.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Verifizierte Daten speisen den Planner.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Unbestätigtes bleibt eine offene Frage.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7356" y="2377440"/>
            <a:ext cx="5408676" cy="29900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ourier New"/>
              </a:rPr>
              <a:t>/researcher</a:t>
            </a:r>
          </a:p>
        </p:txBody>
      </p:sp>
      <p:sp>
        <p:nvSpPr>
          <p:cNvPr id="13" name="Rectangle 12"/>
          <p:cNvSpPr/>
          <p:nvPr/>
        </p:nvSpPr>
        <p:spPr>
          <a:xfrm rot="21000000">
            <a:off x="9354312" y="2788920"/>
            <a:ext cx="2011680" cy="868680"/>
          </a:xfrm>
          <a:prstGeom prst="rect">
            <a:avLst/>
          </a:prstGeom>
          <a:noFill/>
          <a:ln w="44450">
            <a:solidFill>
              <a:srgbClr val="FF3C00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 spc="150">
                <a:solidFill>
                  <a:srgbClr val="FF3C00"/>
                </a:solidFill>
                <a:latin typeface="Arial"/>
              </a:rPr>
              <a:t>BEWEIS</a:t>
            </a:r>
          </a:p>
          <a:p>
            <a:pPr algn="ctr">
              <a:spcAft>
                <a:spcPts val="0"/>
              </a:spcAft>
            </a:pPr>
            <a:r>
              <a:rPr sz="1300" b="1" i="0" spc="120">
                <a:solidFill>
                  <a:srgbClr val="FF3C00"/>
                </a:solidFill>
                <a:latin typeface="Arial"/>
              </a:rPr>
              <a:t>ERFORDERLICH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  <p:pic>
        <p:nvPicPr>
          <p:cNvPr id="15" name="Picture 14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Der Planner erstellt den evidenzbasierten Bauplan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thoughts/shared/research/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thoughts/shared/plans/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5385816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53858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8A8A8A"/>
                </a:solidFill>
                <a:latin typeface="Courier New"/>
              </a:rPr>
              <a:t>research/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74720"/>
            <a:ext cx="53858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3C00"/>
                </a:solidFill>
                <a:latin typeface="Arial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15668" y="4114800"/>
            <a:ext cx="2560320" cy="640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STATE.md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2423160"/>
            <a:ext cx="5385816" cy="877824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PLAN-XXX Tasks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Konkrete Umsetzungsschritte mit Pseudocode und Interfaces. Jeder Task ist eine atomare Einheit.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216" y="3401568"/>
            <a:ext cx="5385816" cy="877824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Beweispflicht (File:Line-Line)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Jede Dateiänderung wird mit Pfad:Zeile-Zeile belegt. Keine unbelegte Annahme überlebt.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0216" y="4379976"/>
            <a:ext cx="5385816" cy="877824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Resume Checkpoint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Speichert den exakten Fortschritt. Bei Abbruch weiß das System, wo es weiterarbeitet.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  <p:pic>
        <p:nvPicPr>
          <p:cNvPr id="18" name="Picture 17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/implement: Der Plan wird ausführbarer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thoughts/shared/plans/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Produktionsbereiter Quellcode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1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Extract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Task aus dem Plan laden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7278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2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Delegate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An Coder-Subagent (Controller schreibt nicht selbst)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3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Parse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Status auswerten (SUCCESS / BLOCKED)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95994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4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Verify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„Done When"-Kriterien prüfen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67328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5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Update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STATE.md aktualisieren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7278" y="3767328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6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Commit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Sauber in Git sichern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3767328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7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Report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Nutzerfreigabe einholen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95994" y="3767328"/>
            <a:ext cx="2590038" cy="1207008"/>
          </a:xfrm>
          <a:prstGeom prst="rect">
            <a:avLst/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FFFF"/>
                </a:solidFill>
                <a:latin typeface="Arial"/>
              </a:rPr>
              <a:t>ENDE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Source Code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Kette vollständig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06440"/>
            <a:ext cx="11183112" cy="56692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Das letzte Artefakt ist kein Dokument — es ist ausführbarer Code im Git-Repository, rückverfolgbar bis zur Vision.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  <p:pic>
        <p:nvPicPr>
          <p:cNvPr id="20" name="Picture 19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Das DOX-Framework: Jedes Verzeichnis hat einen Vertrag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1">
                <a:solidFill>
                  <a:srgbClr val="FF3C00"/>
                </a:solidFill>
                <a:latin typeface="Arial"/>
              </a:rPr>
              <a:t>Kein Installations-Paket. Keine Abhängigkeiten. Nur AGENTS.md-Dateien — dort, wo die Arbeit stattfindet.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Was sind AGENTS.md-Dateien?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Hierarchische Governance-Verträge für Verzeichnis-Teilbäume. Die Root-AGENTS.md setzt projektweite Regeln; jede Child-AGENTS.md konkretisiert sie für ihre Domäne. Je näher an der Datei, desto stärker gilt sie.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703320"/>
            <a:ext cx="5408676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Arial"/>
              </a:rPr>
              <a:t>Nähe-Regel:  </a:t>
            </a:r>
            <a:r>
              <a:rPr sz="1050" b="0" i="0">
                <a:solidFill>
                  <a:srgbClr val="141414"/>
                </a:solidFill>
                <a:latin typeface="Arial"/>
              </a:rPr>
              <a:t>Die nächste AGENTS.md zur Zieldatei ist der lokale Vertrag. Eltern liefern übergeordnete Regeln. Keine AGENTS.md überschreibt CLAUDE.md.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7356" y="1965960"/>
            <a:ext cx="5408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Das Protokoll: Zwei Pflichten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7356" y="2350008"/>
            <a:ext cx="5408676" cy="1078992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Vor jeder Dateiänderung — Lesen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Vom Repository-Root bis zur Zieldatei jede Ebene prüfen und vorhandene AGENTS.md einlesen.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7356" y="3557015"/>
            <a:ext cx="5408676" cy="1078992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Nach bedeutsamer Änderung — Schreiben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Wenn Zweck, Struktur, Ownership oder Konventionen betroffen sind, die nächste AGENTS.md aktualisieren.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11183112" cy="54864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DOX ist kein Pipeline-Schritt — es ist die Governance-Schicht, die alle Pipeline-Schritte umhüllt.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  <p:pic>
        <p:nvPicPr>
          <p:cNvPr id="13" name="Picture 12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GOVERNANCE-BEFEHLE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Den Vertrag pflegen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5408676" cy="27432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Courier New"/>
              </a:rPr>
              <a:t>/dox-init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786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Governance-Baum bootstrappen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017520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82112"/>
            <a:ext cx="486003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Einmalig bei Projektstart. Erzeugt die Root-AGENTS.md und eine Child-AGENTS.md für jedes bedeutungsvolle Verzeichnis. Idempotent — überschreibt nie bestehende Dateien.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1828800"/>
            <a:ext cx="5408676" cy="27432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1676" y="21214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Courier New"/>
              </a:rPr>
              <a:t>/dox-update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1676" y="25786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Veraltete Verträge reparieren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51676" y="3017520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1676" y="3182112"/>
            <a:ext cx="486003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Nach größeren Codeänderungen. Prüft jede AGENTS.md gegen den aktuellen Verzeichnisinhalt — veraltete Dateien werden regeneriert, aktuelle bleiben unberührt.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937760"/>
            <a:ext cx="11183112" cy="100584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DOX ist aktiv bei jedem Datei-Edit — besonders während /implement. Die Governance-Schicht umhüllt die gesamte Pipeline, statt selbst ein Schritt zu sein.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  <p:pic>
        <p:nvPicPr>
          <p:cNvPr id="18" name="Picture 17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QUALITÄTSSICHERUNG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Der parallele QA-Workflow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Trigger: </a:t>
            </a:r>
            <a:r>
              <a:rPr sz="1200" b="1" i="0">
                <a:solidFill>
                  <a:srgbClr val="141414"/>
                </a:solidFill>
                <a:latin typeface="Courier New"/>
              </a:rPr>
              <a:t>/researcher</a:t>
            </a:r>
            <a:r>
              <a:rPr sz="1200" b="0" i="0">
                <a:solidFill>
                  <a:srgbClr val="5C5C5C"/>
                </a:solidFill>
                <a:latin typeface="Arial"/>
              </a:rPr>
              <a:t> mit QA-Keywords — läuft parallel, ohne die Entwicklung zu blockieren.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70632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python-qa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18104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ruff (Style), pyright (Types), bandit (Security)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2148840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1676" y="242316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1676" y="2770632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typescript-qa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1676" y="3118104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tsc (Compilation), eslint (Quality), knip (Dead Code)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24528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98848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Logik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4632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logic-bugs-qa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193792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Ausführungsverfolgung für Control Flow &amp; Edge Cases (keine einfachen Linter)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7356" y="4224528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7356" y="4224528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1676" y="4498848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1676" y="484632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clean-code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1676" y="5193792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Zyklomatische Komplexität (lizard), Duplizierung (jscpd)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  <p:pic>
        <p:nvPicPr>
          <p:cNvPr id="27" name="Picture 26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SUB-AGENTEN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Die unsichtbare Flotte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807" y="1627632"/>
            <a:ext cx="2926080" cy="5029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Orchestrator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3514344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2706624"/>
            <a:ext cx="3038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Die Kartografen  </a:t>
            </a:r>
            <a:r>
              <a:rPr sz="1000" b="0" i="1">
                <a:solidFill>
                  <a:srgbClr val="8A8A8A"/>
                </a:solidFill>
                <a:latin typeface="Arial"/>
              </a:rPr>
              <a:t>(Codebase)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3072384"/>
            <a:ext cx="3038856" cy="2286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23697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codebase-locator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Findet Dateien nach Zweck und Topologie.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96849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codebase-pattern-finder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Extrahiert dominante Implementierungsmuster.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70001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codebase-analyzer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Verfolgt Logik und Datenflüsse in Dateien.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7304" y="2468880"/>
            <a:ext cx="3514344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5048" y="2706624"/>
            <a:ext cx="3038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Die Archivare  </a:t>
            </a:r>
            <a:r>
              <a:rPr sz="1000" b="0" i="1">
                <a:solidFill>
                  <a:srgbClr val="8A8A8A"/>
                </a:solidFill>
                <a:latin typeface="Arial"/>
              </a:rPr>
              <a:t>(Historie)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5048" y="3072384"/>
            <a:ext cx="3038856" cy="2286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323697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thoughts-locator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Sucht historische Entscheidungsdokumente.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048" y="396849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thoughts-analyzer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Extrahiert reine Signale: Entscheidungen, Specs.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1688" y="2468880"/>
            <a:ext cx="3514344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9432" y="2706624"/>
            <a:ext cx="3038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Die Pfadfinder  </a:t>
            </a:r>
            <a:r>
              <a:rPr sz="1000" b="0" i="1">
                <a:solidFill>
                  <a:srgbClr val="8A8A8A"/>
                </a:solidFill>
                <a:latin typeface="Arial"/>
              </a:rPr>
              <a:t>(Extern)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09432" y="3072384"/>
            <a:ext cx="3038856" cy="2286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9432" y="323697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web-search-researcher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Recherchiert externe APIs, Bibliotheken und Best Practices.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32120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5C5C5C"/>
                </a:solidFill>
                <a:latin typeface="Arial"/>
              </a:rPr>
              <a:t>Diese Agenten kommunizieren nur mit dem Orchestrator — niemals direkt mit dem Nutzer.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  <p:pic>
        <p:nvPicPr>
          <p:cNvPr id="23" name="Picture 22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MCP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Erweiterte Logik und Web-Zugriff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121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139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crawl4ai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0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Extrahiert Web-Inhalte mit BM25/LLM-Filterung zur Token-Reduktion. Unterstützt crawl-, markdown- und screenshot-Modi.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7356" y="1828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69964" y="2121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27164" y="2139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searxng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9964" y="2670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Self-hosted Web-Suche für externe Dokumentationen und Bibliotheksreferenzen. Keine Abhängigkeit von kommerziellen Suchdiensten.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114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4407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425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context7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4956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Direkter Abruf tagesaktueller API-Referenzen und Bibliotheks-Dokumentationen. Kein veraltetes Trainingswissen.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7356" y="4114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69964" y="4407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4425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sequential-thinking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9964" y="4956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Ein Multi-Step-Reasoning-Workspace für komplexe Architekturentscheidungen und Abhängigkeitsanalysen.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  <p:pic>
        <p:nvPicPr>
          <p:cNvPr id="22" name="Picture 2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QUICK-START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Command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4160520"/>
          </a:xfrm>
          <a:prstGeom prst="rect">
            <a:avLst/>
          </a:prstGeom>
          <a:solidFill>
            <a:srgbClr val="1E203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194560"/>
            <a:ext cx="155448" cy="155448"/>
          </a:xfrm>
          <a:prstGeom prst="ellipse">
            <a:avLst/>
          </a:prstGeom>
          <a:solidFill>
            <a:srgbClr val="E055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194560"/>
            <a:ext cx="155448" cy="155448"/>
          </a:xfrm>
          <a:prstGeom prst="ellipse">
            <a:avLst/>
          </a:prstGeom>
          <a:solidFill>
            <a:srgbClr val="E0B0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35024" y="2194560"/>
            <a:ext cx="155448" cy="155448"/>
          </a:xfrm>
          <a:prstGeom prst="ellipse">
            <a:avLst/>
          </a:prstGeom>
          <a:solidFill>
            <a:srgbClr val="55B8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/mission-architect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59" y="2697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Startet ein komplett neues Projekt (Greenfield)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18104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181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/feature-architect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3118104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Integriert ein neues Feature in bestehenden Code (Brownfield)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38728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538728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/researcher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59" y="3538728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Startet den parallelen Code-Quality-Review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59352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59352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/implement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95935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Führt den Plan aus oder setzt nach Abbruch fort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7997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379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STATUS / RETRY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9" y="437997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Laufzeitkontrolle während der Implementierung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10328"/>
            <a:ext cx="10515600" cy="10972"/>
          </a:xfrm>
          <a:prstGeom prst="rect">
            <a:avLst/>
          </a:prstGeom>
          <a:solidFill>
            <a:srgbClr val="3A3D4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102352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02352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/dox-init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59" y="510235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Governance-Baum bootstrappen (einmalig bei Projektstart)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52297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522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/dox-update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552297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Veraltete AGENTS.md-Dateien nach Codeänderungen reparieren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  <p:pic>
        <p:nvPicPr>
          <p:cNvPr id="32" name="Picture 3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ZUSAMMENFASSUNG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KI-Erfolg durch Methodik, nicht durch Magie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8B8B8"/>
                </a:solidFill>
                <a:latin typeface="Courier New"/>
              </a:rPr>
              <a:t>missions/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specs/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epics/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research/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plans/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1" i="0">
                <a:solidFill>
                  <a:srgbClr val="FF3C00"/>
                </a:solidFill>
                <a:latin typeface="Courier New"/>
              </a:rPr>
              <a:t>Source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2057400"/>
            <a:ext cx="10085832" cy="1143000"/>
          </a:xfrm>
          <a:prstGeom prst="rect">
            <a:avLst/>
          </a:prstGeom>
          <a:solidFill>
            <a:srgbClr val="202020"/>
          </a:solidFill>
          <a:ln w="12700">
            <a:solidFill>
              <a:srgbClr val="3A3A3A"/>
            </a:solidFill>
          </a:ln>
          <a:effectLst/>
        </p:spPr>
        <p:txBody>
          <a:bodyPr rtlCol="0" anchor="ctr" wrap="square" lIns="365760" rIns="365760" tIns="0" bIns="0"/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Erfolgreiche KI-gestützte Entwicklung basiert nicht auf besseren Coding-Modellen, sondern auf rigoroser Planung, erzwungenen Systemgrenzen und verifizierbarer Orchestrierung.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727" y="35204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3C00"/>
                </a:solidFill>
                <a:latin typeface="Arial"/>
              </a:rPr>
              <a:t>Fakten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B8B8"/>
                </a:solidFill>
                <a:latin typeface="Arial"/>
              </a:rPr>
              <a:t>ersetzen Annahmen.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1035" y="3566160"/>
            <a:ext cx="10972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4207" y="35204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3C00"/>
                </a:solidFill>
                <a:latin typeface="Arial"/>
              </a:rPr>
              <a:t>Spezifikationen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B8B8"/>
                </a:solidFill>
                <a:latin typeface="Arial"/>
              </a:rPr>
              <a:t>gehen der Ausführung voraus.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11515" y="3566160"/>
            <a:ext cx="10972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4687" y="35204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3C00"/>
                </a:solidFill>
                <a:latin typeface="Arial"/>
              </a:rPr>
              <a:t>Transparenz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B8B8"/>
                </a:solidFill>
                <a:latin typeface="Arial"/>
              </a:rPr>
              <a:t>bei jedem Git-Commit.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074920"/>
            <a:ext cx="11183112" cy="77724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Von der Vision bis zum ausführbaren Code — jeder Schritt hinterlässt ein Artefakt. Kein Schritt überspringt den vorherigen.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8B8B8"/>
                </a:solidFill>
                <a:latin typeface="Arial"/>
              </a:rPr>
              <a:t>18</a:t>
            </a:r>
          </a:p>
        </p:txBody>
      </p:sp>
      <p:pic>
        <p:nvPicPr>
          <p:cNvPr id="15" name="Picture 14" descr="vier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