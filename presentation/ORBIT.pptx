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74" r:id="rId25"/>
    <p:sldId id="258" r:id="rId9"/>
    <p:sldId id="259" r:id="rId10"/>
    <p:sldId id="276" r:id="rId27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75" r:id="rId26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  <Relationship Id="rId25" Type="http://schemas.openxmlformats.org/officeDocument/2006/relationships/slide" Target="slides/slide19.xml"/>
  <Relationship Id="rId26" Type="http://schemas.openxmlformats.org/officeDocument/2006/relationships/slide" Target="slides/slide20.xml"/>
  <Relationship Id="rId27" Type="http://schemas.openxmlformats.org/officeDocument/2006/relationships/slide" Target="slides/slide21.xml"/>
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vier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1580" y="2443950"/>
            <a:ext cx="1874519" cy="1970098"/>
          </a:xfrm>
          <a:prstGeom prst="rect">
            <a:avLst/>
          </a:prstGeom>
        </p:spPr>
      </p:pic>
      <p:pic>
        <p:nvPicPr>
          <p:cNvPr id="4" name="Picture 3" descr="vi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20095" y="411480"/>
            <a:ext cx="868680" cy="3329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1417320"/>
            <a:ext cx="6583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 spc="260">
                <a:solidFill>
                  <a:srgbClr val="FF3C00"/>
                </a:solidFill>
                <a:latin typeface="Arial"/>
              </a:rPr>
              <a:t>AGENTISCHES ENGINEERING-FRAMEWORK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1783080"/>
            <a:ext cx="66751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200" b="1" i="0">
                <a:solidFill>
                  <a:srgbClr val="141414"/>
                </a:solidFill>
                <a:latin typeface="Arial"/>
              </a:rPr>
              <a:t>ORBIT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2907792"/>
            <a:ext cx="6675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1">
                <a:solidFill>
                  <a:srgbClr val="5C5C5C"/>
                </a:solidFill>
                <a:latin typeface="Arial"/>
              </a:rPr>
              <a:t>Das Agentische Software-Engineering-Framework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10128"/>
            <a:ext cx="6675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1">
                <a:solidFill>
                  <a:srgbClr val="8A8A8A"/>
                </a:solidFill>
                <a:latin typeface="Arial"/>
              </a:rPr>
              <a:t>Die Agentische Montagelinie — V3</a:t>
            </a:r>
          </a:p>
        </p:txBody>
      </p:sp>
      <p:sp>
        <p:nvSpPr>
          <p:cNvPr id="9" name="Rectangle 8"/>
          <p:cNvSpPr/>
          <p:nvPr/>
        </p:nvSpPr>
        <p:spPr>
          <a:xfrm>
            <a:off x="4937760" y="3822191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937760" y="4160520"/>
            <a:ext cx="365760" cy="365760"/>
          </a:xfrm>
          <a:prstGeom prst="ellipse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68112" y="4114800"/>
            <a:ext cx="6035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1414"/>
                </a:solidFill>
                <a:latin typeface="Arial"/>
              </a:rPr>
              <a:t>Analyse &amp; Architekturplanung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A8A8A"/>
                </a:solidFill>
                <a:latin typeface="Arial"/>
              </a:rPr>
              <a:t>Mission, Spezifikation, Epic-Zerlegung</a:t>
            </a:r>
          </a:p>
        </p:txBody>
      </p:sp>
      <p:sp>
        <p:nvSpPr>
          <p:cNvPr id="12" name="Oval 11"/>
          <p:cNvSpPr/>
          <p:nvPr/>
        </p:nvSpPr>
        <p:spPr>
          <a:xfrm>
            <a:off x="4937760" y="4873752"/>
            <a:ext cx="365760" cy="365760"/>
          </a:xfrm>
          <a:prstGeom prst="ellipse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68112" y="4828032"/>
            <a:ext cx="6035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1414"/>
                </a:solidFill>
                <a:latin typeface="Arial"/>
              </a:rPr>
              <a:t>Recherche &amp; automatisierte Ausführung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A8A8A"/>
                </a:solidFill>
                <a:latin typeface="Arial"/>
              </a:rPr>
              <a:t>Verifizierte Fakten, Planung, Implementierung &amp; QA</a:t>
            </a:r>
          </a:p>
        </p:txBody>
      </p:sp>
      <p:sp>
        <p:nvSpPr>
          <p:cNvPr id="14" name="Oval 13"/>
          <p:cNvSpPr/>
          <p:nvPr/>
        </p:nvSpPr>
        <p:spPr>
          <a:xfrm>
            <a:off x="4937760" y="5586984"/>
            <a:ext cx="365760" cy="365760"/>
          </a:xfrm>
          <a:prstGeom prst="ellipse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68112" y="5541264"/>
            <a:ext cx="6035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1414"/>
                </a:solidFill>
                <a:latin typeface="Arial"/>
              </a:rPr>
              <a:t>Lückenlose Artefakt-Kette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A8A8A"/>
                </a:solidFill>
                <a:latin typeface="Arial"/>
              </a:rPr>
              <a:t>Von der Vision bis zum Git-Commit nachverfolgbar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ÜBERBLICK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>Zwei Stationen — eine durchgängige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5C5C5C"/>
                </a:solidFill>
                <a:latin typeface="Arial"/>
              </a:rPr>
              <a:t>ORBIT führt jedes Projekt von der rohen Vision bis zum ausgelieferten Quellcode — durch strukturierte, nachverfolgbare KI-Pipelines.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48840"/>
            <a:ext cx="5408676" cy="3977639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148840"/>
            <a:ext cx="5408676" cy="50292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2404872"/>
            <a:ext cx="48234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200">
                <a:solidFill>
                  <a:srgbClr val="FF3C00"/>
                </a:solidFill>
                <a:latin typeface="Arial"/>
              </a:rPr>
              <a:t>STATION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651760"/>
            <a:ext cx="48234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41414"/>
                </a:solidFill>
                <a:latin typeface="Arial"/>
              </a:rPr>
              <a:t>Analyse &amp; Architekturplanung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8" y="3227832"/>
            <a:ext cx="4823460" cy="10972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3429000"/>
            <a:ext cx="48234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41414"/>
                </a:solidFill>
                <a:latin typeface="Arial"/>
              </a:rPr>
              <a:t>Mission &amp; Feature-Definition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C5C5C"/>
                </a:solidFill>
                <a:latin typeface="Arial"/>
              </a:rPr>
              <a:t>Legt Wert und Umfang fest — ohne spezifische Technologien zu nennen.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4334256"/>
            <a:ext cx="48234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41414"/>
                </a:solidFill>
                <a:latin typeface="Arial"/>
              </a:rPr>
              <a:t>Technische Spezifikation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C5C5C"/>
                </a:solidFill>
                <a:latin typeface="Arial"/>
              </a:rPr>
              <a:t>Übersetzt die Vision in Architektur, Datenflüsse und ER-Diagramme.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5239512"/>
            <a:ext cx="48234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41414"/>
                </a:solidFill>
                <a:latin typeface="Arial"/>
              </a:rPr>
              <a:t>Epic-Zerlegung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C5C5C"/>
                </a:solidFill>
                <a:latin typeface="Arial"/>
              </a:rPr>
              <a:t>Zerlegt Specs in nutzerorientierte „Epics" aus 5–7 User Stories.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7356" y="2148840"/>
            <a:ext cx="5408676" cy="3977639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7356" y="2148840"/>
            <a:ext cx="5408676" cy="50292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69964" y="2404872"/>
            <a:ext cx="48234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200">
                <a:solidFill>
                  <a:srgbClr val="FF3C00"/>
                </a:solidFill>
                <a:latin typeface="Arial"/>
              </a:rPr>
              <a:t>STATION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9964" y="2651760"/>
            <a:ext cx="48234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41414"/>
                </a:solidFill>
                <a:latin typeface="Arial"/>
              </a:rPr>
              <a:t>Recherche &amp; automatisierte Ausführung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69964" y="3227832"/>
            <a:ext cx="4823460" cy="10972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69964" y="3429000"/>
            <a:ext cx="48234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41414"/>
                </a:solidFill>
                <a:latin typeface="Arial"/>
              </a:rPr>
              <a:t>Faktenbasierte Recherche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C5C5C"/>
                </a:solidFill>
                <a:latin typeface="Arial"/>
              </a:rPr>
              <a:t>Subagenten kartografieren die Codebasis und verifizieren jeden Anspruch.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9964" y="4334256"/>
            <a:ext cx="48234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41414"/>
                </a:solidFill>
                <a:latin typeface="Arial"/>
              </a:rPr>
              <a:t>Blaupausen-gesteuerte Planung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C5C5C"/>
                </a:solidFill>
                <a:latin typeface="Arial"/>
              </a:rPr>
              <a:t>Wandelt Recherche in Aufgaben um, die Code mit Zeilennummern zitieren.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69964" y="5239512"/>
            <a:ext cx="48234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41414"/>
                </a:solidFill>
                <a:latin typeface="Arial"/>
              </a:rPr>
              <a:t>Verwaltete Implementierung &amp; QA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C5C5C"/>
                </a:solidFill>
                <a:latin typeface="Arial"/>
              </a:rPr>
              <a:t>Der Controller orchestriert Coder, verifiziert und committet Code.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2</a:t>
            </a:r>
          </a:p>
        </p:txBody>
      </p:sp>
      <p:pic>
        <p:nvPicPr>
          <p:cNvPr id="23" name="Picture 22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PRINZIP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>Engineering braucht Ordnung, kein Chaos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5C5C5C"/>
                </a:solidFill>
                <a:latin typeface="Arial"/>
              </a:rPr>
              <a:t>Unstrukturiertes „Vibe Coding" im Kontrast zum disziplinierten, stufengesteuerten ORBIT-Framework.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57400"/>
            <a:ext cx="5408676" cy="333756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13432"/>
            <a:ext cx="2331720" cy="2743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950" b="1" i="0" spc="120">
                <a:solidFill>
                  <a:srgbClr val="FFFFFF"/>
                </a:solidFill>
                <a:latin typeface="Arial"/>
              </a:rPr>
              <a:t>VIBE CODING — DAS CHAOS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70632"/>
            <a:ext cx="486003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F3C00"/>
                </a:solidFill>
                <a:latin typeface="Arial"/>
              </a:rPr>
              <a:t>Halluzinationen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C5C5C"/>
                </a:solidFill>
                <a:latin typeface="Arial"/>
              </a:rPr>
              <a:t>Direkt zur Implementierung zu springen erzeugt falsche oder erfundene KI-Logik.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11880"/>
            <a:ext cx="486003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F3C00"/>
                </a:solidFill>
                <a:latin typeface="Arial"/>
              </a:rPr>
              <a:t>Scope Creep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C5C5C"/>
                </a:solidFill>
                <a:latin typeface="Arial"/>
              </a:rPr>
              <a:t>Fehlende Grenzen lassen Projekte unkontrolliert wachsen.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453128"/>
            <a:ext cx="486003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F3C00"/>
                </a:solidFill>
                <a:latin typeface="Arial"/>
              </a:rPr>
              <a:t>Kontextverlust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C5C5C"/>
                </a:solidFill>
                <a:latin typeface="Arial"/>
              </a:rPr>
              <a:t>Unverbundene Prompts verlieren ursprüngliche Anforderungen aus dem Blick.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77356" y="2057400"/>
            <a:ext cx="5408676" cy="333756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77356" y="2057400"/>
            <a:ext cx="5408676" cy="50292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51676" y="2313432"/>
            <a:ext cx="2377440" cy="2743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950" b="1" i="0" spc="120">
                <a:solidFill>
                  <a:srgbClr val="FFFFFF"/>
                </a:solidFill>
                <a:latin typeface="Arial"/>
              </a:rPr>
              <a:t>ORBIT — DIE ORDNUNG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51676" y="2752344"/>
            <a:ext cx="1691640" cy="256032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73152" rIns="0" tIns="0" bIns="0"/>
          <a:lstStyle/>
          <a:p>
            <a:pPr algn="l">
              <a:spcAft>
                <a:spcPts val="0"/>
              </a:spcAft>
            </a:pPr>
            <a:r>
              <a:rPr sz="950" b="1" i="0" spc="80">
                <a:solidFill>
                  <a:srgbClr val="FFFFFF"/>
                </a:solidFill>
                <a:latin typeface="Arial"/>
              </a:rPr>
              <a:t>ZIEL · SPEC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0475" y="2734056"/>
            <a:ext cx="298551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C5C5C"/>
                </a:solidFill>
                <a:latin typeface="Arial"/>
              </a:rPr>
              <a:t>Warum und Was definieren — technologieneutral, ohne Techniknamen.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51676" y="3401568"/>
            <a:ext cx="1691640" cy="256032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73152" rIns="0" tIns="0" bIns="0"/>
          <a:lstStyle/>
          <a:p>
            <a:pPr algn="l">
              <a:spcAft>
                <a:spcPts val="0"/>
              </a:spcAft>
            </a:pPr>
            <a:r>
              <a:rPr sz="950" b="1" i="0" spc="80">
                <a:solidFill>
                  <a:srgbClr val="FFFFFF"/>
                </a:solidFill>
                <a:latin typeface="Arial"/>
              </a:rPr>
              <a:t>IST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0475" y="3383279"/>
            <a:ext cx="298551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C5C5C"/>
                </a:solidFill>
                <a:latin typeface="Arial"/>
              </a:rPr>
              <a:t>Codebasis und externes Wissen erheben — via fact-finder verifiziert.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51676" y="4050791"/>
            <a:ext cx="1691640" cy="256032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73152" rIns="0" tIns="0" bIns="0"/>
          <a:lstStyle/>
          <a:p>
            <a:pPr algn="l">
              <a:spcAft>
                <a:spcPts val="0"/>
              </a:spcAft>
            </a:pPr>
            <a:r>
              <a:rPr sz="950" b="1" i="0" spc="80">
                <a:solidFill>
                  <a:srgbClr val="FFFFFF"/>
                </a:solidFill>
                <a:latin typeface="Arial"/>
              </a:rPr>
              <a:t>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0475" y="4032504"/>
            <a:ext cx="298551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C5C5C"/>
                </a:solidFill>
                <a:latin typeface="Arial"/>
              </a:rPr>
              <a:t>Der Weg vom Ist zum Ziel — jede Aufgabe belegt.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51676" y="4700016"/>
            <a:ext cx="1691640" cy="256032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73152" rIns="0" tIns="0" bIns="0"/>
          <a:lstStyle/>
          <a:p>
            <a:pPr algn="l">
              <a:spcAft>
                <a:spcPts val="0"/>
              </a:spcAft>
            </a:pPr>
            <a:r>
              <a:rPr sz="950" b="1" i="0" spc="80">
                <a:solidFill>
                  <a:srgbClr val="FFFFFF"/>
                </a:solidFill>
                <a:latin typeface="Arial"/>
              </a:rPr>
              <a:t>AUSFÜHRUNG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0475" y="4681728"/>
            <a:ext cx="298551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C5C5C"/>
                </a:solidFill>
                <a:latin typeface="Arial"/>
              </a:rPr>
              <a:t>Den verifizierten Plan implementieren.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650992"/>
            <a:ext cx="11183112" cy="566928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228600" rIns="22860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Die Goldene Regel: Kein Agent überspringt einen Schritt. Jede Phase setzt das Artefakt der vorherigen voraus.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4</a:t>
            </a:r>
          </a:p>
        </p:txBody>
      </p:sp>
      <p:pic>
        <p:nvPicPr>
          <p:cNvPr id="24" name="Picture 23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DAS HERZSTÜCK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>Die Artefakt-Kette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1">
                <a:solidFill>
                  <a:srgbClr val="FF3C00"/>
                </a:solidFill>
                <a:latin typeface="Arial"/>
              </a:rPr>
              <a:t>ORBIT ist keine Sammlung von Befehlen — ORBIT ist eine Kette von Dokumenten.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993392"/>
            <a:ext cx="540867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41414"/>
                </a:solidFill>
                <a:latin typeface="Arial"/>
              </a:rPr>
              <a:t>Jeder Skill ist eine Transformation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Jeder Skill liest das Artefakt der vorherigen Phase und erzeugt das Artefakt für die nächste. Die Informationsdichte steigt mit jedem Schritt.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3182112"/>
            <a:ext cx="5408676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FF3C00"/>
            </a:solidFill>
          </a:ln>
          <a:effectLst/>
        </p:spPr>
        <p:txBody>
          <a:bodyPr rtlCol="0" anchor="ctr" wrap="square" lIns="164592" rIns="164592" tIns="0" bIns="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141414"/>
                </a:solidFill>
                <a:latin typeface="Arial"/>
              </a:rPr>
              <a:t>Alle Artefakte leben in </a:t>
            </a:r>
            <a:r>
              <a:rPr sz="1050" b="1" i="0">
                <a:solidFill>
                  <a:srgbClr val="FF3C00"/>
                </a:solidFill>
                <a:latin typeface="Courier New"/>
              </a:rPr>
              <a:t>thoughts/shared/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</a:pPr>
            <a:r>
              <a:rPr sz="1000" b="0" i="0">
                <a:solidFill>
                  <a:srgbClr val="5C5C5C"/>
                </a:solidFill>
                <a:latin typeface="Arial"/>
              </a:rPr>
              <a:t>Jedes Artefakt referenziert seinen Vorgänger — ein lückenloses Audit-Log.</a:t>
            </a:r>
          </a:p>
          <a:p>
            <a:pPr algn="l">
              <a:spcAft>
                <a:spcPts val="0"/>
              </a:spcAft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6277356" y="1993392"/>
            <a:ext cx="540867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41414"/>
                </a:solidFill>
                <a:latin typeface="Arial"/>
              </a:rPr>
              <a:t>Die Ausnahmeregel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7356" y="2304288"/>
            <a:ext cx="540867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Die </a:t>
            </a:r>
            <a:r>
              <a:rPr sz="1100" b="1" i="0">
                <a:solidFill>
                  <a:srgbClr val="FF3C00"/>
                </a:solidFill>
                <a:latin typeface="Courier New"/>
              </a:rPr>
              <a:t>/mission-architect</a:t>
            </a:r>
            <a:r>
              <a:rPr sz="1100" b="0" i="0">
                <a:solidFill>
                  <a:srgbClr val="5C5C5C"/>
                </a:solidFill>
                <a:latin typeface="Arial"/>
              </a:rPr>
              <a:t> und </a:t>
            </a:r>
            <a:r>
              <a:rPr sz="1100" b="1" i="0">
                <a:solidFill>
                  <a:srgbClr val="FF3C00"/>
                </a:solidFill>
                <a:latin typeface="Courier New"/>
              </a:rPr>
              <a:t>/feature-architect</a:t>
            </a:r>
            <a:r>
              <a:rPr sz="1100" b="0" i="0">
                <a:solidFill>
                  <a:srgbClr val="5C5C5C"/>
                </a:solidFill>
                <a:latin typeface="Arial"/>
              </a:rPr>
              <a:t> Skills lesen kein Artefakt — sie starten die Kette aus einem Gespräch.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7356" y="3182112"/>
            <a:ext cx="5408676" cy="86868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164592" rIns="164592" tIns="0" bIns="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141414"/>
                </a:solidFill>
                <a:latin typeface="Arial"/>
              </a:rPr>
              <a:t>Alle anderen Skills folgen der Regel: ein Eingabe-Artefakt rein, ein Ausgabe-Artefakt raus. Das Ende der Kette ist </a:t>
            </a:r>
            <a:r>
              <a:rPr sz="1000" b="1" i="0">
                <a:solidFill>
                  <a:srgbClr val="FF3C00"/>
                </a:solidFill>
                <a:latin typeface="Arial"/>
              </a:rPr>
              <a:t>ausführbarer Code</a:t>
            </a:r>
            <a:r>
              <a:rPr sz="1000" b="0" i="0">
                <a:solidFill>
                  <a:srgbClr val="141414"/>
                </a:solidFill>
                <a:latin typeface="Arial"/>
              </a:rPr>
              <a:t>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370832"/>
            <a:ext cx="11183112" cy="1755648"/>
          </a:xfrm>
          <a:prstGeom prst="rect">
            <a:avLst/>
          </a:prstGeom>
          <a:solidFill>
            <a:srgbClr val="F2F1EF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535424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 spc="200">
                <a:solidFill>
                  <a:srgbClr val="8A8A8A"/>
                </a:solidFill>
                <a:latin typeface="Arial"/>
              </a:rPr>
              <a:t>DIE VOLLSTÄNDIGE ARTEFAKT-KETTE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937760"/>
            <a:ext cx="1481328" cy="4572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ourier New"/>
              </a:rPr>
              <a:t>missions/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5440680"/>
            <a:ext cx="16642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1">
                <a:solidFill>
                  <a:srgbClr val="8A8A8A"/>
                </a:solidFill>
                <a:latin typeface="Arial"/>
              </a:rPr>
              <a:t>Das Warum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493776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14600" y="4937760"/>
            <a:ext cx="1481328" cy="4572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ourier New"/>
              </a:rPr>
              <a:t>specs/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23160" y="5440680"/>
            <a:ext cx="16642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1">
                <a:solidFill>
                  <a:srgbClr val="8A8A8A"/>
                </a:solidFill>
                <a:latin typeface="Arial"/>
              </a:rPr>
              <a:t>Das Was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95928" y="493776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07408" y="4937760"/>
            <a:ext cx="1481328" cy="4572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ourier New"/>
              </a:rPr>
              <a:t>epics/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15968" y="5440680"/>
            <a:ext cx="16642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1">
                <a:solidFill>
                  <a:srgbClr val="8A8A8A"/>
                </a:solidFill>
                <a:latin typeface="Arial"/>
              </a:rPr>
              <a:t>Die Workflows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88736" y="493776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0216" y="4937760"/>
            <a:ext cx="1481328" cy="4572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ourier New"/>
              </a:rPr>
              <a:t>facts/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08776" y="5440680"/>
            <a:ext cx="16642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1">
                <a:solidFill>
                  <a:srgbClr val="8A8A8A"/>
                </a:solidFill>
                <a:latin typeface="Arial"/>
              </a:rPr>
              <a:t>Das 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81544" y="493776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93024" y="4937760"/>
            <a:ext cx="1481328" cy="4572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ourier New"/>
              </a:rPr>
              <a:t>plans/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01584" y="5440680"/>
            <a:ext cx="16642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1">
                <a:solidFill>
                  <a:srgbClr val="8A8A8A"/>
                </a:solidFill>
                <a:latin typeface="Arial"/>
              </a:rPr>
              <a:t>Der Plan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493776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85832" y="4937760"/>
            <a:ext cx="1481328" cy="45720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ourier New"/>
              </a:rPr>
              <a:t>Source Code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94392" y="5440680"/>
            <a:ext cx="16642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1">
                <a:solidFill>
                  <a:srgbClr val="8A8A8A"/>
                </a:solidFill>
                <a:latin typeface="Arial"/>
              </a:rPr>
              <a:t>Git-Commits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852160"/>
            <a:ext cx="1118311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1">
                <a:solidFill>
                  <a:srgbClr val="5C5C5C"/>
                </a:solidFill>
                <a:latin typeface="Arial"/>
              </a:rPr>
              <a:t>Jede Zeile Code ist bis zur ursprünglichen Vision rückverfolgbar.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5</a:t>
            </a:r>
          </a:p>
        </p:txBody>
      </p:sp>
      <p:pic>
        <p:nvPicPr>
          <p:cNvPr id="32" name="Picture 31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EINSTIEG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>Den richtigen Startpunkt wählen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74519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8A8A8A"/>
                </a:solidFill>
                <a:latin typeface="Arial"/>
              </a:rPr>
              <a:t>Start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1874519"/>
            <a:ext cx="38404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1581912" y="1874519"/>
            <a:ext cx="2880360" cy="64008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164592" rIns="0" tIns="0" bIns="0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41414"/>
                </a:solidFill>
                <a:latin typeface="Arial"/>
              </a:rPr>
              <a:t>Neues Projekt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8A8A"/>
                </a:solidFill>
                <a:latin typeface="Arial"/>
              </a:rPr>
              <a:t>Komplett neue Codebasis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98848" y="1874519"/>
            <a:ext cx="38404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4919472" y="1874519"/>
            <a:ext cx="27432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5C5C5C"/>
            </a:solidFill>
          </a:ln>
          <a:effectLst/>
        </p:spPr>
        <p:txBody>
          <a:bodyPr rtlCol="0" anchor="ctr" wrap="square" lIns="164592" rIns="0" tIns="0" bIns="0"/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1414"/>
                </a:solidFill>
                <a:latin typeface="Courier New"/>
              </a:rPr>
              <a:t>/mission-architect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99247" y="1874519"/>
            <a:ext cx="38404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9871" y="1874519"/>
            <a:ext cx="2606040" cy="64008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Greenfield Pipeline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807208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8A8A8A"/>
                </a:solidFill>
                <a:latin typeface="Arial"/>
              </a:rPr>
              <a:t>Start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1288" y="2807208"/>
            <a:ext cx="38404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81912" y="2807208"/>
            <a:ext cx="2880360" cy="64008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164592" rIns="0" tIns="0" bIns="0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41414"/>
                </a:solidFill>
                <a:latin typeface="Arial"/>
              </a:rPr>
              <a:t>Neues Feature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8A8A"/>
                </a:solidFill>
                <a:latin typeface="Arial"/>
              </a:rPr>
              <a:t>Erweiterung eines Systems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2807208"/>
            <a:ext cx="38404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19472" y="2807208"/>
            <a:ext cx="27432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5C5C5C"/>
            </a:solidFill>
          </a:ln>
          <a:effectLst/>
        </p:spPr>
        <p:txBody>
          <a:bodyPr rtlCol="0" anchor="ctr" wrap="square" lIns="164592" rIns="0" tIns="0" bIns="0"/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1414"/>
                </a:solidFill>
                <a:latin typeface="Courier New"/>
              </a:rPr>
              <a:t>/feature-architect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99247" y="2807208"/>
            <a:ext cx="38404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19871" y="2807208"/>
            <a:ext cx="2606040" cy="64008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Brownfield Pipeline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739896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8A8A8A"/>
                </a:solidFill>
                <a:latin typeface="Arial"/>
              </a:rPr>
              <a:t>Start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1288" y="3739896"/>
            <a:ext cx="38404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581912" y="3739896"/>
            <a:ext cx="2880360" cy="64008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164592" rIns="0" tIns="0" bIns="0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41414"/>
                </a:solidFill>
                <a:latin typeface="Arial"/>
              </a:rPr>
              <a:t>Kleine Änderung / Bug / QA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8A8A"/>
                </a:solidFill>
                <a:latin typeface="Arial"/>
              </a:rPr>
              <a:t>Lokalisierte Anpassung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8" y="3739896"/>
            <a:ext cx="38404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19472" y="3739896"/>
            <a:ext cx="27432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5C5C5C"/>
            </a:solidFill>
          </a:ln>
          <a:effectLst/>
        </p:spPr>
        <p:txBody>
          <a:bodyPr rtlCol="0" anchor="ctr" wrap="square" lIns="164592" rIns="0" tIns="0" bIns="0"/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1414"/>
                </a:solidFill>
                <a:latin typeface="Courier New"/>
              </a:rPr>
              <a:t>/fact-finder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5074920"/>
            <a:ext cx="11183112" cy="96012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256032" rIns="256032" tIns="0" bIns="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1" i="0">
                <a:solidFill>
                  <a:srgbClr val="FF3C00"/>
                </a:solidFill>
                <a:latin typeface="Arial"/>
              </a:rPr>
              <a:t>Hinweis zur Kette:  </a:t>
            </a:r>
            <a:r>
              <a:rPr sz="1150" b="0" i="0">
                <a:solidFill>
                  <a:srgbClr val="141414"/>
                </a:solidFill>
                <a:latin typeface="Arial"/>
              </a:rPr>
              <a:t>Jeder Einstiegspunkt bestimmt, an welchem Glied der Kette die Arbeit beginnt. Die Architekten erzeugen das erste Artefakt ohne Eingabe — alle nachgelagerten Skills lesen dieses Artefakt als Startpunkt ihrer Transformation.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7</a:t>
            </a:r>
          </a:p>
        </p:txBody>
      </p:sp>
      <p:pic>
        <p:nvPicPr>
          <p:cNvPr id="26" name="Picture 25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PHASE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>Die Architekten definieren Warum und Was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1">
                <a:solidFill>
                  <a:srgbClr val="FF3C00"/>
                </a:solidFill>
                <a:latin typeface="Arial"/>
              </a:rPr>
              <a:t>Die einzige Phase ohne Eingabe-Artefakt — sie starten die Kette.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965960"/>
            <a:ext cx="5408676" cy="269748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965960"/>
            <a:ext cx="5408676" cy="50292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203704"/>
            <a:ext cx="486003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41414"/>
                </a:solidFill>
                <a:latin typeface="Courier New"/>
              </a:rPr>
              <a:t>/mission-architect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624328"/>
            <a:ext cx="658368" cy="228600"/>
          </a:xfrm>
          <a:prstGeom prst="rect">
            <a:avLst/>
          </a:prstGeom>
          <a:solidFill>
            <a:srgbClr val="5C5C5C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750" b="1" i="0" spc="120">
                <a:solidFill>
                  <a:srgbClr val="FFFFFF"/>
                </a:solidFill>
                <a:latin typeface="Arial"/>
              </a:rPr>
              <a:t>READS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5336" y="2615184"/>
            <a:ext cx="421995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1">
                <a:solidFill>
                  <a:srgbClr val="8A8A8A"/>
                </a:solidFill>
                <a:latin typeface="Courier New"/>
              </a:rPr>
              <a:t>[Gespräch mit Nutzer]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935224"/>
            <a:ext cx="804672" cy="22860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750" b="1" i="0" spc="120">
                <a:solidFill>
                  <a:srgbClr val="FFFFFF"/>
                </a:solidFill>
                <a:latin typeface="Arial"/>
              </a:rPr>
              <a:t>PRODUCES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926080"/>
            <a:ext cx="412851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FF3C00"/>
                </a:solidFill>
                <a:latin typeface="Courier New"/>
              </a:rPr>
              <a:t>thoughts/shared/missions/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291839"/>
            <a:ext cx="4860036" cy="10972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410712"/>
            <a:ext cx="4860036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41414"/>
                </a:solidFill>
                <a:latin typeface="Arial"/>
              </a:rPr>
              <a:t>Fokus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Wert, Problem, Grenzen.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41414"/>
                </a:solidFill>
                <a:latin typeface="Arial"/>
              </a:rPr>
              <a:t>Regel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Strenges Verbot von Technologienamen (kein React, kein PostgreSQL).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77356" y="1965960"/>
            <a:ext cx="5408676" cy="269748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1676" y="2203704"/>
            <a:ext cx="486003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41414"/>
                </a:solidFill>
                <a:latin typeface="Courier New"/>
              </a:rPr>
              <a:t>/feature-architect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51676" y="2624328"/>
            <a:ext cx="658368" cy="228600"/>
          </a:xfrm>
          <a:prstGeom prst="rect">
            <a:avLst/>
          </a:prstGeom>
          <a:solidFill>
            <a:srgbClr val="5C5C5C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750" b="1" i="0" spc="120">
                <a:solidFill>
                  <a:srgbClr val="FFFFFF"/>
                </a:solidFill>
                <a:latin typeface="Arial"/>
              </a:rPr>
              <a:t>READS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9772" y="2615184"/>
            <a:ext cx="421995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1">
                <a:solidFill>
                  <a:srgbClr val="8A8A8A"/>
                </a:solidFill>
                <a:latin typeface="Courier New"/>
              </a:rPr>
              <a:t>[Gespräch + Codebasis]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51676" y="2935224"/>
            <a:ext cx="804672" cy="22860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750" b="1" i="0" spc="120">
                <a:solidFill>
                  <a:srgbClr val="FFFFFF"/>
                </a:solidFill>
                <a:latin typeface="Arial"/>
              </a:rPr>
              <a:t>PRODUCES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66075" y="2926080"/>
            <a:ext cx="412851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FF3C00"/>
                </a:solidFill>
                <a:latin typeface="Courier New"/>
              </a:rPr>
              <a:t>thoughts/shared/features/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51676" y="3291839"/>
            <a:ext cx="4860036" cy="10972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1676" y="3410712"/>
            <a:ext cx="4860036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41414"/>
                </a:solidFill>
                <a:latin typeface="Arial"/>
              </a:rPr>
              <a:t>Fokus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Systemkontext und Integration.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41414"/>
                </a:solidFill>
                <a:latin typeface="Arial"/>
              </a:rPr>
              <a:t>Regel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Übernimmt bestehende Architekturbeschränkungen aus der Codebasis.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42515" y="4983480"/>
            <a:ext cx="2468880" cy="45720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urier New"/>
              </a:rPr>
              <a:t>Gespräch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42515" y="5477256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1">
                <a:solidFill>
                  <a:srgbClr val="8A8A8A"/>
                </a:solidFill>
                <a:latin typeface="Arial"/>
              </a:rPr>
              <a:t>Kein Artefakt-Input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11396" y="498348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60036" y="4983480"/>
            <a:ext cx="2468880" cy="45720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urier New"/>
              </a:rPr>
              <a:t>missions/ · features/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60036" y="5477256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1">
                <a:solidFill>
                  <a:srgbClr val="8A8A8A"/>
                </a:solidFill>
                <a:latin typeface="Arial"/>
              </a:rPr>
              <a:t>Erstes Artefakt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28916" y="498348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77556" y="4983480"/>
            <a:ext cx="2468880" cy="4572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urier New"/>
              </a:rPr>
              <a:t>specs/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77556" y="5477256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1">
                <a:solidFill>
                  <a:srgbClr val="8A8A8A"/>
                </a:solidFill>
                <a:latin typeface="Arial"/>
              </a:rPr>
              <a:t>Nächste Phase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8</a:t>
            </a:r>
          </a:p>
        </p:txBody>
      </p:sp>
      <p:pic>
        <p:nvPicPr>
          <p:cNvPr id="32" name="Picture 31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PHASE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>Visionen in technologieneutrale Spezifikationen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713232" cy="246888"/>
          </a:xfrm>
          <a:prstGeom prst="rect">
            <a:avLst/>
          </a:prstGeom>
          <a:solidFill>
            <a:srgbClr val="5C5C5C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800" b="1" i="0" spc="120">
                <a:solidFill>
                  <a:srgbClr val="FFFFFF"/>
                </a:solidFill>
                <a:latin typeface="Arial"/>
              </a:rPr>
              <a:t>READS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554480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41414"/>
                </a:solidFill>
                <a:latin typeface="Courier New"/>
              </a:rPr>
              <a:t>thoughts/shared/missions/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59" y="1517904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1572768"/>
            <a:ext cx="868680" cy="246888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800" b="1" i="0" spc="120">
                <a:solidFill>
                  <a:srgbClr val="FFFFFF"/>
                </a:solidFill>
                <a:latin typeface="Arial"/>
              </a:rPr>
              <a:t>PRODUCES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554480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3C00"/>
                </a:solidFill>
                <a:latin typeface="Courier New"/>
              </a:rPr>
              <a:t>thoughts/shared/specs/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331720"/>
            <a:ext cx="3514344" cy="233172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331720"/>
            <a:ext cx="3514344" cy="50292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2569463"/>
            <a:ext cx="30388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F3C00"/>
                </a:solidFill>
                <a:latin typeface="Courier New"/>
              </a:rPr>
              <a:t>graph 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2898648"/>
            <a:ext cx="303885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141414"/>
                </a:solidFill>
                <a:latin typeface="Arial"/>
              </a:rPr>
              <a:t>Systemarchitektur &amp; Grenzen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3520439"/>
            <a:ext cx="3038856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Zeigt Systemkomponenten, ihre Beziehungen und Grenzen in einem gerichteten Graphen.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7304" y="2331720"/>
            <a:ext cx="3514344" cy="233172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7304" y="2331720"/>
            <a:ext cx="3514344" cy="50292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5048" y="2569463"/>
            <a:ext cx="30388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F3C00"/>
                </a:solidFill>
                <a:latin typeface="Courier New"/>
              </a:rPr>
              <a:t>sequenceDiagram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5048" y="2898648"/>
            <a:ext cx="303885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141414"/>
                </a:solidFill>
                <a:latin typeface="Arial"/>
              </a:rPr>
              <a:t>Datenflüsse pro Kernfunktion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5048" y="3520439"/>
            <a:ext cx="3038856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Beschreibt, wie Daten zwischen Akteuren und Komponenten für jede kritische Funktion fließen.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71688" y="2331720"/>
            <a:ext cx="3514344" cy="233172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71688" y="2331720"/>
            <a:ext cx="3514344" cy="50292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09432" y="2569463"/>
            <a:ext cx="30388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F3C00"/>
                </a:solidFill>
                <a:latin typeface="Courier New"/>
              </a:rPr>
              <a:t>erDiagram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09432" y="2898648"/>
            <a:ext cx="303885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141414"/>
                </a:solidFill>
                <a:latin typeface="Arial"/>
              </a:rPr>
              <a:t>Abstraktes Datenmodell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09432" y="3520439"/>
            <a:ext cx="3038856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Definiert Entitäten und Beziehungen — technologieneutral, ohne DB-Festlegung.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074920"/>
            <a:ext cx="11183112" cy="91440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256032" rIns="256032" tIns="0" bIns="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1" i="0">
                <a:solidFill>
                  <a:srgbClr val="FF3C00"/>
                </a:solidFill>
                <a:latin typeface="Arial"/>
              </a:rPr>
              <a:t>Schlüsselprinzip:  </a:t>
            </a:r>
            <a:r>
              <a:rPr sz="1150" b="0" i="0">
                <a:solidFill>
                  <a:srgbClr val="141414"/>
                </a:solidFill>
                <a:latin typeface="Arial"/>
              </a:rPr>
              <a:t>Entscheidungen über spezifische Stacks werden bewusst auf spätere Phasen verschoben. Das Spec-Artefakt beschreibt, </a:t>
            </a:r>
            <a:r>
              <a:rPr sz="1150" b="1" i="1">
                <a:solidFill>
                  <a:srgbClr val="141414"/>
                </a:solidFill>
                <a:latin typeface="Arial"/>
              </a:rPr>
              <a:t>was</a:t>
            </a:r>
            <a:r>
              <a:rPr sz="1150" b="0" i="0">
                <a:solidFill>
                  <a:srgbClr val="141414"/>
                </a:solidFill>
                <a:latin typeface="Arial"/>
              </a:rPr>
              <a:t> das System tun soll, nicht </a:t>
            </a:r>
            <a:r>
              <a:rPr sz="1150" b="1" i="1">
                <a:solidFill>
                  <a:srgbClr val="141414"/>
                </a:solidFill>
                <a:latin typeface="Arial"/>
              </a:rPr>
              <a:t>wie</a:t>
            </a:r>
            <a:r>
              <a:rPr sz="1150" b="0" i="0">
                <a:solidFill>
                  <a:srgbClr val="141414"/>
                </a:solidFill>
                <a:latin typeface="Arial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9</a:t>
            </a:r>
          </a:p>
        </p:txBody>
      </p:sp>
      <p:pic>
        <p:nvPicPr>
          <p:cNvPr id="27" name="Picture 26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PHASE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>Spezifikationen in Nutzer-Workflows zerlegen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713232" cy="246888"/>
          </a:xfrm>
          <a:prstGeom prst="rect">
            <a:avLst/>
          </a:prstGeom>
          <a:solidFill>
            <a:srgbClr val="5C5C5C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800" b="1" i="0" spc="120">
                <a:solidFill>
                  <a:srgbClr val="FFFFFF"/>
                </a:solidFill>
                <a:latin typeface="Arial"/>
              </a:rPr>
              <a:t>READS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554480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41414"/>
                </a:solidFill>
                <a:latin typeface="Courier New"/>
              </a:rPr>
              <a:t>thoughts/shared/specs/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59" y="1517904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1572768"/>
            <a:ext cx="868680" cy="246888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800" b="1" i="0" spc="120">
                <a:solidFill>
                  <a:srgbClr val="FFFFFF"/>
                </a:solidFill>
                <a:latin typeface="Arial"/>
              </a:rPr>
              <a:t>PRODUCES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554480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3C00"/>
                </a:solidFill>
                <a:latin typeface="Courier New"/>
              </a:rPr>
              <a:t>thoughts/shared/epics/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08760" y="2331720"/>
            <a:ext cx="201168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41414"/>
            </a:solidFill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141414"/>
                </a:solidFill>
                <a:latin typeface="Arial"/>
              </a:rPr>
              <a:t>Spec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89864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FF3C00"/>
                </a:solidFill>
                <a:latin typeface="Arial"/>
              </a:rPr>
              <a:t>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10711"/>
            <a:ext cx="2743200" cy="4572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Epic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4050791"/>
            <a:ext cx="2743200" cy="4572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Epic 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4690872"/>
            <a:ext cx="2743200" cy="4572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Epic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80" y="2286000"/>
            <a:ext cx="6702551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41414"/>
                </a:solidFill>
                <a:latin typeface="Arial"/>
              </a:rPr>
              <a:t>Jedes Epic enthält: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83480" y="2679191"/>
            <a:ext cx="6702551" cy="932688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182880" rIns="182880" tIns="0" bIns="0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F3C00"/>
                </a:solidFill>
                <a:latin typeface="Arial"/>
              </a:rPr>
              <a:t>User Stories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80" b="0" i="0">
                <a:solidFill>
                  <a:srgbClr val="5C5C5C"/>
                </a:solidFill>
                <a:latin typeface="Arial"/>
              </a:rPr>
              <a:t>Nutzerorientierte Fähigkeiten (z. B. „User Authentication System", nicht „Database Schema Creation").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3721607"/>
            <a:ext cx="6702551" cy="932688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182880" rIns="182880" tIns="0" bIns="0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F3C00"/>
                </a:solidFill>
                <a:latin typeface="Arial"/>
              </a:rPr>
              <a:t>Abhängigkeiten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80" b="0" i="0">
                <a:solidFill>
                  <a:srgbClr val="5C5C5C"/>
                </a:solidFill>
                <a:latin typeface="Arial"/>
              </a:rPr>
              <a:t>Identifizierte Abhängigkeiten zwischen Epics — generiert als Mermaid-Diagramme.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83480" y="4764023"/>
            <a:ext cx="6702551" cy="932688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182880" rIns="182880" tIns="0" bIns="0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F3C00"/>
                </a:solidFill>
                <a:latin typeface="Arial"/>
              </a:rPr>
              <a:t>Forschungsfragen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80" b="0" i="0">
                <a:solidFill>
                  <a:srgbClr val="5C5C5C"/>
                </a:solidFill>
                <a:latin typeface="Arial"/>
              </a:rPr>
              <a:t>Zwingende Fragen für den fact-finder — unbeantwortet bleiben sie eine offene Gefahr.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10</a:t>
            </a:r>
          </a:p>
        </p:txBody>
      </p:sp>
      <p:pic>
        <p:nvPicPr>
          <p:cNvPr id="20" name="Picture 19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PHASE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>Der fact-finder bildet das faktenbasierte Fundament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713232" cy="246888"/>
          </a:xfrm>
          <a:prstGeom prst="rect">
            <a:avLst/>
          </a:prstGeom>
          <a:solidFill>
            <a:srgbClr val="5C5C5C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800" b="1" i="0" spc="120">
                <a:solidFill>
                  <a:srgbClr val="FFFFFF"/>
                </a:solidFill>
                <a:latin typeface="Arial"/>
              </a:rPr>
              <a:t>READS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554480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41414"/>
                </a:solidFill>
                <a:latin typeface="Courier New"/>
              </a:rPr>
              <a:t>thoughts/shared/epics/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59" y="1517904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1572768"/>
            <a:ext cx="868680" cy="246888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800" b="1" i="0" spc="120">
                <a:solidFill>
                  <a:srgbClr val="FFFFFF"/>
                </a:solidFill>
                <a:latin typeface="Arial"/>
              </a:rPr>
              <a:t>PRODUCES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554480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3C00"/>
                </a:solidFill>
                <a:latin typeface="Courier New"/>
              </a:rPr>
              <a:t>thoughts/shared/facts/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377440"/>
            <a:ext cx="5408676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3C00"/>
            </a:solidFill>
          </a:ln>
          <a:effectLst/>
        </p:spPr>
        <p:txBody>
          <a:bodyPr rtlCol="0" anchor="ctr" wrap="square" lIns="182880" rIns="182880" tIns="0" bIns="0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41414"/>
                </a:solidFill>
                <a:latin typeface="Arial"/>
              </a:rPr>
              <a:t>Die oberste Direktive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Keine Meinungen, keine Annahmen. Nur </a:t>
            </a:r>
            <a:r>
              <a:rPr sz="1100" b="1" i="0">
                <a:solidFill>
                  <a:srgbClr val="FF3C00"/>
                </a:solidFill>
                <a:latin typeface="Arial"/>
              </a:rPr>
              <a:t>verifizierte Beweise</a:t>
            </a:r>
            <a:r>
              <a:rPr sz="1100" b="0" i="0">
                <a:solidFill>
                  <a:srgbClr val="5C5C5C"/>
                </a:solidFill>
                <a:latin typeface="Arial"/>
              </a:rPr>
              <a:t>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584448"/>
            <a:ext cx="5408676" cy="178308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201168" rIns="182880" tIns="0" bIns="0"/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200" b="1" i="0">
                <a:solidFill>
                  <a:srgbClr val="FF3C00"/>
                </a:solidFill>
                <a:latin typeface="Arial"/>
              </a:rPr>
              <a:t>›  </a:t>
            </a:r>
            <a:r>
              <a:rPr sz="1150" b="0" i="0">
                <a:solidFill>
                  <a:srgbClr val="141414"/>
                </a:solidFill>
                <a:latin typeface="Arial"/>
              </a:rPr>
              <a:t>Kartografiert die Codebasis-Topologie.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200" b="1" i="0">
                <a:solidFill>
                  <a:srgbClr val="FF3C00"/>
                </a:solidFill>
                <a:latin typeface="Arial"/>
              </a:rPr>
              <a:t>›  </a:t>
            </a:r>
            <a:r>
              <a:rPr sz="1150" b="0" i="0">
                <a:solidFill>
                  <a:srgbClr val="141414"/>
                </a:solidFill>
                <a:latin typeface="Arial"/>
              </a:rPr>
              <a:t>Verfolgt Ausführungspfade durch komplexe Funktionen.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200" b="1" i="0">
                <a:solidFill>
                  <a:srgbClr val="FF3C00"/>
                </a:solidFill>
                <a:latin typeface="Arial"/>
              </a:rPr>
              <a:t>›  </a:t>
            </a:r>
            <a:r>
              <a:rPr sz="1150" b="0" i="0">
                <a:solidFill>
                  <a:srgbClr val="141414"/>
                </a:solidFill>
                <a:latin typeface="Arial"/>
              </a:rPr>
              <a:t>Verifizierte Daten speisen den Planner.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200" b="1" i="0">
                <a:solidFill>
                  <a:srgbClr val="FF3C00"/>
                </a:solidFill>
                <a:latin typeface="Arial"/>
              </a:rPr>
              <a:t>›  </a:t>
            </a:r>
            <a:r>
              <a:rPr sz="1150" b="0" i="0">
                <a:solidFill>
                  <a:srgbClr val="141414"/>
                </a:solidFill>
                <a:latin typeface="Arial"/>
              </a:rPr>
              <a:t>Unbestätigtes bleibt eine offene Frage.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77356" y="2377440"/>
            <a:ext cx="5408676" cy="29900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ourier New"/>
              </a:rPr>
              <a:t>/fact-finder</a:t>
            </a:r>
          </a:p>
        </p:txBody>
      </p:sp>
      <p:sp>
        <p:nvSpPr>
          <p:cNvPr id="13" name="Rectangle 12"/>
          <p:cNvSpPr/>
          <p:nvPr/>
        </p:nvSpPr>
        <p:spPr>
          <a:xfrm rot="21000000">
            <a:off x="9354312" y="2788920"/>
            <a:ext cx="2011680" cy="868680"/>
          </a:xfrm>
          <a:prstGeom prst="rect">
            <a:avLst/>
          </a:prstGeom>
          <a:noFill/>
          <a:ln w="44450">
            <a:solidFill>
              <a:srgbClr val="FF3C00"/>
            </a:solidFill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 spc="150">
                <a:solidFill>
                  <a:srgbClr val="FF3C00"/>
                </a:solidFill>
                <a:latin typeface="Arial"/>
              </a:rPr>
              <a:t>BEWEIS</a:t>
            </a:r>
          </a:p>
          <a:p>
            <a:pPr algn="ctr">
              <a:spcAft>
                <a:spcPts val="0"/>
              </a:spcAft>
            </a:pPr>
            <a:r>
              <a:rPr sz="1300" b="1" i="0" spc="120">
                <a:solidFill>
                  <a:srgbClr val="FF3C00"/>
                </a:solidFill>
                <a:latin typeface="Arial"/>
              </a:rPr>
              <a:t>ERFORDERLICH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11</a:t>
            </a:r>
          </a:p>
        </p:txBody>
      </p:sp>
      <p:pic>
        <p:nvPicPr>
          <p:cNvPr id="15" name="Picture 14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PHASE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>Der Planner erstellt den evidenzbasierten Bauplan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713232" cy="246888"/>
          </a:xfrm>
          <a:prstGeom prst="rect">
            <a:avLst/>
          </a:prstGeom>
          <a:solidFill>
            <a:srgbClr val="5C5C5C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800" b="1" i="0" spc="120">
                <a:solidFill>
                  <a:srgbClr val="FFFFFF"/>
                </a:solidFill>
                <a:latin typeface="Arial"/>
              </a:rPr>
              <a:t>READS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554480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41414"/>
                </a:solidFill>
                <a:latin typeface="Courier New"/>
              </a:rPr>
              <a:t>thoughts/shared/facts/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59" y="1517904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1572768"/>
            <a:ext cx="868680" cy="246888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800" b="1" i="0" spc="120">
                <a:solidFill>
                  <a:srgbClr val="FFFFFF"/>
                </a:solidFill>
                <a:latin typeface="Arial"/>
              </a:rPr>
              <a:t>PRODUCES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554480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3C00"/>
                </a:solidFill>
                <a:latin typeface="Courier New"/>
              </a:rPr>
              <a:t>thoughts/shared/plans/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423160"/>
            <a:ext cx="5385816" cy="283464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926080"/>
            <a:ext cx="538581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8A8A8A"/>
                </a:solidFill>
                <a:latin typeface="Courier New"/>
              </a:rPr>
              <a:t>facts/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474720"/>
            <a:ext cx="538581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FF3C00"/>
                </a:solidFill>
                <a:latin typeface="Arial"/>
              </a:rPr>
              <a:t>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15668" y="4114800"/>
            <a:ext cx="2560320" cy="64008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ourier New"/>
              </a:rPr>
              <a:t>STATE.md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0216" y="2423160"/>
            <a:ext cx="5385816" cy="877824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182880" rIns="182880" tIns="0" bIns="0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3C00"/>
                </a:solidFill>
                <a:latin typeface="Arial"/>
              </a:rPr>
              <a:t>PLAN-XXX Tasks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80" b="0" i="0">
                <a:solidFill>
                  <a:srgbClr val="5C5C5C"/>
                </a:solidFill>
                <a:latin typeface="Arial"/>
              </a:rPr>
              <a:t>Konkrete Umsetzungsschritte mit Pseudocode und Interfaces. Jeder Task ist eine atomare Einheit.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216" y="3401568"/>
            <a:ext cx="5385816" cy="877824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182880" rIns="182880" tIns="0" bIns="0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3C00"/>
                </a:solidFill>
                <a:latin typeface="Arial"/>
              </a:rPr>
              <a:t>Beweispflicht (File:Line-Line)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80" b="0" i="0">
                <a:solidFill>
                  <a:srgbClr val="5C5C5C"/>
                </a:solidFill>
                <a:latin typeface="Arial"/>
              </a:rPr>
              <a:t>Jede Dateiänderung wird mit Pfad:Zeile-Zeile belegt. Keine unbelegte Annahme überlebt.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0216" y="4379976"/>
            <a:ext cx="5385816" cy="877824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182880" rIns="182880" tIns="0" bIns="0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3C00"/>
                </a:solidFill>
                <a:latin typeface="Arial"/>
              </a:rPr>
              <a:t>Resume Checkpoint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80" b="0" i="0">
                <a:solidFill>
                  <a:srgbClr val="5C5C5C"/>
                </a:solidFill>
                <a:latin typeface="Arial"/>
              </a:rPr>
              <a:t>Speichert den exakten Fortschritt. Bei Abbruch weiß das System, wo es weiterarbeitet.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12</a:t>
            </a:r>
          </a:p>
        </p:txBody>
      </p:sp>
      <p:pic>
        <p:nvPicPr>
          <p:cNvPr id="18" name="Picture 17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PHASE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>/implement: Der Plan wird ausführbarer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713232" cy="246888"/>
          </a:xfrm>
          <a:prstGeom prst="rect">
            <a:avLst/>
          </a:prstGeom>
          <a:solidFill>
            <a:srgbClr val="5C5C5C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800" b="1" i="0" spc="120">
                <a:solidFill>
                  <a:srgbClr val="FFFFFF"/>
                </a:solidFill>
                <a:latin typeface="Arial"/>
              </a:rPr>
              <a:t>READS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554480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41414"/>
                </a:solidFill>
                <a:latin typeface="Courier New"/>
              </a:rPr>
              <a:t>thoughts/shared/plans/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59" y="1517904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1572768"/>
            <a:ext cx="868680" cy="246888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800" b="1" i="0" spc="120">
                <a:solidFill>
                  <a:srgbClr val="FFFFFF"/>
                </a:solidFill>
                <a:latin typeface="Arial"/>
              </a:rPr>
              <a:t>PRODUCES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554480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3C00"/>
                </a:solidFill>
                <a:latin typeface="Courier New"/>
              </a:rPr>
              <a:t>Produktionsbereiter Quellcode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2590038" cy="1207008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t" wrap="square" lIns="146304" rIns="146304" tIns="118872" bIns="0"/>
          <a:lstStyle/>
          <a:p>
            <a:pPr algn="l">
              <a:spcAft>
                <a:spcPts val="0"/>
              </a:spcAft>
            </a:pPr>
            <a:r>
              <a:rPr sz="900" b="1" i="0" spc="80">
                <a:solidFill>
                  <a:srgbClr val="FF3C00"/>
                </a:solidFill>
                <a:latin typeface="Arial"/>
              </a:rPr>
              <a:t>1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350" b="1" i="0">
                <a:solidFill>
                  <a:srgbClr val="141414"/>
                </a:solidFill>
                <a:latin typeface="Arial"/>
              </a:rPr>
              <a:t>Extract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5C5C5C"/>
                </a:solidFill>
                <a:latin typeface="Arial"/>
              </a:rPr>
              <a:t>Task aus dem Plan laden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67278" y="2286000"/>
            <a:ext cx="2590038" cy="1207008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t" wrap="square" lIns="146304" rIns="146304" tIns="118872" bIns="0"/>
          <a:lstStyle/>
          <a:p>
            <a:pPr algn="l">
              <a:spcAft>
                <a:spcPts val="0"/>
              </a:spcAft>
            </a:pPr>
            <a:r>
              <a:rPr sz="900" b="1" i="0" spc="80">
                <a:solidFill>
                  <a:srgbClr val="FF3C00"/>
                </a:solidFill>
                <a:latin typeface="Arial"/>
              </a:rPr>
              <a:t>2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350" b="1" i="0">
                <a:solidFill>
                  <a:srgbClr val="141414"/>
                </a:solidFill>
                <a:latin typeface="Arial"/>
              </a:rPr>
              <a:t>Delegate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5C5C5C"/>
                </a:solidFill>
                <a:latin typeface="Arial"/>
              </a:rPr>
              <a:t>An Coder-Subagent (Controller schreibt nicht selbst)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2286000"/>
            <a:ext cx="2590038" cy="1207008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t" wrap="square" lIns="146304" rIns="146304" tIns="118872" bIns="0"/>
          <a:lstStyle/>
          <a:p>
            <a:pPr algn="l">
              <a:spcAft>
                <a:spcPts val="0"/>
              </a:spcAft>
            </a:pPr>
            <a:r>
              <a:rPr sz="900" b="1" i="0" spc="80">
                <a:solidFill>
                  <a:srgbClr val="FF3C00"/>
                </a:solidFill>
                <a:latin typeface="Arial"/>
              </a:rPr>
              <a:t>3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350" b="1" i="0">
                <a:solidFill>
                  <a:srgbClr val="141414"/>
                </a:solidFill>
                <a:latin typeface="Arial"/>
              </a:rPr>
              <a:t>Parse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5C5C5C"/>
                </a:solidFill>
                <a:latin typeface="Arial"/>
              </a:rPr>
              <a:t>Status auswerten (SUCCESS / BLOCKED)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95994" y="2286000"/>
            <a:ext cx="2590038" cy="1207008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t" wrap="square" lIns="146304" rIns="146304" tIns="118872" bIns="0"/>
          <a:lstStyle/>
          <a:p>
            <a:pPr algn="l">
              <a:spcAft>
                <a:spcPts val="0"/>
              </a:spcAft>
            </a:pPr>
            <a:r>
              <a:rPr sz="900" b="1" i="0" spc="80">
                <a:solidFill>
                  <a:srgbClr val="FF3C00"/>
                </a:solidFill>
                <a:latin typeface="Arial"/>
              </a:rPr>
              <a:t>4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350" b="1" i="0">
                <a:solidFill>
                  <a:srgbClr val="141414"/>
                </a:solidFill>
                <a:latin typeface="Arial"/>
              </a:rPr>
              <a:t>Verify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5C5C5C"/>
                </a:solidFill>
                <a:latin typeface="Arial"/>
              </a:rPr>
              <a:t>„Done When"-Kriterien prüfen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767328"/>
            <a:ext cx="2590038" cy="1207008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t" wrap="square" lIns="146304" rIns="146304" tIns="118872" bIns="0"/>
          <a:lstStyle/>
          <a:p>
            <a:pPr algn="l">
              <a:spcAft>
                <a:spcPts val="0"/>
              </a:spcAft>
            </a:pPr>
            <a:r>
              <a:rPr sz="900" b="1" i="0" spc="80">
                <a:solidFill>
                  <a:srgbClr val="FF3C00"/>
                </a:solidFill>
                <a:latin typeface="Arial"/>
              </a:rPr>
              <a:t>5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350" b="1" i="0">
                <a:solidFill>
                  <a:srgbClr val="141414"/>
                </a:solidFill>
                <a:latin typeface="Arial"/>
              </a:rPr>
              <a:t>Update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5C5C5C"/>
                </a:solidFill>
                <a:latin typeface="Arial"/>
              </a:rPr>
              <a:t>STATE.md aktualisieren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67278" y="3767328"/>
            <a:ext cx="2590038" cy="1207008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t" wrap="square" lIns="146304" rIns="146304" tIns="118872" bIns="0"/>
          <a:lstStyle/>
          <a:p>
            <a:pPr algn="l">
              <a:spcAft>
                <a:spcPts val="0"/>
              </a:spcAft>
            </a:pPr>
            <a:r>
              <a:rPr sz="900" b="1" i="0" spc="80">
                <a:solidFill>
                  <a:srgbClr val="FF3C00"/>
                </a:solidFill>
                <a:latin typeface="Arial"/>
              </a:rPr>
              <a:t>6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350" b="1" i="0">
                <a:solidFill>
                  <a:srgbClr val="141414"/>
                </a:solidFill>
                <a:latin typeface="Arial"/>
              </a:rPr>
              <a:t>Commit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5C5C5C"/>
                </a:solidFill>
                <a:latin typeface="Arial"/>
              </a:rPr>
              <a:t>Sauber in Git sichern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1636" y="3767328"/>
            <a:ext cx="2590038" cy="1207008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t" wrap="square" lIns="146304" rIns="146304" tIns="118872" bIns="0"/>
          <a:lstStyle/>
          <a:p>
            <a:pPr algn="l">
              <a:spcAft>
                <a:spcPts val="0"/>
              </a:spcAft>
            </a:pPr>
            <a:r>
              <a:rPr sz="900" b="1" i="0" spc="80">
                <a:solidFill>
                  <a:srgbClr val="FF3C00"/>
                </a:solidFill>
                <a:latin typeface="Arial"/>
              </a:rPr>
              <a:t>7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350" b="1" i="0">
                <a:solidFill>
                  <a:srgbClr val="141414"/>
                </a:solidFill>
                <a:latin typeface="Arial"/>
              </a:rPr>
              <a:t>Report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5C5C5C"/>
                </a:solidFill>
                <a:latin typeface="Arial"/>
              </a:rPr>
              <a:t>Nutzerfreigabe einholen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95994" y="3767328"/>
            <a:ext cx="2590038" cy="1207008"/>
          </a:xfrm>
          <a:prstGeom prst="rect">
            <a:avLst/>
          </a:prstGeom>
          <a:solidFill>
            <a:srgbClr val="FF3C00"/>
          </a:solidFill>
          <a:ln w="12700">
            <a:solidFill>
              <a:srgbClr val="FF3C00"/>
            </a:solidFill>
          </a:ln>
          <a:effectLst/>
        </p:spPr>
        <p:txBody>
          <a:bodyPr rtlCol="0" anchor="t" wrap="square" lIns="146304" rIns="146304" tIns="118872" bIns="0"/>
          <a:lstStyle/>
          <a:p>
            <a:pPr algn="l">
              <a:spcAft>
                <a:spcPts val="0"/>
              </a:spcAft>
            </a:pPr>
            <a:r>
              <a:rPr sz="900" b="1" i="0" spc="80">
                <a:solidFill>
                  <a:srgbClr val="FFFFFF"/>
                </a:solidFill>
                <a:latin typeface="Arial"/>
              </a:rPr>
              <a:t>ENDE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Arial"/>
              </a:rPr>
              <a:t>Source Code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Arial"/>
              </a:rPr>
              <a:t>Kette vollständig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806440"/>
            <a:ext cx="11183112" cy="566928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228600" rIns="22860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Das letzte Artefakt ist kein Dokument — es ist ausführbarer Code im Git-Repository, rückverfolgbar bis zur Vision.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13</a:t>
            </a:r>
          </a:p>
        </p:txBody>
      </p:sp>
      <p:pic>
        <p:nvPicPr>
          <p:cNvPr id="20" name="Picture 19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>Das DOX-Framework: Jedes Verzeichnis hat einen Vertrag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1">
                <a:solidFill>
                  <a:srgbClr val="FF3C00"/>
                </a:solidFill>
                <a:latin typeface="Arial"/>
              </a:rPr>
              <a:t>Kein Installations-Paket. Keine Abhängigkeiten. Nur AGENTS.md-Dateien — dort, wo die Arbeit stattfindet.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965960"/>
            <a:ext cx="540867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41414"/>
                </a:solidFill>
                <a:latin typeface="Arial"/>
              </a:rPr>
              <a:t>Was sind AGENTS.md-Dateien?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Hierarchische Governance-Verträge für Verzeichnis-Teilbäume. Die Root-AGENTS.md setzt projektweite Regeln; jede Child-AGENTS.md konkretisiert sie für ihre Domäne. Je näher an der Datei, desto stärker gilt sie.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3703320"/>
            <a:ext cx="5408676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3C00"/>
            </a:solidFill>
          </a:ln>
          <a:effectLst/>
        </p:spPr>
        <p:txBody>
          <a:bodyPr rtlCol="0" anchor="ctr" wrap="square" lIns="182880" rIns="182880" tIns="0" bIns="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3C00"/>
                </a:solidFill>
                <a:latin typeface="Arial"/>
              </a:rPr>
              <a:t>Nähe-Regel:  </a:t>
            </a:r>
            <a:r>
              <a:rPr sz="1050" b="0" i="0">
                <a:solidFill>
                  <a:srgbClr val="141414"/>
                </a:solidFill>
                <a:latin typeface="Arial"/>
              </a:rPr>
              <a:t>Die nächste AGENTS.md zur Zieldatei ist der lokale Vertrag. Eltern liefern übergeordnete Regeln. Keine AGENTS.md überschreibt CLAUDE.md.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7356" y="1965960"/>
            <a:ext cx="540867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41414"/>
                </a:solidFill>
                <a:latin typeface="Arial"/>
              </a:rPr>
              <a:t>Das Protokoll: Zwei Pflichten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7356" y="2350008"/>
            <a:ext cx="5408676" cy="1078992"/>
          </a:xfrm>
          <a:prstGeom prst="rect">
            <a:avLst/>
          </a:prstGeom>
          <a:solidFill>
            <a:srgbClr val="FFFFFF"/>
          </a:solidFill>
          <a:ln w="19050">
            <a:solidFill>
              <a:srgbClr val="FF3C00"/>
            </a:solidFill>
          </a:ln>
          <a:effectLst/>
        </p:spPr>
        <p:txBody>
          <a:bodyPr rtlCol="0" anchor="ctr" wrap="square" lIns="182880" rIns="182880" tIns="0" bIns="0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41414"/>
                </a:solidFill>
                <a:latin typeface="Arial"/>
              </a:rPr>
              <a:t>Vor jeder Dateiänderung — Lesen</a:t>
            </a:r>
          </a:p>
          <a:p>
            <a:pPr algn="l">
              <a:lnSpc>
                <a:spcPct val="122000"/>
              </a:lnSpc>
              <a:spcBef>
                <a:spcPts val="200"/>
              </a:spcBef>
              <a:spcAft>
                <a:spcPts val="0"/>
              </a:spcAft>
            </a:pPr>
            <a:r>
              <a:rPr sz="1080" b="0" i="0">
                <a:solidFill>
                  <a:srgbClr val="5C5C5C"/>
                </a:solidFill>
                <a:latin typeface="Arial"/>
              </a:rPr>
              <a:t>Vom Repository-Root bis zur Zieldatei jede Ebene prüfen und vorhandene AGENTS.md einlesen.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7356" y="3557015"/>
            <a:ext cx="5408676" cy="1078992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182880" rIns="182880" tIns="0" bIns="0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41414"/>
                </a:solidFill>
                <a:latin typeface="Arial"/>
              </a:rPr>
              <a:t>Nach bedeutsamer Änderung — Schreiben</a:t>
            </a:r>
          </a:p>
          <a:p>
            <a:pPr algn="l">
              <a:lnSpc>
                <a:spcPct val="122000"/>
              </a:lnSpc>
              <a:spcBef>
                <a:spcPts val="200"/>
              </a:spcBef>
              <a:spcAft>
                <a:spcPts val="0"/>
              </a:spcAft>
            </a:pPr>
            <a:r>
              <a:rPr sz="1080" b="0" i="0">
                <a:solidFill>
                  <a:srgbClr val="5C5C5C"/>
                </a:solidFill>
                <a:latin typeface="Arial"/>
              </a:rPr>
              <a:t>Wenn Zweck, Struktur, Ownership oder Konventionen betroffen sind, die nächste AGENTS.md aktualisieren.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806440"/>
            <a:ext cx="11183112" cy="54864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228600" rIns="22860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DOX ist kein Pipeline-Schritt — es ist die Governance-Schicht, die alle Pipeline-Schritte umhüllt.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15</a:t>
            </a:r>
          </a:p>
        </p:txBody>
      </p:sp>
      <p:pic>
        <p:nvPicPr>
          <p:cNvPr id="13" name="Picture 12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GOVERNANCE-BEFEHLE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>Den Vertrag pflegen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828800"/>
            <a:ext cx="5408676" cy="274320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5408676" cy="50292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21408"/>
            <a:ext cx="486003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3C00"/>
                </a:solidFill>
                <a:latin typeface="Courier New"/>
              </a:rPr>
              <a:t>/dox-init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78608"/>
            <a:ext cx="486003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41414"/>
                </a:solidFill>
                <a:latin typeface="Arial"/>
              </a:rPr>
              <a:t>Governance-Baum bootstrappen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017520"/>
            <a:ext cx="4860036" cy="10972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182112"/>
            <a:ext cx="486003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 i="0">
                <a:solidFill>
                  <a:srgbClr val="5C5C5C"/>
                </a:solidFill>
                <a:latin typeface="Arial"/>
              </a:rPr>
              <a:t>Einmalig bei Projektstart. Erzeugt die Root-AGENTS.md und eine Child-AGENTS.md für jedes bedeutungsvolle Verzeichnis. Idempotent — überschreibt nie bestehende Dateien.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77356" y="1828800"/>
            <a:ext cx="5408676" cy="274320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51676" y="2121408"/>
            <a:ext cx="486003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3C00"/>
                </a:solidFill>
                <a:latin typeface="Courier New"/>
              </a:rPr>
              <a:t>/dox-update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1676" y="2578608"/>
            <a:ext cx="486003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41414"/>
                </a:solidFill>
                <a:latin typeface="Arial"/>
              </a:rPr>
              <a:t>Veraltete Verträge reparieren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51676" y="3017520"/>
            <a:ext cx="4860036" cy="10972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1676" y="3182112"/>
            <a:ext cx="486003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 i="0">
                <a:solidFill>
                  <a:srgbClr val="5C5C5C"/>
                </a:solidFill>
                <a:latin typeface="Arial"/>
              </a:rPr>
              <a:t>Nach größeren Codeänderungen. Prüft jede AGENTS.md gegen den aktuellen Verzeichnisinhalt — veraltete Dateien werden regeneriert, aktuelle bleiben unberührt.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937760"/>
            <a:ext cx="11183112" cy="100584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228600" rIns="22860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DOX ist aktiv bei jedem Datei-Edit — besonders während /implement. Die Governance-Schicht umhüllt die gesamte Pipeline, statt selbst ein Schritt zu sein.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16</a:t>
            </a:r>
          </a:p>
        </p:txBody>
      </p:sp>
      <p:pic>
        <p:nvPicPr>
          <p:cNvPr id="18" name="Picture 17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QUALITÄTSSICHERUNG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>Der parallele QA-Workflow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1" i="0">
                <a:solidFill>
                  <a:srgbClr val="FF3C00"/>
                </a:solidFill>
                <a:latin typeface="Arial"/>
              </a:rPr>
              <a:t>Trigger: </a:t>
            </a:r>
            <a:r>
              <a:rPr sz="1200" b="1" i="0">
                <a:solidFill>
                  <a:srgbClr val="141414"/>
                </a:solidFill>
                <a:latin typeface="Courier New"/>
              </a:rPr>
              <a:t>/fact-finder</a:t>
            </a:r>
            <a:r>
              <a:rPr sz="1200" b="0" i="0">
                <a:solidFill>
                  <a:srgbClr val="5C5C5C"/>
                </a:solidFill>
                <a:latin typeface="Arial"/>
              </a:rPr>
              <a:t> mit QA-Keywords — läuft parallel, ohne die Entwicklung zu blockieren.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48840"/>
            <a:ext cx="5408676" cy="1755648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148840"/>
            <a:ext cx="5408676" cy="50292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423160"/>
            <a:ext cx="48600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41414"/>
                </a:solidFill>
                <a:latin typeface="Arial"/>
              </a:rPr>
              <a:t>Python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70632"/>
            <a:ext cx="48600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3C00"/>
                </a:solidFill>
                <a:latin typeface="Courier New"/>
              </a:rPr>
              <a:t>python-qa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18104"/>
            <a:ext cx="4860036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5C5C5C"/>
                </a:solidFill>
                <a:latin typeface="Courier New"/>
              </a:rPr>
              <a:t>ruff (Style), pyright (Types), bandit (Security)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77356" y="2148840"/>
            <a:ext cx="5408676" cy="1755648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77356" y="2148840"/>
            <a:ext cx="5408676" cy="50292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1676" y="2423160"/>
            <a:ext cx="48600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41414"/>
                </a:solidFill>
                <a:latin typeface="Arial"/>
              </a:rPr>
              <a:t>TypeScript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1676" y="2770632"/>
            <a:ext cx="48600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3C00"/>
                </a:solidFill>
                <a:latin typeface="Courier New"/>
              </a:rPr>
              <a:t>typescript-qa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1676" y="3118104"/>
            <a:ext cx="4860036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5C5C5C"/>
                </a:solidFill>
                <a:latin typeface="Courier New"/>
              </a:rPr>
              <a:t>tsc (Compilation), eslint (Quality), knip (Dead Code)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224528"/>
            <a:ext cx="5408676" cy="1755648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4224528"/>
            <a:ext cx="5408676" cy="50292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498848"/>
            <a:ext cx="48600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41414"/>
                </a:solidFill>
                <a:latin typeface="Arial"/>
              </a:rPr>
              <a:t>Logik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846320"/>
            <a:ext cx="48600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3C00"/>
                </a:solidFill>
                <a:latin typeface="Courier New"/>
              </a:rPr>
              <a:t>logic-bugs-qa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193792"/>
            <a:ext cx="4860036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5C5C5C"/>
                </a:solidFill>
                <a:latin typeface="Courier New"/>
              </a:rPr>
              <a:t>Ausführungsverfolgung für Control Flow &amp; Edge Cases (keine einfachen Linter)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7356" y="4224528"/>
            <a:ext cx="5408676" cy="1755648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7356" y="4224528"/>
            <a:ext cx="5408676" cy="50292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51676" y="4498848"/>
            <a:ext cx="48600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41414"/>
                </a:solidFill>
                <a:latin typeface="Arial"/>
              </a:rPr>
              <a:t>Design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1676" y="4846320"/>
            <a:ext cx="48600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3C00"/>
                </a:solidFill>
                <a:latin typeface="Courier New"/>
              </a:rPr>
              <a:t>clean-code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51676" y="5193792"/>
            <a:ext cx="4860036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5C5C5C"/>
                </a:solidFill>
                <a:latin typeface="Courier New"/>
              </a:rPr>
              <a:t>Zyklomatische Komplexität (lizard), Duplizierung (jscpd)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17</a:t>
            </a:r>
          </a:p>
        </p:txBody>
      </p:sp>
      <p:pic>
        <p:nvPicPr>
          <p:cNvPr id="27" name="Picture 26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SUB-AGENTEN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>Die unsichtbare Flotte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632807" y="1627632"/>
            <a:ext cx="2926080" cy="5029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Orchestrator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468880"/>
            <a:ext cx="3514344" cy="283464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" y="2706624"/>
            <a:ext cx="3038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1414"/>
                </a:solidFill>
                <a:latin typeface="Arial"/>
              </a:rPr>
              <a:t>Die Kartografen  </a:t>
            </a:r>
            <a:r>
              <a:rPr sz="1000" b="0" i="1">
                <a:solidFill>
                  <a:srgbClr val="8A8A8A"/>
                </a:solidFill>
                <a:latin typeface="Arial"/>
              </a:rPr>
              <a:t>(Codebase)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" y="3072384"/>
            <a:ext cx="3038856" cy="2286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" y="3236976"/>
            <a:ext cx="3038856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3C00"/>
                </a:solidFill>
                <a:latin typeface="Courier New"/>
              </a:rPr>
              <a:t>codebase-locator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30" b="0" i="0">
                <a:solidFill>
                  <a:srgbClr val="5C5C5C"/>
                </a:solidFill>
                <a:latin typeface="Arial"/>
              </a:rPr>
              <a:t>Findet Dateien nach Zweck und Topologie.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3968496"/>
            <a:ext cx="3038856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3C00"/>
                </a:solidFill>
                <a:latin typeface="Courier New"/>
              </a:rPr>
              <a:t>codebase-pattern-finder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30" b="0" i="0">
                <a:solidFill>
                  <a:srgbClr val="5C5C5C"/>
                </a:solidFill>
                <a:latin typeface="Arial"/>
              </a:rPr>
              <a:t>Extrahiert dominante Implementierungsmuster.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4700016"/>
            <a:ext cx="3038856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3C00"/>
                </a:solidFill>
                <a:latin typeface="Courier New"/>
              </a:rPr>
              <a:t>codebase-analyzer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30" b="0" i="0">
                <a:solidFill>
                  <a:srgbClr val="5C5C5C"/>
                </a:solidFill>
                <a:latin typeface="Arial"/>
              </a:rPr>
              <a:t>Verfolgt Logik und Datenflüsse in Dateien.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7304" y="2468880"/>
            <a:ext cx="3514344" cy="283464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5048" y="2706624"/>
            <a:ext cx="3038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1414"/>
                </a:solidFill>
                <a:latin typeface="Arial"/>
              </a:rPr>
              <a:t>Die Archivare  </a:t>
            </a:r>
            <a:r>
              <a:rPr sz="1000" b="0" i="1">
                <a:solidFill>
                  <a:srgbClr val="8A8A8A"/>
                </a:solidFill>
                <a:latin typeface="Arial"/>
              </a:rPr>
              <a:t>(Historie)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5048" y="3072384"/>
            <a:ext cx="3038856" cy="2286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048" y="3236976"/>
            <a:ext cx="3038856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3C00"/>
                </a:solidFill>
                <a:latin typeface="Courier New"/>
              </a:rPr>
              <a:t>thoughts-locator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30" b="0" i="0">
                <a:solidFill>
                  <a:srgbClr val="5C5C5C"/>
                </a:solidFill>
                <a:latin typeface="Arial"/>
              </a:rPr>
              <a:t>Sucht historische Entscheidungsdokumente.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048" y="3968496"/>
            <a:ext cx="3038856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3C00"/>
                </a:solidFill>
                <a:latin typeface="Courier New"/>
              </a:rPr>
              <a:t>thoughts-analyzer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30" b="0" i="0">
                <a:solidFill>
                  <a:srgbClr val="5C5C5C"/>
                </a:solidFill>
                <a:latin typeface="Arial"/>
              </a:rPr>
              <a:t>Extrahiert reine Signale: Entscheidungen, Specs.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71688" y="2468880"/>
            <a:ext cx="3514344" cy="283464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09432" y="2706624"/>
            <a:ext cx="3038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1414"/>
                </a:solidFill>
                <a:latin typeface="Arial"/>
              </a:rPr>
              <a:t>Die Pfadfinder  </a:t>
            </a:r>
            <a:r>
              <a:rPr sz="1000" b="0" i="1">
                <a:solidFill>
                  <a:srgbClr val="8A8A8A"/>
                </a:solidFill>
                <a:latin typeface="Arial"/>
              </a:rPr>
              <a:t>(Extern)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09432" y="3072384"/>
            <a:ext cx="3038856" cy="2286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09432" y="3236976"/>
            <a:ext cx="3038856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3C00"/>
                </a:solidFill>
                <a:latin typeface="Courier New"/>
              </a:rPr>
              <a:t>web-search-researcher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30" b="0" i="0">
                <a:solidFill>
                  <a:srgbClr val="5C5C5C"/>
                </a:solidFill>
                <a:latin typeface="Arial"/>
              </a:rPr>
              <a:t>Recherchiert externe APIs, Bibliotheken und Best Practices.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532120"/>
            <a:ext cx="1118311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1">
                <a:solidFill>
                  <a:srgbClr val="5C5C5C"/>
                </a:solidFill>
                <a:latin typeface="Arial"/>
              </a:rPr>
              <a:t>Diese Agenten kommunizieren nur mit dem Orchestrator — niemals direkt mit dem Nutzer.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18</a:t>
            </a:r>
          </a:p>
        </p:txBody>
      </p:sp>
      <p:pic>
        <p:nvPicPr>
          <p:cNvPr id="23" name="Picture 22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MCP SERVER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>Erweiterte Logik und Web-Zugriff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828800"/>
            <a:ext cx="5408676" cy="196596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95528" y="2121408"/>
            <a:ext cx="310896" cy="310896"/>
          </a:xfrm>
          <a:prstGeom prst="ellipse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2728" y="2139696"/>
            <a:ext cx="447598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41414"/>
                </a:solidFill>
                <a:latin typeface="Courier New"/>
              </a:rPr>
              <a:t>crawl4ai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670048"/>
            <a:ext cx="48234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 i="0">
                <a:solidFill>
                  <a:srgbClr val="5C5C5C"/>
                </a:solidFill>
                <a:latin typeface="Arial"/>
              </a:rPr>
              <a:t>Extrahiert Web-Inhalte mit BM25/LLM-Filterung zur Token-Reduktion. Unterstützt crawl-, markdown- und screenshot-Modi.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7356" y="1828800"/>
            <a:ext cx="5408676" cy="196596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69964" y="2121408"/>
            <a:ext cx="310896" cy="310896"/>
          </a:xfrm>
          <a:prstGeom prst="ellipse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27164" y="2139696"/>
            <a:ext cx="447598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41414"/>
                </a:solidFill>
                <a:latin typeface="Courier New"/>
              </a:rPr>
              <a:t>searxng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9964" y="2670048"/>
            <a:ext cx="48234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 i="0">
                <a:solidFill>
                  <a:srgbClr val="5C5C5C"/>
                </a:solidFill>
                <a:latin typeface="Arial"/>
              </a:rPr>
              <a:t>Self-hosted Web-Suche für externe Dokumentationen und Bibliotheksreferenzen. Keine Abhängigkeit von kommerziellen Suchdiensten.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114800"/>
            <a:ext cx="5408676" cy="196596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5528" y="4407408"/>
            <a:ext cx="310896" cy="310896"/>
          </a:xfrm>
          <a:prstGeom prst="ellipse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2728" y="4425696"/>
            <a:ext cx="447598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41414"/>
                </a:solidFill>
                <a:latin typeface="Courier New"/>
              </a:rPr>
              <a:t>context7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4956048"/>
            <a:ext cx="48234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 i="0">
                <a:solidFill>
                  <a:srgbClr val="5C5C5C"/>
                </a:solidFill>
                <a:latin typeface="Arial"/>
              </a:rPr>
              <a:t>Direkter Abruf tagesaktueller API-Referenzen und Bibliotheks-Dokumentationen. Kein veraltetes Trainingswissen.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77356" y="4114800"/>
            <a:ext cx="5408676" cy="196596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69964" y="4407408"/>
            <a:ext cx="310896" cy="310896"/>
          </a:xfrm>
          <a:prstGeom prst="ellipse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27164" y="4425696"/>
            <a:ext cx="447598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41414"/>
                </a:solidFill>
                <a:latin typeface="Courier New"/>
              </a:rPr>
              <a:t>sequential-thinking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9964" y="4956048"/>
            <a:ext cx="48234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 i="0">
                <a:solidFill>
                  <a:srgbClr val="5C5C5C"/>
                </a:solidFill>
                <a:latin typeface="Arial"/>
              </a:rPr>
              <a:t>Ein Multi-Step-Reasoning-Workspace für komplexe Architekturentscheidungen und Abhängigkeitsanalysen.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19</a:t>
            </a:r>
          </a:p>
        </p:txBody>
      </p:sp>
      <p:pic>
        <p:nvPicPr>
          <p:cNvPr id="22" name="Picture 21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QUICK-START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>Command Reference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920240"/>
            <a:ext cx="11183112" cy="4160520"/>
          </a:xfrm>
          <a:prstGeom prst="rect">
            <a:avLst/>
          </a:prstGeom>
          <a:solidFill>
            <a:srgbClr val="1E203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2194560"/>
            <a:ext cx="155448" cy="155448"/>
          </a:xfrm>
          <a:prstGeom prst="ellipse">
            <a:avLst/>
          </a:prstGeom>
          <a:solidFill>
            <a:srgbClr val="E055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78992" y="2194560"/>
            <a:ext cx="155448" cy="155448"/>
          </a:xfrm>
          <a:prstGeom prst="ellipse">
            <a:avLst/>
          </a:prstGeom>
          <a:solidFill>
            <a:srgbClr val="E0B0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35024" y="2194560"/>
            <a:ext cx="155448" cy="155448"/>
          </a:xfrm>
          <a:prstGeom prst="ellipse">
            <a:avLst/>
          </a:prstGeom>
          <a:solidFill>
            <a:srgbClr val="55B87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697480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5B7A9A"/>
                </a:solidFill>
                <a:latin typeface="Courier New"/>
              </a:rPr>
              <a:t>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697480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8A070"/>
                </a:solidFill>
                <a:latin typeface="Courier New"/>
              </a:rPr>
              <a:t>/mission-architect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59" y="2697480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9AB0C8"/>
                </a:solidFill>
                <a:latin typeface="Arial"/>
              </a:rPr>
              <a:t>Startet ein komplett neues Projekt (Greenfield)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18104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5B7A9A"/>
                </a:solidFill>
                <a:latin typeface="Courier New"/>
              </a:rPr>
              <a:t>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118104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8A070"/>
                </a:solidFill>
                <a:latin typeface="Courier New"/>
              </a:rPr>
              <a:t>/feature-architect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59" y="3118104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9AB0C8"/>
                </a:solidFill>
                <a:latin typeface="Arial"/>
              </a:rPr>
              <a:t>Integriert ein neues Feature in bestehenden Code (Brownfield)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538728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5B7A9A"/>
                </a:solidFill>
                <a:latin typeface="Courier New"/>
              </a:rPr>
              <a:t>&gt;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538728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8A070"/>
                </a:solidFill>
                <a:latin typeface="Courier New"/>
              </a:rPr>
              <a:t>/fact-finder QA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59" y="3538728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9AB0C8"/>
                </a:solidFill>
                <a:latin typeface="Arial"/>
              </a:rPr>
              <a:t>Startet den parallelen Code-Quality-Review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959352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5B7A9A"/>
                </a:solidFill>
                <a:latin typeface="Courier New"/>
              </a:rPr>
              <a:t>&gt;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959352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8A070"/>
                </a:solidFill>
                <a:latin typeface="Courier New"/>
              </a:rPr>
              <a:t>/implement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59" y="3959352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9AB0C8"/>
                </a:solidFill>
                <a:latin typeface="Arial"/>
              </a:rPr>
              <a:t>Führt den Plan aus oder setzt nach Abbruch fort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379976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5B7A9A"/>
                </a:solidFill>
                <a:latin typeface="Courier New"/>
              </a:rPr>
              <a:t>&gt;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4379976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8A070"/>
                </a:solidFill>
                <a:latin typeface="Courier New"/>
              </a:rPr>
              <a:t>STATUS / RETRY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59" y="4379976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9AB0C8"/>
                </a:solidFill>
                <a:latin typeface="Arial"/>
              </a:rPr>
              <a:t>Laufzeitkontrolle während der Implementierung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4910328"/>
            <a:ext cx="10515600" cy="10972"/>
          </a:xfrm>
          <a:prstGeom prst="rect">
            <a:avLst/>
          </a:prstGeom>
          <a:solidFill>
            <a:srgbClr val="3A3D4E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102352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5B7A9A"/>
                </a:solidFill>
                <a:latin typeface="Courier New"/>
              </a:rPr>
              <a:t>&gt;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5102352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8A070"/>
                </a:solidFill>
                <a:latin typeface="Courier New"/>
              </a:rPr>
              <a:t>/dox-init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51959" y="5102352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9AB0C8"/>
                </a:solidFill>
                <a:latin typeface="Arial"/>
              </a:rPr>
              <a:t>Governance-Baum bootstrappen (einmalig bei Projektstart)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522976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5B7A9A"/>
                </a:solidFill>
                <a:latin typeface="Courier New"/>
              </a:rPr>
              <a:t>&gt;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5522976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8A070"/>
                </a:solidFill>
                <a:latin typeface="Courier New"/>
              </a:rPr>
              <a:t>/dox-update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59" y="5522976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9AB0C8"/>
                </a:solidFill>
                <a:latin typeface="Arial"/>
              </a:rPr>
              <a:t>Veraltete AGENTS.md-Dateien nach Codeänderungen reparieren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20</a:t>
            </a:r>
          </a:p>
        </p:txBody>
      </p:sp>
      <p:pic>
        <p:nvPicPr>
          <p:cNvPr id="32" name="Picture 31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ZUSAMMENFASSUNG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KI-Erfolg durch Methodik, nicht durch Magie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36192"/>
            <a:ext cx="1118311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B8B8B8"/>
                </a:solidFill>
                <a:latin typeface="Courier New"/>
              </a:rPr>
              <a:t>missions/</a:t>
            </a:r>
            <a:r>
              <a:rPr sz="1150" b="0" i="0">
                <a:solidFill>
                  <a:srgbClr val="B8B8B8"/>
                </a:solidFill>
                <a:latin typeface="Courier New"/>
              </a:rPr>
              <a:t>  →  </a:t>
            </a:r>
            <a:r>
              <a:rPr sz="1150" b="0" i="0">
                <a:solidFill>
                  <a:srgbClr val="B8B8B8"/>
                </a:solidFill>
                <a:latin typeface="Courier New"/>
              </a:rPr>
              <a:t>specs/</a:t>
            </a:r>
            <a:r>
              <a:rPr sz="1150" b="0" i="0">
                <a:solidFill>
                  <a:srgbClr val="B8B8B8"/>
                </a:solidFill>
                <a:latin typeface="Courier New"/>
              </a:rPr>
              <a:t>  →  </a:t>
            </a:r>
            <a:r>
              <a:rPr sz="1150" b="0" i="0">
                <a:solidFill>
                  <a:srgbClr val="B8B8B8"/>
                </a:solidFill>
                <a:latin typeface="Courier New"/>
              </a:rPr>
              <a:t>epics/</a:t>
            </a:r>
            <a:r>
              <a:rPr sz="1150" b="0" i="0">
                <a:solidFill>
                  <a:srgbClr val="B8B8B8"/>
                </a:solidFill>
                <a:latin typeface="Courier New"/>
              </a:rPr>
              <a:t>  →  </a:t>
            </a:r>
            <a:r>
              <a:rPr sz="1150" b="0" i="0">
                <a:solidFill>
                  <a:srgbClr val="B8B8B8"/>
                </a:solidFill>
                <a:latin typeface="Courier New"/>
              </a:rPr>
              <a:t>facts/</a:t>
            </a:r>
            <a:r>
              <a:rPr sz="1150" b="0" i="0">
                <a:solidFill>
                  <a:srgbClr val="B8B8B8"/>
                </a:solidFill>
                <a:latin typeface="Courier New"/>
              </a:rPr>
              <a:t>  →  </a:t>
            </a:r>
            <a:r>
              <a:rPr sz="1150" b="0" i="0">
                <a:solidFill>
                  <a:srgbClr val="B8B8B8"/>
                </a:solidFill>
                <a:latin typeface="Courier New"/>
              </a:rPr>
              <a:t>plans/</a:t>
            </a:r>
            <a:r>
              <a:rPr sz="1150" b="0" i="0">
                <a:solidFill>
                  <a:srgbClr val="B8B8B8"/>
                </a:solidFill>
                <a:latin typeface="Courier New"/>
              </a:rPr>
              <a:t>  →  </a:t>
            </a:r>
            <a:r>
              <a:rPr sz="1150" b="1" i="0">
                <a:solidFill>
                  <a:srgbClr val="FF3C00"/>
                </a:solidFill>
                <a:latin typeface="Courier New"/>
              </a:rPr>
              <a:t>Source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2057400"/>
            <a:ext cx="10085832" cy="1143000"/>
          </a:xfrm>
          <a:prstGeom prst="rect">
            <a:avLst/>
          </a:prstGeom>
          <a:solidFill>
            <a:srgbClr val="202020"/>
          </a:solidFill>
          <a:ln w="12700">
            <a:solidFill>
              <a:srgbClr val="3A3A3A"/>
            </a:solidFill>
          </a:ln>
          <a:effectLst/>
        </p:spPr>
        <p:txBody>
          <a:bodyPr rtlCol="0" anchor="ctr" wrap="square" lIns="365760" rIns="365760" tIns="0" bIns="0"/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Erfolgreiche KI-gestützte Entwicklung basiert nicht auf besseren Coding-Modellen, sondern auf rigoroser Planung, erzwungenen Systemgrenzen und verifizierbarer Orchestrierung.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3727" y="3520440"/>
            <a:ext cx="33832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F3C00"/>
                </a:solidFill>
                <a:latin typeface="Arial"/>
              </a:rPr>
              <a:t>Fakten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B8B8B8"/>
                </a:solidFill>
                <a:latin typeface="Arial"/>
              </a:rPr>
              <a:t>ersetzen Annahmen.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1035" y="3566160"/>
            <a:ext cx="10972" cy="64008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04207" y="3520440"/>
            <a:ext cx="33832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F3C00"/>
                </a:solidFill>
                <a:latin typeface="Arial"/>
              </a:rPr>
              <a:t>Spezifikationen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B8B8B8"/>
                </a:solidFill>
                <a:latin typeface="Arial"/>
              </a:rPr>
              <a:t>gehen der Ausführung voraus.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11515" y="3566160"/>
            <a:ext cx="10972" cy="64008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44687" y="3520440"/>
            <a:ext cx="33832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F3C00"/>
                </a:solidFill>
                <a:latin typeface="Arial"/>
              </a:rPr>
              <a:t>Transparenz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B8B8B8"/>
                </a:solidFill>
                <a:latin typeface="Arial"/>
              </a:rPr>
              <a:t>bei jedem Git-Commit.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074920"/>
            <a:ext cx="11183112" cy="77724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228600" rIns="22860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Von der Vision bis zum ausführbaren Code — jeder Schritt hinterlässt ein Artefakt. Kein Schritt überspringt den vorherigen.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8B8B8"/>
                </a:solidFill>
                <a:latin typeface="Arial"/>
              </a:rPr>
              <a:t>21</a:t>
            </a:r>
          </a:p>
        </p:txBody>
      </p:sp>
      <p:pic>
        <p:nvPicPr>
          <p:cNvPr id="15" name="Picture 14" descr="vier-logo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 xml:space="preserve">DER KERN</a:t>
            </a:r>
          </a:p>
        </p:txBody>
      </p:sp>
      <p:sp>
        <p:nvSpPr>
          <p:cNvPr id="3" name="TextBox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 xml:space="preserve">Ziel — Ist — Plan: der Kern jeder Änderung</a:t>
            </a:r>
          </a:p>
        </p:txBody>
      </p:sp>
      <p:sp>
        <p:nvSpPr>
          <p:cNvPr id="4" name="Rule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"/>
          <p:cNvSpPr txBox="1"/>
          <p:nvPr/>
        </p:nvSpPr>
        <p:spPr>
          <a:xfrm>
            <a:off x="502920" y="1481328"/>
            <a:ext cx="10600000" cy="5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5C5C5C"/>
                </a:solidFill>
                <a:latin typeface="Arial"/>
              </a:rPr>
              <a:t xml:space="preserve">Jede Code-Änderung folgt demselben Muster — erst drei Schritte, dann die Umsetzung. Nur die Tiefe variiert: ob Greenfield, Brownfield oder kleiner Bugfix.</a:t>
            </a:r>
          </a:p>
        </p:txBody>
      </p:sp>
      <p:sp>
        <p:nvSpPr>
          <p:cNvPr id="6" name="ZoneLabel"/>
          <p:cNvSpPr/>
          <p:nvPr/>
        </p:nvSpPr>
        <p:spPr>
          <a:xfrm>
            <a:off x="502920" y="2057400"/>
            <a:ext cx="2057400" cy="2743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"/>
          <p:cNvSpPr txBox="1"/>
          <p:nvPr/>
        </p:nvSpPr>
        <p:spPr>
          <a:xfrm>
            <a:off x="502920" y="20574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 i="0" spc="120">
                <a:solidFill>
                  <a:srgbClr val="FFFFFF"/>
                </a:solidFill>
                <a:latin typeface="Arial"/>
              </a:rPr>
              <a:t xml:space="preserve">DAS UNIVERSELLE MUSTER</a:t>
            </a:r>
          </a:p>
        </p:txBody>
      </p:sp>
      <p:sp>
        <p:nvSpPr>
          <p:cNvPr id="8" name="NumBadge"/>
          <p:cNvSpPr/>
          <p:nvPr/>
        </p:nvSpPr>
        <p:spPr>
          <a:xfrm>
            <a:off x="502920" y="2500000"/>
            <a:ext cx="380000" cy="38000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"/>
          <p:cNvSpPr txBox="1"/>
          <p:nvPr/>
        </p:nvSpPr>
        <p:spPr>
          <a:xfrm>
            <a:off x="502920" y="2500000"/>
            <a:ext cx="380000" cy="38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 xml:space="preserve">1</a:t>
            </a:r>
          </a:p>
        </p:txBody>
      </p:sp>
      <p:sp>
        <p:nvSpPr>
          <p:cNvPr id="10" name="TextBox"/>
          <p:cNvSpPr txBox="1"/>
          <p:nvPr/>
        </p:nvSpPr>
        <p:spPr>
          <a:xfrm>
            <a:off x="1022920" y="2480000"/>
            <a:ext cx="4230000" cy="7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141414"/>
                </a:solidFill>
                <a:latin typeface="Arial"/>
              </a:rPr>
              <a:t xml:space="preserve">ZIEL — Spezifikation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5C5C5C"/>
                </a:solidFill>
                <a:latin typeface="Arial"/>
              </a:rPr>
              <a:t xml:space="preserve">Was will ich erreichen? Bei trivialen Zielen (z. B. rename a → b) optional.</a:t>
            </a:r>
          </a:p>
        </p:txBody>
      </p:sp>
      <p:sp>
        <p:nvSpPr>
          <p:cNvPr id="11" name="NumBadge"/>
          <p:cNvSpPr/>
          <p:nvPr/>
        </p:nvSpPr>
        <p:spPr>
          <a:xfrm>
            <a:off x="502920" y="3300000"/>
            <a:ext cx="380000" cy="38000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"/>
          <p:cNvSpPr txBox="1"/>
          <p:nvPr/>
        </p:nvSpPr>
        <p:spPr>
          <a:xfrm>
            <a:off x="502920" y="3300000"/>
            <a:ext cx="380000" cy="38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 xml:space="preserve">2</a:t>
            </a:r>
          </a:p>
        </p:txBody>
      </p:sp>
      <p:sp>
        <p:nvSpPr>
          <p:cNvPr id="13" name="TextBox"/>
          <p:cNvSpPr txBox="1"/>
          <p:nvPr/>
        </p:nvSpPr>
        <p:spPr>
          <a:xfrm>
            <a:off x="1022920" y="3280000"/>
            <a:ext cx="4230000" cy="7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141414"/>
                </a:solidFill>
                <a:latin typeface="Arial"/>
              </a:rPr>
              <a:t xml:space="preserve">IST — fact-finder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5C5C5C"/>
                </a:solidFill>
                <a:latin typeface="Arial"/>
              </a:rPr>
              <a:t xml:space="preserve">Woher starten wir? Die Codebasis samt Doku plus externes Wissen (Best Practices, Libraries, Standards, Services) — verifiziert festgehalten.</a:t>
            </a:r>
          </a:p>
        </p:txBody>
      </p:sp>
      <p:sp>
        <p:nvSpPr>
          <p:cNvPr id="14" name="NumBadge"/>
          <p:cNvSpPr/>
          <p:nvPr/>
        </p:nvSpPr>
        <p:spPr>
          <a:xfrm>
            <a:off x="502920" y="4100000"/>
            <a:ext cx="380000" cy="38000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"/>
          <p:cNvSpPr txBox="1"/>
          <p:nvPr/>
        </p:nvSpPr>
        <p:spPr>
          <a:xfrm>
            <a:off x="502920" y="4100000"/>
            <a:ext cx="380000" cy="38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 xml:space="preserve">3</a:t>
            </a:r>
          </a:p>
        </p:txBody>
      </p:sp>
      <p:sp>
        <p:nvSpPr>
          <p:cNvPr id="16" name="TextBox"/>
          <p:cNvSpPr txBox="1"/>
          <p:nvPr/>
        </p:nvSpPr>
        <p:spPr>
          <a:xfrm>
            <a:off x="1022920" y="4080000"/>
            <a:ext cx="4230000" cy="7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141414"/>
                </a:solidFill>
                <a:latin typeface="Arial"/>
              </a:rPr>
              <a:t xml:space="preserve">PLAN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5C5C5C"/>
                </a:solidFill>
                <a:latin typeface="Arial"/>
              </a:rPr>
              <a:t xml:space="preserve">Der Weg vom Ist zum Ziel.</a:t>
            </a:r>
          </a:p>
        </p:txBody>
      </p:sp>
      <p:sp>
        <p:nvSpPr>
          <p:cNvPr id="17" name="UmsetzChip"/>
          <p:cNvSpPr/>
          <p:nvPr/>
        </p:nvSpPr>
        <p:spPr>
          <a:xfrm>
            <a:off x="502920" y="4960000"/>
            <a:ext cx="4750000" cy="47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"/>
          <p:cNvSpPr txBox="1"/>
          <p:nvPr/>
        </p:nvSpPr>
        <p:spPr>
          <a:xfrm>
            <a:off x="502920" y="4960000"/>
            <a:ext cx="4750000" cy="470000"/>
          </a:xfrm>
          <a:prstGeom prst="rect">
            <a:avLst/>
          </a:prstGeom>
          <a:noFill/>
        </p:spPr>
        <p:txBody>
          <a:bodyPr wrap="square" lIns="22860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F3C00"/>
                </a:solidFill>
                <a:latin typeface="Arial"/>
              </a:rPr>
              <a:t xml:space="preserve">→ UMSETZUNG</a:t>
            </a:r>
            <a:r>
              <a:rPr sz="1150" b="0" i="0">
                <a:solidFill>
                  <a:srgbClr val="FFFFFF"/>
                </a:solidFill>
                <a:latin typeface="Arial"/>
              </a:rPr>
              <a:t xml:space="preserve">   erst jetzt entsteht Code.</a:t>
            </a:r>
          </a:p>
        </p:txBody>
      </p:sp>
      <p:sp>
        <p:nvSpPr>
          <p:cNvPr id="19" name="TextBox"/>
          <p:cNvSpPr txBox="1"/>
          <p:nvPr/>
        </p:nvSpPr>
        <p:spPr>
          <a:xfrm>
            <a:off x="502920" y="5580000"/>
            <a:ext cx="4750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1" i="0">
                <a:solidFill>
                  <a:srgbClr val="FF3C00"/>
                </a:solidFill>
                <a:latin typeface="Arial"/>
              </a:rPr>
              <a:t xml:space="preserve">Ist + Plan sind immer Pflicht. Nur die Spezifikation entfällt, wenn das Ziel trivial und eindeutig ist.</a:t>
            </a:r>
          </a:p>
        </p:txBody>
      </p:sp>
      <p:sp>
        <p:nvSpPr>
          <p:cNvPr id="20" name="TextBox"/>
          <p:cNvSpPr txBox="1"/>
          <p:nvPr/>
        </p:nvSpPr>
        <p:spPr>
          <a:xfrm>
            <a:off x="6850000" y="2057400"/>
            <a:ext cx="39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 spc="120">
                <a:solidFill>
                  <a:srgbClr val="8A8A8A"/>
                </a:solidFill>
                <a:latin typeface="Arial"/>
              </a:rPr>
              <a:t xml:space="preserve">ALLES ANDERE UMKREIST DEN KERN</a:t>
            </a:r>
          </a:p>
        </p:txBody>
      </p:sp>
      <p:sp>
        <p:nvSpPr>
          <p:cNvPr id="21" name="OrbitRing"/>
          <p:cNvSpPr/>
          <p:nvPr/>
        </p:nvSpPr>
        <p:spPr>
          <a:xfrm>
            <a:off x="6850000" y="2350000"/>
            <a:ext cx="3900000" cy="3900000"/>
          </a:xfrm>
          <a:prstGeom prst="ellipse">
            <a:avLst/>
          </a:prstGeom>
          <a:noFill/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Line"/>
          <p:cNvSpPr/>
          <p:nvPr/>
        </p:nvSpPr>
        <p:spPr>
          <a:xfrm>
            <a:off x="7421136" y="2921136"/>
            <a:ext cx="1378864" cy="1378864"/>
          </a:xfrm>
          <a:prstGeom prst="line">
            <a:avLst/>
          </a:prstGeom>
          <a:ln w="9525">
            <a:solidFill>
              <a:srgbClr val="E8E8E8"/>
            </a:solidFill>
          </a:ln>
          <a:effectLst/>
        </p:spPr>
        <p:txBody>
          <a:bodyPr/>
          <a:lstStyle/>
          <a:p/>
        </p:txBody>
      </p:sp>
      <p:sp>
        <p:nvSpPr>
          <p:cNvPr id="23" name="Line"/>
          <p:cNvSpPr/>
          <p:nvPr/>
        </p:nvSpPr>
        <p:spPr>
          <a:xfrm flipV="1">
            <a:off x="8800000" y="2921136"/>
            <a:ext cx="1378864" cy="1378864"/>
          </a:xfrm>
          <a:prstGeom prst="line">
            <a:avLst/>
          </a:prstGeom>
          <a:ln w="9525">
            <a:solidFill>
              <a:srgbClr val="E8E8E8"/>
            </a:solidFill>
          </a:ln>
          <a:effectLst/>
        </p:spPr>
        <p:txBody>
          <a:bodyPr/>
          <a:lstStyle/>
          <a:p/>
        </p:txBody>
      </p:sp>
      <p:sp>
        <p:nvSpPr>
          <p:cNvPr id="24" name="Line"/>
          <p:cNvSpPr/>
          <p:nvPr/>
        </p:nvSpPr>
        <p:spPr>
          <a:xfrm flipH="1">
            <a:off x="7421136" y="4300000"/>
            <a:ext cx="1378864" cy="1378864"/>
          </a:xfrm>
          <a:prstGeom prst="line">
            <a:avLst/>
          </a:prstGeom>
          <a:ln w="9525">
            <a:solidFill>
              <a:srgbClr val="E8E8E8"/>
            </a:solidFill>
          </a:ln>
          <a:effectLst/>
        </p:spPr>
        <p:txBody>
          <a:bodyPr/>
          <a:lstStyle/>
          <a:p/>
        </p:txBody>
      </p:sp>
      <p:sp>
        <p:nvSpPr>
          <p:cNvPr id="25" name="Line"/>
          <p:cNvSpPr/>
          <p:nvPr/>
        </p:nvSpPr>
        <p:spPr>
          <a:xfrm>
            <a:off x="8800000" y="4300000"/>
            <a:ext cx="1378864" cy="1378864"/>
          </a:xfrm>
          <a:prstGeom prst="line">
            <a:avLst/>
          </a:prstGeom>
          <a:ln w="9525">
            <a:solidFill>
              <a:srgbClr val="E8E8E8"/>
            </a:solidFill>
          </a:ln>
          <a:effectLst/>
        </p:spPr>
        <p:txBody>
          <a:bodyPr/>
          <a:lstStyle/>
          <a:p/>
        </p:txBody>
      </p:sp>
      <p:sp>
        <p:nvSpPr>
          <p:cNvPr id="26" name="Core"/>
          <p:cNvSpPr/>
          <p:nvPr/>
        </p:nvSpPr>
        <p:spPr>
          <a:xfrm>
            <a:off x="8075000" y="3575000"/>
            <a:ext cx="1450000" cy="1450000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"/>
          <p:cNvSpPr txBox="1"/>
          <p:nvPr/>
        </p:nvSpPr>
        <p:spPr>
          <a:xfrm>
            <a:off x="8075000" y="3575000"/>
            <a:ext cx="1450000" cy="145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1" i="0" spc="120">
                <a:solidFill>
                  <a:srgbClr val="FF3C00"/>
                </a:solidFill>
                <a:latin typeface="Arial"/>
              </a:rPr>
              <a:t xml:space="preserve">KERN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 xml:space="preserve">Ziel · Ist · Plan</a:t>
            </a:r>
          </a:p>
        </p:txBody>
      </p:sp>
      <p:sp>
        <p:nvSpPr>
          <p:cNvPr id="28" name="Pill_NW"/>
          <p:cNvSpPr/>
          <p:nvPr/>
        </p:nvSpPr>
        <p:spPr>
          <a:xfrm>
            <a:off x="6471136" y="2661136"/>
            <a:ext cx="1900000" cy="52000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"/>
          <p:cNvSpPr txBox="1"/>
          <p:nvPr/>
        </p:nvSpPr>
        <p:spPr>
          <a:xfrm>
            <a:off x="6471136" y="2661136"/>
            <a:ext cx="1900000" cy="52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141414"/>
                </a:solidFill>
                <a:latin typeface="Arial"/>
              </a:rPr>
              <a:t xml:space="preserve">Greenfield- &amp; Brownfield-Architekten</a:t>
            </a:r>
          </a:p>
        </p:txBody>
      </p:sp>
      <p:sp>
        <p:nvSpPr>
          <p:cNvPr id="30" name="Pill_NE"/>
          <p:cNvSpPr/>
          <p:nvPr/>
        </p:nvSpPr>
        <p:spPr>
          <a:xfrm>
            <a:off x="9228864" y="2661136"/>
            <a:ext cx="1900000" cy="52000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"/>
          <p:cNvSpPr txBox="1"/>
          <p:nvPr/>
        </p:nvSpPr>
        <p:spPr>
          <a:xfrm>
            <a:off x="9228864" y="2661136"/>
            <a:ext cx="1900000" cy="52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141414"/>
                </a:solidFill>
                <a:latin typeface="Arial"/>
              </a:rPr>
              <a:t xml:space="preserve">DOX-Governance</a:t>
            </a:r>
          </a:p>
        </p:txBody>
      </p:sp>
      <p:sp>
        <p:nvSpPr>
          <p:cNvPr id="32" name="Pill_SW"/>
          <p:cNvSpPr/>
          <p:nvPr/>
        </p:nvSpPr>
        <p:spPr>
          <a:xfrm>
            <a:off x="6471136" y="5418864"/>
            <a:ext cx="1900000" cy="52000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"/>
          <p:cNvSpPr txBox="1"/>
          <p:nvPr/>
        </p:nvSpPr>
        <p:spPr>
          <a:xfrm>
            <a:off x="6471136" y="5418864"/>
            <a:ext cx="1900000" cy="52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141414"/>
                </a:solidFill>
                <a:latin typeface="Arial"/>
              </a:rPr>
              <a:t xml:space="preserve">Sub-Agenten-Flotte</a:t>
            </a:r>
          </a:p>
        </p:txBody>
      </p:sp>
      <p:sp>
        <p:nvSpPr>
          <p:cNvPr id="34" name="Pill_SE"/>
          <p:cNvSpPr/>
          <p:nvPr/>
        </p:nvSpPr>
        <p:spPr>
          <a:xfrm>
            <a:off x="9228864" y="5418864"/>
            <a:ext cx="1900000" cy="52000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"/>
          <p:cNvSpPr txBox="1"/>
          <p:nvPr/>
        </p:nvSpPr>
        <p:spPr>
          <a:xfrm>
            <a:off x="9228864" y="5418864"/>
            <a:ext cx="1900000" cy="52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141414"/>
                </a:solidFill>
                <a:latin typeface="Arial"/>
              </a:rPr>
              <a:t xml:space="preserve">QA-Workflow</a:t>
            </a:r>
          </a:p>
        </p:txBody>
      </p:sp>
      <p:sp>
        <p:nvSpPr>
          <p:cNvPr id="36" name="TextBox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 xml:space="preserve">3</a:t>
            </a:r>
          </a:p>
        </p:txBody>
      </p:sp>
      <p:pic>
        <p:nvPicPr>
          <p:cNvPr id="37" name="Picture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 xml:space="preserve">EXPLORATION</a:t>
            </a:r>
          </a:p>
        </p:txBody>
      </p:sp>
      <p:sp>
        <p:nvSpPr>
          <p:cNvPr id="3" name="TextBox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 xml:space="preserve">Ausbrechen aus dem Prozess</a:t>
            </a:r>
          </a:p>
        </p:txBody>
      </p:sp>
      <p:sp>
        <p:nvSpPr>
          <p:cNvPr id="4" name="Rule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"/>
          <p:cNvSpPr txBox="1"/>
          <p:nvPr/>
        </p:nvSpPr>
        <p:spPr>
          <a:xfrm>
            <a:off x="502920" y="1481328"/>
            <a:ext cx="10600000" cy="5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5C5C5C"/>
                </a:solidFill>
                <a:latin typeface="Arial"/>
              </a:rPr>
              <a:t xml:space="preserve">Manchmal muss man schnell etwas ausprobieren. Der </a:t>
            </a:r>
            <a:r>
              <a:rPr sz="1200" b="1" i="0">
                <a:solidFill>
                  <a:srgbClr val="141414"/>
                </a:solidFill>
                <a:latin typeface="Courier New"/>
              </a:rPr>
              <a:t xml:space="preserve">/prototype</a:t>
            </a:r>
            <a:r>
              <a:rPr sz="1200" b="0" i="0">
                <a:solidFill>
                  <a:srgbClr val="5C5C5C"/>
                </a:solidFill>
                <a:latin typeface="Arial"/>
              </a:rPr>
              <a:t xml:space="preserve">-Skill erlaubt genau das — ohne Spec, Plan oder QA, aber mit klaren Leitplanken.</a:t>
            </a:r>
          </a:p>
        </p:txBody>
      </p:sp>
      <p:sp>
        <p:nvSpPr>
          <p:cNvPr id="6" name="ZoneLabel"/>
          <p:cNvSpPr/>
          <p:nvPr/>
        </p:nvSpPr>
        <p:spPr>
          <a:xfrm>
            <a:off x="502920" y="2057400"/>
            <a:ext cx="1783080" cy="2743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"/>
          <p:cNvSpPr txBox="1"/>
          <p:nvPr/>
        </p:nvSpPr>
        <p:spPr>
          <a:xfrm>
            <a:off x="502920" y="2057400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 i="0" spc="120">
                <a:solidFill>
                  <a:srgbClr val="FFFFFF"/>
                </a:solidFill>
                <a:latin typeface="Arial"/>
              </a:rPr>
              <a:t xml:space="preserve">SO ARBEITET DER SKILL</a:t>
            </a:r>
          </a:p>
        </p:txBody>
      </p:sp>
      <p:sp>
        <p:nvSpPr>
          <p:cNvPr id="8" name="Num"/>
          <p:cNvSpPr/>
          <p:nvPr/>
        </p:nvSpPr>
        <p:spPr>
          <a:xfrm>
            <a:off x="502920" y="2520000"/>
            <a:ext cx="380000" cy="38000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"/>
          <p:cNvSpPr txBox="1"/>
          <p:nvPr/>
        </p:nvSpPr>
        <p:spPr>
          <a:xfrm>
            <a:off x="502920" y="2520000"/>
            <a:ext cx="380000" cy="38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 xml:space="preserve">1</a:t>
            </a:r>
          </a:p>
        </p:txBody>
      </p:sp>
      <p:sp>
        <p:nvSpPr>
          <p:cNvPr id="10" name="TextBox"/>
          <p:cNvSpPr txBox="1"/>
          <p:nvPr/>
        </p:nvSpPr>
        <p:spPr>
          <a:xfrm>
            <a:off x="1022920" y="2500000"/>
            <a:ext cx="5450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141414"/>
                </a:solidFill>
                <a:latin typeface="Arial"/>
              </a:rPr>
              <a:t xml:space="preserve">Isolierter git-Worktree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5C5C5C"/>
                </a:solidFill>
                <a:latin typeface="Arial"/>
              </a:rPr>
              <a:t xml:space="preserve">Wegwerf-Code entsteht getrennt vom Hauptzweig — nichts kontaminiert die Codebasis.</a:t>
            </a:r>
          </a:p>
        </p:txBody>
      </p:sp>
      <p:sp>
        <p:nvSpPr>
          <p:cNvPr id="11" name="Num"/>
          <p:cNvSpPr/>
          <p:nvPr/>
        </p:nvSpPr>
        <p:spPr>
          <a:xfrm>
            <a:off x="502920" y="3255000"/>
            <a:ext cx="380000" cy="38000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"/>
          <p:cNvSpPr txBox="1"/>
          <p:nvPr/>
        </p:nvSpPr>
        <p:spPr>
          <a:xfrm>
            <a:off x="502920" y="3255000"/>
            <a:ext cx="380000" cy="38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 xml:space="preserve">2</a:t>
            </a:r>
          </a:p>
        </p:txBody>
      </p:sp>
      <p:sp>
        <p:nvSpPr>
          <p:cNvPr id="13" name="TextBox"/>
          <p:cNvSpPr txBox="1"/>
          <p:nvPr/>
        </p:nvSpPr>
        <p:spPr>
          <a:xfrm>
            <a:off x="1022920" y="3235000"/>
            <a:ext cx="5450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141414"/>
                </a:solidFill>
                <a:latin typeface="Arial"/>
              </a:rPr>
              <a:t xml:space="preserve">Keine Gates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5C5C5C"/>
                </a:solidFill>
                <a:latin typeface="Arial"/>
              </a:rPr>
              <a:t xml:space="preserve">Kein Spec, kein Plan, keine QA — schnelles, rohes Ausprobieren einer Idee.</a:t>
            </a:r>
          </a:p>
        </p:txBody>
      </p:sp>
      <p:sp>
        <p:nvSpPr>
          <p:cNvPr id="14" name="Num"/>
          <p:cNvSpPr/>
          <p:nvPr/>
        </p:nvSpPr>
        <p:spPr>
          <a:xfrm>
            <a:off x="502920" y="3990000"/>
            <a:ext cx="380000" cy="38000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"/>
          <p:cNvSpPr txBox="1"/>
          <p:nvPr/>
        </p:nvSpPr>
        <p:spPr>
          <a:xfrm>
            <a:off x="502920" y="3990000"/>
            <a:ext cx="380000" cy="38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 xml:space="preserve">3</a:t>
            </a:r>
          </a:p>
        </p:txBody>
      </p:sp>
      <p:sp>
        <p:nvSpPr>
          <p:cNvPr id="16" name="TextBox"/>
          <p:cNvSpPr txBox="1"/>
          <p:nvPr/>
        </p:nvSpPr>
        <p:spPr>
          <a:xfrm>
            <a:off x="1022920" y="3970000"/>
            <a:ext cx="5450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141414"/>
                </a:solidFill>
                <a:latin typeface="Arial"/>
              </a:rPr>
              <a:t xml:space="preserve">Explizite Entscheidung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5C5C5C"/>
                </a:solidFill>
                <a:latin typeface="Arial"/>
              </a:rPr>
              <a:t xml:space="preserve">Am Ende steht bewusst ein klares go / no-go / iterate.</a:t>
            </a:r>
          </a:p>
        </p:txBody>
      </p:sp>
      <p:sp>
        <p:nvSpPr>
          <p:cNvPr id="17" name="Num"/>
          <p:cNvSpPr/>
          <p:nvPr/>
        </p:nvSpPr>
        <p:spPr>
          <a:xfrm>
            <a:off x="502920" y="4725000"/>
            <a:ext cx="380000" cy="38000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"/>
          <p:cNvSpPr txBox="1"/>
          <p:nvPr/>
        </p:nvSpPr>
        <p:spPr>
          <a:xfrm>
            <a:off x="502920" y="4725000"/>
            <a:ext cx="380000" cy="38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 xml:space="preserve">4</a:t>
            </a:r>
          </a:p>
        </p:txBody>
      </p:sp>
      <p:sp>
        <p:nvSpPr>
          <p:cNvPr id="19" name="TextBox"/>
          <p:cNvSpPr txBox="1"/>
          <p:nvPr/>
        </p:nvSpPr>
        <p:spPr>
          <a:xfrm>
            <a:off x="1022920" y="4705000"/>
            <a:ext cx="5450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141414"/>
                </a:solidFill>
                <a:latin typeface="Arial"/>
              </a:rPr>
              <a:t xml:space="preserve">Code wird verworfen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5C5C5C"/>
                </a:solidFill>
                <a:latin typeface="Arial"/>
              </a:rPr>
              <a:t xml:space="preserve">Der Code wird immer gelöscht — es bleibt allein die Erkenntnis.</a:t>
            </a:r>
          </a:p>
        </p:txBody>
      </p:sp>
      <p:sp>
        <p:nvSpPr>
          <p:cNvPr id="20" name="ProtoCard"/>
          <p:cNvSpPr/>
          <p:nvPr/>
        </p:nvSpPr>
        <p:spPr>
          <a:xfrm>
            <a:off x="6900000" y="2057400"/>
            <a:ext cx="4758775" cy="330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"/>
          <p:cNvSpPr txBox="1"/>
          <p:nvPr/>
        </p:nvSpPr>
        <p:spPr>
          <a:xfrm>
            <a:off x="7200000" y="2337400"/>
            <a:ext cx="4158775" cy="50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ourier New"/>
              </a:rPr>
              <a:t xml:space="preserve">/prototype</a:t>
            </a:r>
          </a:p>
        </p:txBody>
      </p:sp>
      <p:sp>
        <p:nvSpPr>
          <p:cNvPr id="22" name="TextBox"/>
          <p:cNvSpPr txBox="1"/>
          <p:nvPr/>
        </p:nvSpPr>
        <p:spPr>
          <a:xfrm>
            <a:off x="7200000" y="3057400"/>
            <a:ext cx="4158775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 spc="120">
                <a:solidFill>
                  <a:srgbClr val="FF3C00"/>
                </a:solidFill>
                <a:latin typeface="Arial"/>
              </a:rPr>
              <a:t xml:space="preserve">OPTIONALER EINSTIEG</a:t>
            </a:r>
          </a:p>
        </p:txBody>
      </p:sp>
      <p:sp>
        <p:nvSpPr>
          <p:cNvPr id="23" name="TextBox"/>
          <p:cNvSpPr txBox="1"/>
          <p:nvPr/>
        </p:nvSpPr>
        <p:spPr>
          <a:xfrm>
            <a:off x="7200000" y="3377400"/>
            <a:ext cx="4158775" cy="5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C8C8C8"/>
                </a:solidFill>
                <a:latin typeface="Arial"/>
              </a:rPr>
              <a:t xml:space="preserve">Vor mission-architect, feature-architect oder fact-finder — noch bevor die Kette startet.</a:t>
            </a:r>
          </a:p>
        </p:txBody>
      </p:sp>
      <p:sp>
        <p:nvSpPr>
          <p:cNvPr id="24" name="Line"/>
          <p:cNvSpPr/>
          <p:nvPr/>
        </p:nvSpPr>
        <p:spPr>
          <a:xfrm>
            <a:off x="7200000" y="4137400"/>
            <a:ext cx="4158775" cy="0"/>
          </a:xfrm>
          <a:prstGeom prst="line">
            <a:avLst/>
          </a:prstGeom>
          <a:ln w="9525">
            <a:solidFill>
              <a:srgbClr val="3D3D3D"/>
            </a:solidFill>
          </a:ln>
          <a:effectLst/>
        </p:spPr>
        <p:txBody>
          <a:bodyPr/>
          <a:lstStyle/>
          <a:p/>
        </p:txBody>
      </p:sp>
      <p:sp>
        <p:nvSpPr>
          <p:cNvPr id="25" name="TextBox"/>
          <p:cNvSpPr txBox="1"/>
          <p:nvPr/>
        </p:nvSpPr>
        <p:spPr>
          <a:xfrm>
            <a:off x="7200000" y="4317400"/>
            <a:ext cx="4158775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F3C00"/>
                </a:solidFill>
                <a:latin typeface="Arial"/>
              </a:rPr>
              <a:t xml:space="preserve">→ </a:t>
            </a:r>
            <a:r>
              <a:rPr sz="1250" b="1" i="0">
                <a:solidFill>
                  <a:srgbClr val="FF3C00"/>
                </a:solidFill>
                <a:latin typeface="Courier New"/>
              </a:rPr>
              <a:t xml:space="preserve">thoughts/shared/prototypes/</a:t>
            </a:r>
          </a:p>
        </p:txBody>
      </p:sp>
      <p:sp>
        <p:nvSpPr>
          <p:cNvPr id="26" name="TextBox"/>
          <p:cNvSpPr txBox="1"/>
          <p:nvPr/>
        </p:nvSpPr>
        <p:spPr>
          <a:xfrm>
            <a:off x="7200000" y="4757400"/>
            <a:ext cx="4158775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C8C8C8"/>
                </a:solidFill>
                <a:latin typeface="Arial"/>
              </a:rPr>
              <a:t xml:space="preserve">Learnings-Notiz — immer, unabhängig vom Ergebnis.</a:t>
            </a:r>
          </a:p>
        </p:txBody>
      </p:sp>
      <p:sp>
        <p:nvSpPr>
          <p:cNvPr id="27" name="Banner"/>
          <p:cNvSpPr/>
          <p:nvPr/>
        </p:nvSpPr>
        <p:spPr>
          <a:xfrm>
            <a:off x="502920" y="5650992"/>
            <a:ext cx="11183112" cy="566928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"/>
          <p:cNvSpPr txBox="1"/>
          <p:nvPr/>
        </p:nvSpPr>
        <p:spPr>
          <a:xfrm>
            <a:off x="502920" y="5650992"/>
            <a:ext cx="11183112" cy="566928"/>
          </a:xfrm>
          <a:prstGeom prst="rect">
            <a:avLst/>
          </a:prstGeom>
          <a:noFill/>
        </p:spPr>
        <p:txBody>
          <a:bodyPr wrap="square" lIns="228600" rIns="0" tIns="0" bIns="0" anchor="ctr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 xml:space="preserve">Kein Ersatz für den Prozess, sondern ein bewusstes Ventil davor — die Erkenntnis fließt zurück in Mission, Feature oder Fakten.</a:t>
            </a:r>
          </a:p>
        </p:txBody>
      </p:sp>
      <p:sp>
        <p:nvSpPr>
          <p:cNvPr id="29" name="TextBox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 xml:space="preserve">14</a:t>
            </a:r>
          </a:p>
        </p:txBody>
      </p:sp>
      <p:pic>
        <p:nvPicPr>
          <p:cNvPr id="30" name="Picture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 xml:space="preserve">WARUM SO VIELE DOKUMENTE</a:t>
            </a:r>
          </a:p>
        </p:txBody>
      </p:sp>
      <p:sp>
        <p:nvSpPr>
          <p:cNvPr id="3" name="TextBox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 xml:space="preserve">Damit die KI das Projekt versteht</a:t>
            </a:r>
          </a:p>
        </p:txBody>
      </p:sp>
      <p:sp>
        <p:nvSpPr>
          <p:cNvPr id="4" name="Rule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"/>
          <p:cNvSpPr txBox="1"/>
          <p:nvPr/>
        </p:nvSpPr>
        <p:spPr>
          <a:xfrm>
            <a:off x="502920" y="1481328"/>
            <a:ext cx="10600000" cy="5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5C5C5C"/>
                </a:solidFill>
                <a:latin typeface="Arial"/>
              </a:rPr>
              <a:t xml:space="preserve">Jedes Artefakt ist Kontext. Keine Entscheidung entsteht in Isolation — sie stützt sich auf die Absicht des Projekts und auf alle bisher getroffenen Entscheidungen.</a:t>
            </a:r>
          </a:p>
        </p:txBody>
      </p:sp>
      <p:sp>
        <p:nvSpPr>
          <p:cNvPr id="6" name="Num"/>
          <p:cNvSpPr/>
          <p:nvPr/>
        </p:nvSpPr>
        <p:spPr>
          <a:xfrm>
            <a:off x="502920" y="2450000"/>
            <a:ext cx="380000" cy="38000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"/>
          <p:cNvSpPr txBox="1"/>
          <p:nvPr/>
        </p:nvSpPr>
        <p:spPr>
          <a:xfrm>
            <a:off x="502920" y="2450000"/>
            <a:ext cx="380000" cy="38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 xml:space="preserve">1</a:t>
            </a:r>
          </a:p>
        </p:txBody>
      </p:sp>
      <p:sp>
        <p:nvSpPr>
          <p:cNvPr id="8" name="TextBox"/>
          <p:cNvSpPr txBox="1"/>
          <p:nvPr/>
        </p:nvSpPr>
        <p:spPr>
          <a:xfrm>
            <a:off x="1022920" y="2430000"/>
            <a:ext cx="5250000" cy="8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141414"/>
                </a:solidFill>
                <a:latin typeface="Arial"/>
              </a:rPr>
              <a:t xml:space="preserve">Das Modell hat kein Gedächtnis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5C5C5C"/>
                </a:solidFill>
                <a:latin typeface="Arial"/>
              </a:rPr>
              <a:t xml:space="preserve">Zwischen den Schritten vergisst die KI alles Vorherige. Die Artefakte sind ihr persistenter, gemeinsamer Kontext.</a:t>
            </a:r>
          </a:p>
        </p:txBody>
      </p:sp>
      <p:sp>
        <p:nvSpPr>
          <p:cNvPr id="9" name="Num"/>
          <p:cNvSpPr/>
          <p:nvPr/>
        </p:nvSpPr>
        <p:spPr>
          <a:xfrm>
            <a:off x="502920" y="3400000"/>
            <a:ext cx="380000" cy="38000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"/>
          <p:cNvSpPr txBox="1"/>
          <p:nvPr/>
        </p:nvSpPr>
        <p:spPr>
          <a:xfrm>
            <a:off x="502920" y="3400000"/>
            <a:ext cx="380000" cy="38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 xml:space="preserve">2</a:t>
            </a:r>
          </a:p>
        </p:txBody>
      </p:sp>
      <p:sp>
        <p:nvSpPr>
          <p:cNvPr id="11" name="TextBox"/>
          <p:cNvSpPr txBox="1"/>
          <p:nvPr/>
        </p:nvSpPr>
        <p:spPr>
          <a:xfrm>
            <a:off x="1022920" y="3380000"/>
            <a:ext cx="5250000" cy="8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141414"/>
                </a:solidFill>
                <a:latin typeface="Arial"/>
              </a:rPr>
              <a:t xml:space="preserve">Keine Entscheidung in Isolation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5C5C5C"/>
                </a:solidFill>
                <a:latin typeface="Arial"/>
              </a:rPr>
              <a:t xml:space="preserve">Jede neue Entscheidung setzt die Absicht des Projekts und alle bisher getroffenen Entscheidungen voraus.</a:t>
            </a:r>
          </a:p>
        </p:txBody>
      </p:sp>
      <p:sp>
        <p:nvSpPr>
          <p:cNvPr id="12" name="Num"/>
          <p:cNvSpPr/>
          <p:nvPr/>
        </p:nvSpPr>
        <p:spPr>
          <a:xfrm>
            <a:off x="502920" y="4350000"/>
            <a:ext cx="380000" cy="38000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"/>
          <p:cNvSpPr txBox="1"/>
          <p:nvPr/>
        </p:nvSpPr>
        <p:spPr>
          <a:xfrm>
            <a:off x="502920" y="4350000"/>
            <a:ext cx="380000" cy="38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 xml:space="preserve">3</a:t>
            </a:r>
          </a:p>
        </p:txBody>
      </p:sp>
      <p:sp>
        <p:nvSpPr>
          <p:cNvPr id="14" name="TextBox"/>
          <p:cNvSpPr txBox="1"/>
          <p:nvPr/>
        </p:nvSpPr>
        <p:spPr>
          <a:xfrm>
            <a:off x="1022920" y="4330000"/>
            <a:ext cx="5250000" cy="8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141414"/>
                </a:solidFill>
                <a:latin typeface="Arial"/>
              </a:rPr>
              <a:t xml:space="preserve">Kontext führt zur richtigen Wahl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5C5C5C"/>
                </a:solidFill>
                <a:latin typeface="Arial"/>
              </a:rPr>
              <a:t xml:space="preserve">Erst das Verständnis von Ziel und Historie macht aus einer beliebigen eine fundierte Entscheidung.</a:t>
            </a:r>
          </a:p>
        </p:txBody>
      </p:sp>
      <p:sp>
        <p:nvSpPr>
          <p:cNvPr id="15" name="TextBox"/>
          <p:cNvSpPr txBox="1"/>
          <p:nvPr/>
        </p:nvSpPr>
        <p:spPr>
          <a:xfrm>
            <a:off x="6600000" y="2057400"/>
            <a:ext cx="5088775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 spc="120">
                <a:solidFill>
                  <a:srgbClr val="8A8A8A"/>
                </a:solidFill>
                <a:latin typeface="Arial"/>
              </a:rPr>
              <a:t xml:space="preserve">SO ENTSTEHT EINE GUTE ENTSCHEIDUNG</a:t>
            </a:r>
          </a:p>
        </p:txBody>
      </p:sp>
      <p:sp>
        <p:nvSpPr>
          <p:cNvPr id="16" name="FBox"/>
          <p:cNvSpPr/>
          <p:nvPr/>
        </p:nvSpPr>
        <p:spPr>
          <a:xfrm>
            <a:off x="6600000" y="2470000"/>
            <a:ext cx="5088775" cy="64000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"/>
          <p:cNvSpPr txBox="1"/>
          <p:nvPr/>
        </p:nvSpPr>
        <p:spPr>
          <a:xfrm>
            <a:off x="6600000" y="2470000"/>
            <a:ext cx="5088775" cy="64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 i="0" spc="80">
                <a:solidFill>
                  <a:srgbClr val="141414"/>
                </a:solidFill>
                <a:latin typeface="Arial"/>
              </a:rPr>
              <a:t xml:space="preserve">ABSICHT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5C5C5C"/>
                </a:solidFill>
                <a:latin typeface="Arial"/>
              </a:rPr>
              <a:t xml:space="preserve">Das Warum des Projekts</a:t>
            </a:r>
          </a:p>
        </p:txBody>
      </p:sp>
      <p:sp>
        <p:nvSpPr>
          <p:cNvPr id="18" name="TextBox"/>
          <p:cNvSpPr txBox="1"/>
          <p:nvPr/>
        </p:nvSpPr>
        <p:spPr>
          <a:xfrm>
            <a:off x="6600000" y="3170000"/>
            <a:ext cx="5088775" cy="30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3C00"/>
                </a:solidFill>
                <a:latin typeface="Arial"/>
              </a:rPr>
              <a:t xml:space="preserve">+</a:t>
            </a:r>
          </a:p>
        </p:txBody>
      </p:sp>
      <p:sp>
        <p:nvSpPr>
          <p:cNvPr id="19" name="FBox"/>
          <p:cNvSpPr/>
          <p:nvPr/>
        </p:nvSpPr>
        <p:spPr>
          <a:xfrm>
            <a:off x="6600000" y="3490000"/>
            <a:ext cx="5088775" cy="64000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"/>
          <p:cNvSpPr txBox="1"/>
          <p:nvPr/>
        </p:nvSpPr>
        <p:spPr>
          <a:xfrm>
            <a:off x="6600000" y="3490000"/>
            <a:ext cx="5088775" cy="64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 i="0" spc="80">
                <a:solidFill>
                  <a:srgbClr val="141414"/>
                </a:solidFill>
                <a:latin typeface="Arial"/>
              </a:rPr>
              <a:t xml:space="preserve">BISHERIGE ENTSCHEIDUNGEN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5C5C5C"/>
                </a:solidFill>
                <a:latin typeface="Arial"/>
              </a:rPr>
              <a:t xml:space="preserve">Die gesamte Artefakt-Kette</a:t>
            </a:r>
          </a:p>
        </p:txBody>
      </p:sp>
      <p:sp>
        <p:nvSpPr>
          <p:cNvPr id="21" name="TextBox"/>
          <p:cNvSpPr txBox="1"/>
          <p:nvPr/>
        </p:nvSpPr>
        <p:spPr>
          <a:xfrm>
            <a:off x="6600000" y="4190000"/>
            <a:ext cx="5088775" cy="30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3C00"/>
                </a:solidFill>
                <a:latin typeface="Arial"/>
              </a:rPr>
              <a:t xml:space="preserve">=</a:t>
            </a:r>
          </a:p>
        </p:txBody>
      </p:sp>
      <p:sp>
        <p:nvSpPr>
          <p:cNvPr id="22" name="FBox"/>
          <p:cNvSpPr/>
          <p:nvPr/>
        </p:nvSpPr>
        <p:spPr>
          <a:xfrm>
            <a:off x="6600000" y="4510000"/>
            <a:ext cx="5088775" cy="64000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"/>
          <p:cNvSpPr txBox="1"/>
          <p:nvPr/>
        </p:nvSpPr>
        <p:spPr>
          <a:xfrm>
            <a:off x="6600000" y="4510000"/>
            <a:ext cx="5088775" cy="64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 i="0" spc="80">
                <a:solidFill>
                  <a:srgbClr val="FFFFFF"/>
                </a:solidFill>
                <a:latin typeface="Arial"/>
              </a:rPr>
              <a:t xml:space="preserve">DIE RICHTIGE ENTSCHEIDUNG</a:t>
            </a:r>
          </a:p>
        </p:txBody>
      </p:sp>
      <p:sp>
        <p:nvSpPr>
          <p:cNvPr id="24" name="Banner"/>
          <p:cNvSpPr/>
          <p:nvPr/>
        </p:nvSpPr>
        <p:spPr>
          <a:xfrm>
            <a:off x="502920" y="5650992"/>
            <a:ext cx="11183112" cy="56692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"/>
          <p:cNvSpPr txBox="1"/>
          <p:nvPr/>
        </p:nvSpPr>
        <p:spPr>
          <a:xfrm>
            <a:off x="502920" y="5650992"/>
            <a:ext cx="11183112" cy="566928"/>
          </a:xfrm>
          <a:prstGeom prst="rect">
            <a:avLst/>
          </a:prstGeom>
          <a:noFill/>
        </p:spPr>
        <p:txBody>
          <a:bodyPr wrap="square" lIns="228600" rIns="0" tIns="0" bIns="0" anchor="ctr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 xml:space="preserve">Die Dokumente sind kein Overhead — sie sind das geteilte Gedächtnis, das jede Entscheidung trägt.</a:t>
            </a:r>
          </a:p>
        </p:txBody>
      </p:sp>
      <p:sp>
        <p:nvSpPr>
          <p:cNvPr id="26" name="TextBox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 xml:space="preserve">6</a:t>
            </a:r>
          </a:p>
        </p:txBody>
      </p:sp>
      <p:pic>
        <p:nvPicPr>
          <p:cNvPr id="27" name="Picture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