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4" r:id="rId25"/>
    <p:sldId id="258" r:id="rId9"/>
    <p:sldId id="259" r:id="rId10"/>
    <p:sldId id="277" r:id="rId28"/>
    <p:sldId id="276" r:id="rId27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8" r:id="rId29"/>
    <p:sldId id="279" r:id="rId30"/>
    <p:sldId id="275" r:id="rId26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3.xml"/><Relationship Id="rId26" Type="http://schemas.openxmlformats.org/officeDocument/2006/relationships/slide" Target="slides/slide17.xml"/><Relationship Id="rId27" Type="http://schemas.openxmlformats.org/officeDocument/2006/relationships/slide" Target="slides/slide7.xml"/><Relationship Id="rId28" Type="http://schemas.openxmlformats.org/officeDocument/2006/relationships/slide" Target="slides/slide6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vier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2443950"/>
            <a:ext cx="1874519" cy="1970098"/>
          </a:xfrm>
          <a:prstGeom prst="rect">
            <a:avLst/>
          </a:prstGeom>
        </p:spPr>
      </p:pic>
      <p:pic>
        <p:nvPicPr>
          <p:cNvPr id="4" name="Picture 3" descr="vi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411480"/>
            <a:ext cx="868680" cy="332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1417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F3C00"/>
                </a:solidFill>
                <a:latin typeface="Arial"/>
              </a:rPr>
              <a:t>AGENTISCHES ENGINEERING-FRAMEWORK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141414"/>
                </a:solidFill>
                <a:latin typeface="Arial"/>
              </a:rPr>
              <a:t>ORBIT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90779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5C5C5C"/>
                </a:solidFill>
                <a:latin typeface="Arial"/>
              </a:rPr>
              <a:t>Das Agentische Software-Engineering-Framework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3101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A8A8A"/>
                </a:solidFill>
                <a:latin typeface="Arial"/>
              </a:rPr>
              <a:t>Die Agentische Montagelinie — V4.1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822191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4160520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41148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Analyse &amp; Architekturplanung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Mission, Feature &amp; Change · Spezifikation · Epic-Zerlegung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4873752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482803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Recherche &amp; automatisierte Ausführung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Verifizierte Fakten, Planung, Implementierung &amp; QA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0" y="5586984"/>
            <a:ext cx="365760" cy="365760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554126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Lückenlose Artefakt-Kette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Arial"/>
              </a:rPr>
              <a:t>Von der Vision bis zum Git-Commit nachverfolgbar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Zwei Stationen — eine durchgängige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>ORBIT führt jedes Projekt von der rohen Vision bis zum ausgelieferten Quellcode — durch strukturierte, nachverfolgbare KI-Pipelines.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3977639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04872"/>
            <a:ext cx="48234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200">
                <a:solidFill>
                  <a:srgbClr val="FF3C00"/>
                </a:solidFill>
                <a:latin typeface="Arial"/>
              </a:rPr>
              <a:t>STATION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51760"/>
            <a:ext cx="4823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Arial"/>
              </a:rPr>
              <a:t>Analyse &amp; Architekturplanung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227832"/>
            <a:ext cx="4823460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429000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Mission-, Feature- &amp; Change-Definition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Legt Wert, Umfang und Zielzustand fest — ohne spezifische Technologien zu nennen.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334256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Technische Spezifikation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Übersetzt die Vision in Architektur, Datenflüsse und ER-Diagramme.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5239512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Epic-Zerlegung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Zerlegt Specs in nutzerorientierte „Epics“ — nur auf dem Greenfield-Pfad.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7356" y="2148840"/>
            <a:ext cx="5408676" cy="3977639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7356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9964" y="2404872"/>
            <a:ext cx="48234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200">
                <a:solidFill>
                  <a:srgbClr val="FF3C00"/>
                </a:solidFill>
                <a:latin typeface="Arial"/>
              </a:rPr>
              <a:t>STATION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9964" y="2651760"/>
            <a:ext cx="48234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Arial"/>
              </a:rPr>
              <a:t>Recherche &amp; automatisierte Ausführung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9964" y="3227832"/>
            <a:ext cx="4823460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9964" y="3429000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Faktenbasierte Recherche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Subagenten kartografieren die Codebasis und verifizieren jeden Anspruch.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9964" y="4334256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Blaupausen-gesteuerte Planung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Wandelt Recherche in Aufgaben um, die Code mit Zeilennummern zitieren.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9964" y="5239512"/>
            <a:ext cx="48234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Wellenweise Implementierung &amp; QA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Orchestrator führt dateidisjunkte Wellen parallel aus, prüft und committet. Kleinste Änderungen nehmen die Abkürzung über /just-do-it.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  <p:pic>
        <p:nvPicPr>
          <p:cNvPr id="23" name="Picture 2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DER KERN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Ziel — Ist — Plan: der Kern jeder Änderung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Jede Code-Änderung folgt demselben Muster — erst drei Schritte, dann die Umsetzung. Nur die Tiefe variiert: ob Greenfield, Brownfield oder kleiner Bugfix.</a:t>
            </a:r>
          </a:p>
        </p:txBody>
      </p:sp>
      <p:sp>
        <p:nvSpPr>
          <p:cNvPr id="6" name="ZoneLabel"/>
          <p:cNvSpPr/>
          <p:nvPr/>
        </p:nvSpPr>
        <p:spPr>
          <a:xfrm>
            <a:off x="502920" y="2057400"/>
            <a:ext cx="205740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0574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 xml:space="preserve">DAS UNIVERSELLE MUSTER</a:t>
            </a:r>
          </a:p>
        </p:txBody>
      </p:sp>
      <p:sp>
        <p:nvSpPr>
          <p:cNvPr id="8" name="NumBadge"/>
          <p:cNvSpPr/>
          <p:nvPr/>
        </p:nvSpPr>
        <p:spPr>
          <a:xfrm>
            <a:off x="502920" y="25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02920" y="25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22920" y="24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ZIEL — Spec, Feature- oder Change-Brief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Was will ich erreichen? Seit V4.1 Pflicht: ohne festgehaltenen Zielzustand schreibt /planner keinen Plan.</a:t>
            </a:r>
          </a:p>
        </p:txBody>
      </p:sp>
      <p:sp>
        <p:nvSpPr>
          <p:cNvPr id="11" name="NumBadge"/>
          <p:cNvSpPr/>
          <p:nvPr/>
        </p:nvSpPr>
        <p:spPr>
          <a:xfrm>
            <a:off x="502920" y="33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502920" y="33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2920" y="32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IST — fact-finder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Woher starten wir? Die Codebasis samt Doku plus externes Wissen (Best Practices, Libraries, Standards, Services) — verifiziert festgehalten.</a:t>
            </a:r>
          </a:p>
        </p:txBody>
      </p:sp>
      <p:sp>
        <p:nvSpPr>
          <p:cNvPr id="14" name="NumBadge"/>
          <p:cNvSpPr/>
          <p:nvPr/>
        </p:nvSpPr>
        <p:spPr>
          <a:xfrm>
            <a:off x="502920" y="41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2920" y="41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22920" y="4080000"/>
            <a:ext cx="4230000" cy="7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PLAN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Weg vom Ist zum Ziel.</a:t>
            </a:r>
          </a:p>
        </p:txBody>
      </p:sp>
      <p:sp>
        <p:nvSpPr>
          <p:cNvPr id="17" name="UmsetzChip"/>
          <p:cNvSpPr/>
          <p:nvPr/>
        </p:nvSpPr>
        <p:spPr>
          <a:xfrm>
            <a:off x="502920" y="4960000"/>
            <a:ext cx="4750000" cy="47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02920" y="4960000"/>
            <a:ext cx="4750000" cy="470000"/>
          </a:xfrm>
          <a:prstGeom prst="rect">
            <a:avLst/>
          </a:prstGeom>
          <a:noFill/>
        </p:spPr>
        <p:txBody>
          <a:bodyPr wrap="square" lIns="22860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→ UMSETZUNG</a:t>
            </a:r>
            <a:r>
              <a:rPr sz="1150" b="0" i="0">
                <a:solidFill>
                  <a:srgbClr val="FFFFFF"/>
                </a:solidFill>
                <a:latin typeface="Arial"/>
              </a:rPr>
              <a:t xml:space="preserve">   erst jetzt entsteht Code.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02920" y="5580000"/>
            <a:ext cx="475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Arial"/>
              </a:rPr>
              <a:t xml:space="preserve">Das Ziel ist immer Pflicht. Nur Ist und Plan schrumpfen auf dem direkten Pfad — /just-do-it braucht beide nicht als Artefakt.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6850000" y="2057400"/>
            <a:ext cx="39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ALLES ANDERE UMKREIST DEN KERN</a:t>
            </a:r>
          </a:p>
        </p:txBody>
      </p:sp>
      <p:sp>
        <p:nvSpPr>
          <p:cNvPr id="21" name="OrbitRing"/>
          <p:cNvSpPr/>
          <p:nvPr/>
        </p:nvSpPr>
        <p:spPr>
          <a:xfrm>
            <a:off x="6850000" y="2350000"/>
            <a:ext cx="3900000" cy="3900000"/>
          </a:xfrm>
          <a:prstGeom prst="ellipse">
            <a:avLst/>
          </a:prstGeom>
          <a:noFill/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Line"/>
          <p:cNvSpPr/>
          <p:nvPr/>
        </p:nvSpPr>
        <p:spPr>
          <a:xfrm>
            <a:off x="7421136" y="2921136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3" name="Line"/>
          <p:cNvSpPr/>
          <p:nvPr/>
        </p:nvSpPr>
        <p:spPr>
          <a:xfrm flipV="1">
            <a:off x="8800000" y="2921136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4" name="Line"/>
          <p:cNvSpPr/>
          <p:nvPr/>
        </p:nvSpPr>
        <p:spPr>
          <a:xfrm flipH="1">
            <a:off x="7421136" y="4300000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5" name="Line"/>
          <p:cNvSpPr/>
          <p:nvPr/>
        </p:nvSpPr>
        <p:spPr>
          <a:xfrm>
            <a:off x="8800000" y="4300000"/>
            <a:ext cx="1378864" cy="1378864"/>
          </a:xfrm>
          <a:prstGeom prst="line">
            <a:avLst/>
          </a:prstGeom>
          <a:ln w="9525">
            <a:solidFill>
              <a:srgbClr val="E8E8E8"/>
            </a:solidFill>
          </a:ln>
          <a:effectLst/>
        </p:spPr>
        <p:txBody>
          <a:bodyPr/>
          <a:lstStyle/>
          <a:p/>
        </p:txBody>
      </p:sp>
      <p:sp>
        <p:nvSpPr>
          <p:cNvPr id="26" name="Core"/>
          <p:cNvSpPr/>
          <p:nvPr/>
        </p:nvSpPr>
        <p:spPr>
          <a:xfrm>
            <a:off x="8075000" y="3575000"/>
            <a:ext cx="1450000" cy="145000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"/>
          <p:cNvSpPr txBox="1"/>
          <p:nvPr/>
        </p:nvSpPr>
        <p:spPr>
          <a:xfrm>
            <a:off x="8075000" y="3575000"/>
            <a:ext cx="1450000" cy="145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 spc="120">
                <a:solidFill>
                  <a:srgbClr val="FF3C00"/>
                </a:solidFill>
                <a:latin typeface="Arial"/>
              </a:rPr>
              <a:t xml:space="preserve">KERN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 xml:space="preserve">Ziel · Ist · Plan</a:t>
            </a:r>
          </a:p>
        </p:txBody>
      </p:sp>
      <p:sp>
        <p:nvSpPr>
          <p:cNvPr id="28" name="Pill_NW"/>
          <p:cNvSpPr/>
          <p:nvPr/>
        </p:nvSpPr>
        <p:spPr>
          <a:xfrm>
            <a:off x="6471136" y="2661136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"/>
          <p:cNvSpPr txBox="1"/>
          <p:nvPr/>
        </p:nvSpPr>
        <p:spPr>
          <a:xfrm>
            <a:off x="6471136" y="2661136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Green-, Brownfield- &amp; Change-Architekten</a:t>
            </a:r>
          </a:p>
        </p:txBody>
      </p:sp>
      <p:sp>
        <p:nvSpPr>
          <p:cNvPr id="30" name="Pill_NE"/>
          <p:cNvSpPr/>
          <p:nvPr/>
        </p:nvSpPr>
        <p:spPr>
          <a:xfrm>
            <a:off x="9228864" y="2661136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"/>
          <p:cNvSpPr txBox="1"/>
          <p:nvPr/>
        </p:nvSpPr>
        <p:spPr>
          <a:xfrm>
            <a:off x="9228864" y="2661136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DOX-Governance</a:t>
            </a:r>
          </a:p>
        </p:txBody>
      </p:sp>
      <p:sp>
        <p:nvSpPr>
          <p:cNvPr id="32" name="Pill_SW"/>
          <p:cNvSpPr/>
          <p:nvPr/>
        </p:nvSpPr>
        <p:spPr>
          <a:xfrm>
            <a:off x="6471136" y="5418864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"/>
          <p:cNvSpPr txBox="1"/>
          <p:nvPr/>
        </p:nvSpPr>
        <p:spPr>
          <a:xfrm>
            <a:off x="6471136" y="5418864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Sub-Agenten-Flotte</a:t>
            </a:r>
          </a:p>
        </p:txBody>
      </p:sp>
      <p:sp>
        <p:nvSpPr>
          <p:cNvPr id="34" name="Pill_SE"/>
          <p:cNvSpPr/>
          <p:nvPr/>
        </p:nvSpPr>
        <p:spPr>
          <a:xfrm>
            <a:off x="9228864" y="5418864"/>
            <a:ext cx="1900000" cy="52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"/>
          <p:cNvSpPr txBox="1"/>
          <p:nvPr/>
        </p:nvSpPr>
        <p:spPr>
          <a:xfrm>
            <a:off x="9228864" y="5418864"/>
            <a:ext cx="190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41414"/>
                </a:solidFill>
                <a:latin typeface="Arial"/>
              </a:rPr>
              <a:t xml:space="preserve">QA-Workflow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3</a:t>
            </a:r>
          </a:p>
        </p:txBody>
      </p:sp>
      <p:pic>
        <p:nvPicPr>
          <p:cNvPr id="3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PRINZIP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Engineering braucht Ordnung, kein Chaos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>Unstrukturiertes „Vibe Coding" im Kontrast zum disziplinierten, stufengesteuerten ORBIT-Framework.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5408676" cy="333756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13432"/>
            <a:ext cx="233172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>VIBE CODING — DAS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Halluzinationen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Direkt zur Implementierung zu springen erzeugt falsche oder erfundene KI-Logik.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Scope Creep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Fehlende Grenzen lassen Projekte unkontrolliert wachsen.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53128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Kontextverlust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Unverbundene Prompts verlieren ursprüngliche Anforderungen aus dem Blick.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057400"/>
            <a:ext cx="5408676" cy="333756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05740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1676" y="2313432"/>
            <a:ext cx="2377440" cy="2743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>ORBIT — DIE ORDNUNG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1676" y="2752344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ZIEL ·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5" y="2734056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Warum und Was definieren — technologieneutral, ohne Techniknamen.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1676" y="3401568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5" y="3383279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Codebasis und externes Wissen erheben — via fact-finder verifiziert.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1676" y="4050791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5" y="4032504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Weg vom Ist zum Ziel — jede Aufgabe belegt.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1676" y="4700016"/>
            <a:ext cx="1691640" cy="2560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73152" rIns="0" tIns="0" bIns="0"/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FFFFFF"/>
                </a:solidFill>
                <a:latin typeface="Arial"/>
              </a:rPr>
              <a:t>AUSFÜHRUNG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0475" y="4681728"/>
            <a:ext cx="29855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Den verifizierten Plan implementieren.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Die Goldene Regel: Kein Agent überspringt einen Schritt. Jede Phase setzt das Artefakt der vorherigen voraus.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  <p:pic>
        <p:nvPicPr>
          <p:cNvPr id="24" name="Picture 23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DAS HERZSTÜCK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Artefakt-Kette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1">
                <a:solidFill>
                  <a:srgbClr val="FF3C00"/>
                </a:solidFill>
                <a:latin typeface="Arial"/>
              </a:rPr>
              <a:t>ORBIT ist keine Sammlung von Befehlen — ORBIT ist eine Kette von Dokumenten.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Jeder Skill ist eine Transformation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Jeder Skill liest das Artefakt der vorherigen Phase und erzeugt das Artefakt für die nächste. Die Informationsdichte steigt mit jedem Schritt.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82112"/>
            <a:ext cx="5408676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64592" rIns="16459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Alle Artefakte leben in </a:t>
            </a:r>
            <a:r>
              <a:rPr sz="1050" b="1" i="0">
                <a:solidFill>
                  <a:srgbClr val="FF3C00"/>
                </a:solidFill>
                <a:latin typeface="Courier New"/>
              </a:rPr>
              <a:t>thoughts/shared/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>Jedes Artefakt nennt seinen Vorgänger im Frontmatter — ein lückenloses Audit-Log. Daneben liegen features/, changes/, prototypes/ und qa/.</a:t>
            </a:r>
          </a:p>
          <a:p>
            <a:pPr algn="l"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277356" y="1993392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Die Ausnahmeregel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2304288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Die Skills </a:t>
            </a:r>
            <a:r>
              <a:rPr sz="1100" b="1" i="0">
                <a:solidFill>
                  <a:srgbClr val="FF3C00"/>
                </a:solidFill>
                <a:latin typeface="Courier New"/>
              </a:rPr>
              <a:t>/mission-architect</a:t>
            </a:r>
            <a:r>
              <a:rPr sz="1100" b="0" i="0">
                <a:solidFill>
                  <a:srgbClr val="5C5C5C"/>
                </a:solidFill>
                <a:latin typeface="Arial"/>
              </a:rPr>
              <a:t>, </a:t>
            </a:r>
            <a:r>
              <a:rPr sz="1100" b="1" i="0">
                <a:solidFill>
                  <a:srgbClr val="FF3C00"/>
                </a:solidFill>
                <a:latin typeface="Courier New"/>
              </a:rPr>
              <a:t>/feature-architect und /change-architect</a:t>
            </a:r>
            <a:r>
              <a:rPr sz="1100" b="0" i="0">
                <a:solidFill>
                  <a:srgbClr val="5C5C5C"/>
                </a:solidFill>
                <a:latin typeface="Arial"/>
              </a:rPr>
              <a:t> lesen kein Artefakt — sie starten die Kette aus einem Gespräch.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182112"/>
            <a:ext cx="5408676" cy="8686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164592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141414"/>
                </a:solidFill>
                <a:latin typeface="Arial"/>
              </a:rPr>
              <a:t>Alle anderen Skills folgen der Regel: ein Eingabe-Artefakt rein, ein Ausgabe-Artefakt raus. Das Ende der Kette ist </a:t>
            </a:r>
            <a:r>
              <a:rPr sz="1000" b="1" i="0">
                <a:solidFill>
                  <a:srgbClr val="FF3C00"/>
                </a:solidFill>
                <a:latin typeface="Arial"/>
              </a:rPr>
              <a:t>ausführbarer Code</a:t>
            </a:r>
            <a:r>
              <a:rPr sz="1000" b="0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70832"/>
            <a:ext cx="11183112" cy="1755648"/>
          </a:xfrm>
          <a:prstGeom prst="rect">
            <a:avLst/>
          </a:prstGeom>
          <a:solidFill>
            <a:srgbClr val="F2F1EF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3542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200">
                <a:solidFill>
                  <a:srgbClr val="8A8A8A"/>
                </a:solidFill>
                <a:latin typeface="Arial"/>
              </a:rPr>
              <a:t>DIE VOLLSTÄNDIGE ARTEFAKT-KETTE  (GREENFIELD)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missions/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Warum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specs/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Was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epics/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Die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facts/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Das 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4937760"/>
            <a:ext cx="1481328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plans/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Der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4937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5832" y="4937760"/>
            <a:ext cx="1481328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urier New"/>
              </a:rPr>
              <a:t>Source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544068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Git-Commits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C5C5C"/>
                </a:solidFill>
                <a:latin typeface="Arial"/>
              </a:rPr>
              <a:t>Brownfield startet bei features/, kleine Änderungen bei changes/ — beide gehen direkt nach facts/. Der direkte Pfad überspringt facts/ und plans/ ganz.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5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NACHVERFOLGBARKEIT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Die Kette ist maschinenlesbar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Seit V4 trägt jedes Artefakt YAML-Frontmatter, das seinen Vorgänger benennt; V4.1 schließt die Kette für Change Briefs und Change Records. Die Pipeline ist damit in beide Richtungen traversierbar — nicht per Konvention, sondern per Feld.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Rückwärtszeiger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mission-source:, spec-source:, fact-source:, plan:, change-brief: oder das generische upstream-artifact: — immer ein repo-relativer Pfad oder das Literal none.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status: beschreibt das Dokument, nicht die Arbeit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complete, superseded, ready-for-research. Ob ein Plan ausgeführt wurde, steht in seiner STATE-Datei; der Change Record verfolgt seinen Ausführungsversuch selbst.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Der schreibende Skill signiert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change-architect:, fact-finder:, feature-architect:, just-do-it:, planner: — wer ein Artefakt erzeugt hat, steht im Artefakt selbst.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WER ZEIGT AUF WEN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mission  →  spec  →  epic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mission-source:   ·   spec-source: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fact report  /  QA report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upstream-artifact:  —  Epic, Feature-Brief oder Change Brief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plan  →  STATE   —   fact-source:  ·  plan: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/planner kopiert upstream-artifact: wörtlich — und /implement liest genau diese Kopie, um den Verification Plan des Epics zu finden.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6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WARUM SO VIELE DOKUMENTE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Damit die KI das Projekt versteht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Jedes Artefakt ist Kontext. Keine Entscheidung entsteht in Isolation — sie stützt sich auf die Absicht des Projekts und auf alle bisher getroffenen Entscheidungen.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Das Modell hat kein Gedächtnis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Zwischen den Schritten vergisst die KI alles Vorherige. Die Artefakte sind ihr persistenter, gemeinsamer Kontext.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Keine Entscheidung in Isolation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Jede neue Entscheidung setzt die Absicht des Projekts und alle bisher getroffenen Entscheidungen voraus.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Kontext führt zur richtigen Wahl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Erst das Verständnis von Ziel und Historie macht aus einer beliebigen eine fundierte Entscheidung.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SO ENTSTEHT EINE GUTE ENTSCHEIDUNG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ABSICHT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Das Warum des Projekts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+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BISHERIGE ENTSCHEIDUNGEN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Die gesamte Artefakt-Kette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=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DIE RICHTIGE ENTSCHEIDUNG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Die Dokumente sind kein Overhead — sie sind das geteilte Gedächtnis, das jede Entscheidung trägt.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7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Den richtigen Startpunkt wählen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82880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1912" y="182880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Neues Projekt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Komplett neue Codebasis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82880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182880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/mission-architect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1" y="182880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Greenfield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0604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260604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Neues Feature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Erweiterung eines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60604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260604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/feature-architect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260604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1" y="260604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Brownfield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33832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1912" y="338328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Kleine Änderung / Bug / Wartung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Lokalisierte Anpassung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3832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338328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/change-architect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11183112" cy="960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Drei Regeln: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Brownfield überspringt /epic-planner — Epic-Zerlegung schneidet eine ganze Spezifikation in mehrere parallele Ströme, und ein Feature ist ein Strom. Braucht ein Feature diese Zerlegung doch, ist es kein Feature, sondern ein Subsystem: eigene Wertaussage UND mehrere Ströme — dann geht es über /mission-architect. Und der Change-Pfad hat zwei Ausgänge; welchen, entscheidet das Feld route: im Brief.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  <p:pic>
        <p:nvPicPr>
          <p:cNvPr id="26" name="Picture 25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7" name="Row3Add"/>
          <p:cNvSpPr txBox="1"/>
          <p:nvPr/>
        </p:nvSpPr>
        <p:spPr>
          <a:xfrm>
            <a:off x="7699247" y="33832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ow3Add"/>
          <p:cNvSpPr/>
          <p:nvPr/>
        </p:nvSpPr>
        <p:spPr>
          <a:xfrm>
            <a:off x="8119871" y="338328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Zwei Ausgänge — Folie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8A8A"/>
                </a:solidFill>
                <a:latin typeface="Arial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16052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1912" y="4160520"/>
            <a:ext cx="2880360" cy="6400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Code-Qualität prüfen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8A8A"/>
                </a:solidFill>
                <a:latin typeface="Arial"/>
              </a:rPr>
              <a:t>Review parallel zur Arbeit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6052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416052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txBody>
          <a:bodyPr rtlCol="0" anchor="ctr" wrap="square" lIns="164592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Courier New"/>
              </a:rPr>
              <a:t>/fact-finder QA</a:t>
            </a:r>
          </a:p>
        </p:txBody>
      </p:sp>
      <p:sp>
        <p:nvSpPr>
          <p:cNvPr id="27" name="Row3Add"/>
          <p:cNvSpPr txBox="1"/>
          <p:nvPr/>
        </p:nvSpPr>
        <p:spPr>
          <a:xfrm>
            <a:off x="7699247" y="416052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8" name="Row3Add"/>
          <p:cNvSpPr/>
          <p:nvPr/>
        </p:nvSpPr>
        <p:spPr>
          <a:xfrm>
            <a:off x="8119871" y="4160520"/>
            <a:ext cx="260604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QA-Bericht → qa/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Architekten definieren Warum und Was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FF3C00"/>
                </a:solidFill>
                <a:latin typeface="Arial"/>
              </a:rPr>
              <a:t>Die einzige Phase ohne Eingabe-Artefakt — die Architekten starten die Kette. Für kleine Änderungen tut das /change-architect (Folie 16).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408676" cy="26974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03704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/mission-architect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24328"/>
            <a:ext cx="658368" cy="22860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2615184"/>
            <a:ext cx="42199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8A8A8A"/>
                </a:solidFill>
                <a:latin typeface="Courier New"/>
              </a:rPr>
              <a:t>[Gespräch mit Nutzer]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35224"/>
            <a:ext cx="804672" cy="2286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926080"/>
            <a:ext cx="41285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Courier New"/>
              </a:rPr>
              <a:t>thoughts/shared/missions/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91839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48600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Fokus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Wert, Problem, Grenzen.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Regel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Strenges Verbot von Technologienamen (kein React, kein PostgreSQL).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1965960"/>
            <a:ext cx="5408676" cy="269748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1676" y="2203704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/feature-architect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1676" y="2624328"/>
            <a:ext cx="658368" cy="22860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9772" y="2615184"/>
            <a:ext cx="42199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8A8A8A"/>
                </a:solidFill>
                <a:latin typeface="Courier New"/>
              </a:rPr>
              <a:t>[Gespräch + Codebasis]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1676" y="2935224"/>
            <a:ext cx="804672" cy="2286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75" y="2926080"/>
            <a:ext cx="41285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3C00"/>
                </a:solidFill>
                <a:latin typeface="Courier New"/>
              </a:rPr>
              <a:t>thoughts/shared/features/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1676" y="3291839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1676" y="3410712"/>
            <a:ext cx="48600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Fokus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Systemkontext und Integration.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Regel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Übernimmt bestehende Architekturbeschränkungen. Ein Feature, das mehrere parallele Ströme braucht, geht als Subsystem an /mission-architect.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42515" y="4983480"/>
            <a:ext cx="2468880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Gespräch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2515" y="5477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Kein Artefakt-Input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1396" y="4983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0036" y="4983480"/>
            <a:ext cx="2468880" cy="4572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missions/ · features/ · changes/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036" y="5477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Erstes Artefakt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8916" y="4983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77556" y="4983480"/>
            <a:ext cx="246888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specs/  ·  facts/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7556" y="5477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8A8A8A"/>
                </a:solidFill>
                <a:latin typeface="Arial"/>
              </a:rPr>
              <a:t>Greenfield · Brownfield ·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33" name="AccentR"/>
          <p:cNvSpPr/>
          <p:nvPr/>
        </p:nvSpPr>
        <p:spPr>
          <a:xfrm>
            <a:off x="6277356" y="196596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Visionen in technologieneutrale Spezifikationen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thoughts/shared/missions/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thoughts/shared/specs/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graph 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Systemarchitektur &amp; Grenzen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Zeigt Systemkomponenten, ihre Beziehungen und Grenzen in einem gerichteten Graphen.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5048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sequenceDiagram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8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Datenflüsse pro Kernfunktion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8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Beschreibt, wie Daten zwischen Akteuren und Komponenten für jede kritische Funktion fließen.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1688" y="2331720"/>
            <a:ext cx="3514344" cy="23317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1688" y="2331720"/>
            <a:ext cx="3514344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9432" y="2569463"/>
            <a:ext cx="3038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Courier New"/>
              </a:rPr>
              <a:t>erDiagram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9432" y="2898648"/>
            <a:ext cx="3038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Abstraktes Datenmodell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9432" y="3520439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Definiert Entitäten und Beziehungen — technologieneutral, ohne DB-Festlegung.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11183112" cy="9144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>Schlüsselprinzip: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 xml:space="preserve">Entscheidungen über spezifische Stacks werden bewusst auf spätere Phasen verschoben. Geerbte Constraints des Host-Systems hält die Spec in einem eigenen Abschnitt fest. Das Spec-Artefakt beschreibt, </a:t>
            </a:r>
            <a:r>
              <a:rPr sz="1150" b="1" i="1">
                <a:solidFill>
                  <a:srgbClr val="141414"/>
                </a:solidFill>
                <a:latin typeface="Arial"/>
              </a:rPr>
              <a:t>was</a:t>
            </a:r>
            <a:r>
              <a:rPr sz="1150" b="0" i="0">
                <a:solidFill>
                  <a:srgbClr val="141414"/>
                </a:solidFill>
                <a:latin typeface="Arial"/>
              </a:rPr>
              <a:t> das System tun soll, nicht </a:t>
            </a:r>
            <a:r>
              <a:rPr sz="1150" b="1" i="1">
                <a:solidFill>
                  <a:srgbClr val="141414"/>
                </a:solidFill>
                <a:latin typeface="Arial"/>
              </a:rPr>
              <a:t>wie</a:t>
            </a:r>
            <a:r>
              <a:rPr sz="1150" b="0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  <p:pic>
        <p:nvPicPr>
          <p:cNvPr id="27" name="Picture 26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Spezifikationen in Nutzer-Workflows zerlegen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thoughts/shared/specs/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thoughts/shared/epics/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331720"/>
            <a:ext cx="20116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41414"/>
                </a:solidFill>
                <a:latin typeface="Arial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986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3C00"/>
                </a:solidFill>
                <a:latin typeface="Arial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10711"/>
            <a:ext cx="274320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Epic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050791"/>
            <a:ext cx="274320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Epic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690872"/>
            <a:ext cx="2743200" cy="457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Epic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286000"/>
            <a:ext cx="670255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Jedes Epic enthält: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2679191"/>
            <a:ext cx="6702551" cy="93268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User Stories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Nutzerorientierte Fähigkeiten (z. B. „User Authentication System", nicht „Database Schema Creation").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3721607"/>
            <a:ext cx="6702551" cy="93268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Abhängigkeiten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Identifizierte Abhängigkeiten zwischen Epics — generiert als Mermaid-Diagramme.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4764023"/>
            <a:ext cx="6702551" cy="93268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>Forschungsfragen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Zwingende Fragen für den fact-finder — samt geerbten Constraints, die über die Epic-Grenze weitergetragen werden.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  <p:pic>
        <p:nvPicPr>
          <p:cNvPr id="20" name="Picture 19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1" name="EpicNote"/>
          <p:cNvSpPr txBox="1"/>
          <p:nvPr/>
        </p:nvSpPr>
        <p:spPr>
          <a:xfrm>
            <a:off x="502920" y="582000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>Der Dateiname trägt die ID — YYYY-MM-DD-EPIC-NNN-Topic.md, passend zum Frontmatter-Feld epic-id:. Jedes Epic führt außerdem einen Verification Plan (For Implementor), den /implement beim Abschluss des zugehörigen Plans abarbeitet.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fact-finder bildet das faktenbasierte Fundament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epics/ · features/ · changes/ · freie Frage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thoughts/shared/facts/  ·  qa/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54086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Die oberste Direktive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Keine Meinungen, keine Annahmen. Nur </a:t>
            </a:r>
            <a:r>
              <a:rPr sz="1100" b="1" i="0">
                <a:solidFill>
                  <a:srgbClr val="FF3C00"/>
                </a:solidFill>
                <a:latin typeface="Arial"/>
              </a:rPr>
              <a:t>verifizierte Beweise</a:t>
            </a:r>
            <a:r>
              <a:rPr sz="1100" b="0" i="0">
                <a:solidFill>
                  <a:srgbClr val="5C5C5C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84448"/>
            <a:ext cx="5408676" cy="2103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01168" rIns="182880" tIns="0" bIns="0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Kartografiert die Codebasis-Topologie.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Verfolgt Ausführungspfade durch komplexe Funktionen.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Verifizierte Fakten und upstream-artifact: speisen den Planner.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Unbestätigtes bleibt eine offene Frage.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›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Ohne Ziel-Artefakt läuft er ausdrücklich als exploratorischer Bericht.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2377440"/>
            <a:ext cx="5408676" cy="29900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>/fact-finder</a:t>
            </a:r>
          </a:p>
        </p:txBody>
      </p:sp>
      <p:sp>
        <p:nvSpPr>
          <p:cNvPr id="13" name="Rectangle 12"/>
          <p:cNvSpPr/>
          <p:nvPr/>
        </p:nvSpPr>
        <p:spPr>
          <a:xfrm rot="21000000">
            <a:off x="9354312" y="2788920"/>
            <a:ext cx="2011680" cy="868680"/>
          </a:xfrm>
          <a:prstGeom prst="rect">
            <a:avLst/>
          </a:prstGeom>
          <a:noFill/>
          <a:ln w="44450">
            <a:solidFill>
              <a:srgbClr val="FF3C00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 spc="150">
                <a:solidFill>
                  <a:srgbClr val="FF3C00"/>
                </a:solidFill>
                <a:latin typeface="Arial"/>
              </a:rPr>
              <a:t>BEWEIS</a:t>
            </a:r>
          </a:p>
          <a:p>
            <a:pPr algn="ctr">
              <a:spcAft>
                <a:spcPts val="0"/>
              </a:spcAft>
            </a:pPr>
            <a:r>
              <a:rPr sz="1300" b="1" i="0" spc="120">
                <a:solidFill>
                  <a:srgbClr val="FF3C00"/>
                </a:solidFill>
                <a:latin typeface="Arial"/>
              </a:rPr>
              <a:t>ERFORDERLICH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  <p:pic>
        <p:nvPicPr>
          <p:cNvPr id="15" name="Picture 14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Planner erstellt den evidenzbasierten Bauplan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thoughts/shared/facts/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thoughts/shared/plans/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385816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53858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8A8A8A"/>
                </a:solidFill>
                <a:latin typeface="Courier New"/>
              </a:rPr>
              <a:t>facts/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5385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3C00"/>
                </a:solidFill>
                <a:latin typeface="Arial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5828" y="4114800"/>
            <a:ext cx="3400000" cy="6400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plan.md + STATE.md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2423160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Der Task-Kontrakt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Wave:, Model:, Change Type:, File(s):, allowedAdjacentEdits:, Instruction:, Evidence:, Done When:, Verify:, Context: — zehn Felder mit vier Lesern.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3401568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Beweispflicht und Verify: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Jede Änderung belegt mit Pfad:Zeile-Zeile. Verify: muss Inhalt prüfen — eine Zählung genügt nicht, sonst heißt es none — requires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4379976"/>
            <a:ext cx="5385816" cy="877824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Wellen und STATE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Tasks werden in dateidisjunkte Wellen gruppiert; die STATE-Datei entsteht mit status: in-progress. Nur /implement setzt sie auf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13</a:t>
            </a:r>
          </a:p>
        </p:txBody>
      </p:sp>
      <p:pic>
        <p:nvPicPr>
          <p:cNvPr id="18" name="Picture 17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Aufnahmeprüfung: Ohne festgehaltenen Zielzustand — upstream-artifact: none und kein QA-Bericht — schreibt /planner keinen Plan, sondern verweist auf /change-architect.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/implement: Der Plan wird ausführbarer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713232" cy="246888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41414"/>
                </a:solidFill>
                <a:latin typeface="Courier New"/>
              </a:rPr>
              <a:t>thoughts/shared/plans/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1790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72768"/>
            <a:ext cx="868680" cy="2468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Arial"/>
              </a:rPr>
              <a:t>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Produktionsbereiter Quellcode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Pre-Flight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Branch prüfen, Plan vollständig lesen, Baseline setzen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278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Wellen planen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Dateidisjunkte Tasks gruppieren, maximal 5 gleichzeitig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Dispatch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Implementer parallel auf haiku — sie committen nie selbst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5994" y="2286000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4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Boundary Check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Nur deklarierte Pfade dürfen berührt sein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5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Review-Gate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Fast Path oder Reviewer: Spec und Qualität in einem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7278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Commit &amp; STATE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Ein Commit pro Änderung, jeder mit seinem STATE-Update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767328"/>
            <a:ext cx="2590038" cy="120700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3C00"/>
                </a:solidFill>
                <a:latin typeface="Arial"/>
              </a:rPr>
              <a:t>7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Nächste Welle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C5C5C"/>
                </a:solidFill>
                <a:latin typeface="Arial"/>
              </a:rPr>
              <a:t>Wellen laufen strikt sequenziell, nie überlappend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5994" y="3767328"/>
            <a:ext cx="2590038" cy="1207008"/>
          </a:xfrm>
          <a:prstGeom prst="rect">
            <a:avLst/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txBody>
          <a:bodyPr rtlCol="0" anchor="t" wrap="square" lIns="146304" rIns="146304" tIns="118872" bIns="0"/>
          <a:lstStyle/>
          <a:p>
            <a:pPr algn="l">
              <a:spcAft>
                <a:spcPts val="0"/>
              </a:spcAft>
            </a:pPr>
            <a:r>
              <a:rPr sz="900" b="1" i="0" spc="80">
                <a:solidFill>
                  <a:srgbClr val="FFFFFF"/>
                </a:solidFill>
                <a:latin typeface="Arial"/>
              </a:rPr>
              <a:t>ABNAHME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Acceptance Criteria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status: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Erst wenn die Acceptance Criteria und der Verification Plan des Epics geprüft sind, setzt /implement status: complete — der einzige Schreiber dieses Feldes.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  <p:pic>
        <p:nvPicPr>
          <p:cNvPr id="20" name="Picture 19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AUSFÜHRUNGSMODELL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Wellen statt Warteschlange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V4 führt Pläne nicht Task für Task aus, sondern in Wellen dateidisjunkter Arbeit. Innerhalb einer Welle laufen die Implementer gleichzeitig — die Wellen selbst strikt nacheinander.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Dateidisjunkt, maximal fünf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Zwei Tasks teilen eine Welle nur, wenn sich ihre File(s) und allowedAdjacentEdits nicht überschneiden. Wellen aus einem einzigen Task sind normal, kein Versäumnis.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Der Orchestrator committet, nicht der Subagent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Parallele git-Aufrufe würden sich verschränken. Implementer schreiben nur Dateien — jeder Commit und jedes STATE-Update kommt vom Orchestrator.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Zwei Preise, nicht einer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Implementer laufen auf haiku, Reviewer auf dem Session-Modell. Nicht die Zahl der Subagenten treibt die Kosten, sondern wie viele Tasks einen Reviewer brauchen.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DAS GATE JEDER WELLE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BOUNDARY CHECK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Jeder berührte Pfad muss deklariert sein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↓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FAST PATH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Kleiner Diff, keine Logik, ein Verify:, das Inhalt prüft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oder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REVIEWER  —  Spec und Qualität in einem Bericht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Erst wenn die Welle sauber ist, wird committet — ein Commit pro logischer Änderung, jeder mit seinem eigenen STATE-Update.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15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DER ÄNDERUNGSPFAD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Klein bleibt klein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Neu in V4.1: Ein Bugfix kostete bisher entweder die volle Pipeline oder er entkam ihr ganz in den Chat. /change-architect hält den Zielzustand auf einer Seite fest — /just-do-it führt ihn direkt zu einem Commit.</a:t>
            </a:r>
          </a:p>
        </p:txBody>
      </p:sp>
      <p:sp>
        <p:nvSpPr>
          <p:cNvPr id="6" name="Num"/>
          <p:cNvSpPr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22920" y="24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/change-architect — erst der Zielzustand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Ein kurzes Gespräch, kein Codebase-Scan. Typisiert als defect, enhancement oder maintenance; der berichtete Ist bleibt ausdrücklich unverifiziert.</a:t>
            </a:r>
          </a:p>
        </p:txBody>
      </p:sp>
      <p:sp>
        <p:nvSpPr>
          <p:cNvPr id="9" name="Num"/>
          <p:cNvSpPr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502920" y="340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22920" y="338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route: direct | full entscheidet den Ausgang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direct nur, wenn keine Frage offen ist und genau ein Akzeptanzkriterium existiert. Sonst gilt full — /fact-finder → /planner → /implement.</a:t>
            </a:r>
          </a:p>
        </p:txBody>
      </p:sp>
      <p:sp>
        <p:nvSpPr>
          <p:cNvPr id="12" name="Num"/>
          <p:cNvSpPr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502920" y="4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22920" y="4330000"/>
            <a:ext cx="52500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 xml:space="preserve">/just-do-it — ein Reviewer, ein Commit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C5C5C"/>
                </a:solidFill>
                <a:latin typeface="Arial"/>
              </a:rPr>
              <a:t xml:space="preserve">Kein Fakten-Bericht, kein Plan, keine Wellen. Was bleibt: Ein Kontext, der die Arbeit nicht gemacht hat, prüft sie gegen die vorher festgehaltene Absicht.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00000" y="2057400"/>
            <a:ext cx="508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spc="120">
                <a:solidFill>
                  <a:srgbClr val="8A8A8A"/>
                </a:solidFill>
                <a:latin typeface="Arial"/>
              </a:rPr>
              <a:t xml:space="preserve">DIE DREI GRENZEN DES DIREKTEN PFADS</a:t>
            </a:r>
          </a:p>
        </p:txBody>
      </p:sp>
      <p:sp>
        <p:nvSpPr>
          <p:cNvPr id="16" name="FBox"/>
          <p:cNvSpPr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600000" y="247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~5 DATEIEN GELESEN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mehr heißt: der Ist ist unbelegt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600000" y="317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·</a:t>
            </a:r>
          </a:p>
        </p:txBody>
      </p:sp>
      <p:sp>
        <p:nvSpPr>
          <p:cNvPr id="19" name="FBox"/>
          <p:cNvSpPr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600000" y="349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141414"/>
                </a:solidFill>
                <a:latin typeface="Arial"/>
              </a:rPr>
              <a:t xml:space="preserve">GENAU 1 IMPLEMENTIERUNGSORT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zwei Orte sind eine Forschungsfrage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6600000" y="4190000"/>
            <a:ext cx="5088775" cy="3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3C00"/>
                </a:solidFill>
                <a:latin typeface="Arial"/>
              </a:rPr>
              <a:t xml:space="preserve">·</a:t>
            </a:r>
          </a:p>
        </p:txBody>
      </p:sp>
      <p:sp>
        <p:nvSpPr>
          <p:cNvPr id="22" name="FBox"/>
          <p:cNvSpPr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6600000" y="4510000"/>
            <a:ext cx="5088775" cy="6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spc="80">
                <a:solidFill>
                  <a:srgbClr val="FFFFFF"/>
                </a:solidFill>
                <a:latin typeface="Arial"/>
              </a:rPr>
              <a:t xml:space="preserve">~50 GEÄNDERTE ZEILEN  —  Prosa trägt nicht mehr</a:t>
            </a:r>
          </a:p>
        </p:txBody>
      </p:sp>
      <p:sp>
        <p:nvSpPr>
          <p:cNvPr id="24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Jede überschrittene Grenze bricht ab und übergibt denselben Brief an /fact-finder — und jeder Lauf, auch der abgebrochene, hinterlässt einen Change Record.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16</a:t>
            </a:r>
          </a:p>
        </p:txBody>
      </p:sp>
      <p:pic>
        <p:nvPicPr>
          <p:cNvPr id="27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 xml:space="preserve">EXPLORATION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 xml:space="preserve">Ausbrechen aus dem Prozess</a:t>
            </a:r>
          </a:p>
        </p:txBody>
      </p:sp>
      <p:sp>
        <p:nvSpPr>
          <p:cNvPr id="4" name="Rule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502920" y="1481328"/>
            <a:ext cx="106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C5C"/>
                </a:solidFill>
                <a:latin typeface="Arial"/>
              </a:rPr>
              <a:t xml:space="preserve">Manchmal muss man schnell etwas ausprobieren. Der </a:t>
            </a:r>
            <a:r>
              <a:rPr sz="1200" b="1" i="0">
                <a:solidFill>
                  <a:srgbClr val="141414"/>
                </a:solidFill>
                <a:latin typeface="Courier New"/>
              </a:rPr>
              <a:t xml:space="preserve">/prototype</a:t>
            </a:r>
            <a:r>
              <a:rPr sz="1200" b="0" i="0">
                <a:solidFill>
                  <a:srgbClr val="5C5C5C"/>
                </a:solidFill>
                <a:latin typeface="Arial"/>
              </a:rPr>
              <a:t xml:space="preserve">-Skill erlaubt genau das — ohne Spec, Plan oder QA, aber mit klaren Leitplanken.</a:t>
            </a:r>
          </a:p>
        </p:txBody>
      </p:sp>
      <p:sp>
        <p:nvSpPr>
          <p:cNvPr id="6" name="ZoneLabel"/>
          <p:cNvSpPr/>
          <p:nvPr/>
        </p:nvSpPr>
        <p:spPr>
          <a:xfrm>
            <a:off x="502920" y="2057400"/>
            <a:ext cx="2150000" cy="2743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2920" y="20574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20">
                <a:solidFill>
                  <a:srgbClr val="FFFFFF"/>
                </a:solidFill>
                <a:latin typeface="Arial"/>
              </a:rPr>
              <a:t xml:space="preserve">SO ARBEITET DER SKILL</a:t>
            </a:r>
          </a:p>
        </p:txBody>
      </p:sp>
      <p:sp>
        <p:nvSpPr>
          <p:cNvPr id="8" name="Num"/>
          <p:cNvSpPr/>
          <p:nvPr/>
        </p:nvSpPr>
        <p:spPr>
          <a:xfrm>
            <a:off x="502920" y="252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02920" y="252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22920" y="2500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Isolierter git-Worktree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Wegwerf-Code entsteht getrennt vom Hauptzweig. Phase 5 löscht den Branch — deshalb ist dort alles verboten, was committet: /implement, /just-do-it, /commit.</a:t>
            </a:r>
          </a:p>
        </p:txBody>
      </p:sp>
      <p:sp>
        <p:nvSpPr>
          <p:cNvPr id="11" name="Num"/>
          <p:cNvSpPr/>
          <p:nvPr/>
        </p:nvSpPr>
        <p:spPr>
          <a:xfrm>
            <a:off x="502920" y="3255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502920" y="3255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22920" y="3235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Keine Gates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Kein Spec, kein Plan, keine QA — schnelles, rohes Ausprobieren einer Idee.</a:t>
            </a:r>
          </a:p>
        </p:txBody>
      </p:sp>
      <p:sp>
        <p:nvSpPr>
          <p:cNvPr id="14" name="Num"/>
          <p:cNvSpPr/>
          <p:nvPr/>
        </p:nvSpPr>
        <p:spPr>
          <a:xfrm>
            <a:off x="502920" y="3990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502920" y="399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3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22920" y="3970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Explizite Entscheidung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Am Ende steht bewusst ein klares go / no-go / iterate.</a:t>
            </a:r>
          </a:p>
        </p:txBody>
      </p:sp>
      <p:sp>
        <p:nvSpPr>
          <p:cNvPr id="17" name="Num"/>
          <p:cNvSpPr/>
          <p:nvPr/>
        </p:nvSpPr>
        <p:spPr>
          <a:xfrm>
            <a:off x="502920" y="4725000"/>
            <a:ext cx="380000" cy="38000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502920" y="4725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 xml:space="preserve">4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022920" y="4705000"/>
            <a:ext cx="545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 xml:space="preserve">Code wird verworfen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5C5C5C"/>
                </a:solidFill>
                <a:latin typeface="Arial"/>
              </a:rPr>
              <a:t xml:space="preserve">Der Code wird immer gelöscht — es bleibt allein die Erkenntnis.</a:t>
            </a:r>
          </a:p>
        </p:txBody>
      </p:sp>
      <p:sp>
        <p:nvSpPr>
          <p:cNvPr id="20" name="ProtoCard"/>
          <p:cNvSpPr/>
          <p:nvPr/>
        </p:nvSpPr>
        <p:spPr>
          <a:xfrm>
            <a:off x="6900000" y="2057400"/>
            <a:ext cx="4758775" cy="33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"/>
          <p:cNvSpPr txBox="1"/>
          <p:nvPr/>
        </p:nvSpPr>
        <p:spPr>
          <a:xfrm>
            <a:off x="7200000" y="2337400"/>
            <a:ext cx="4158775" cy="5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 xml:space="preserve">/prototype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200000" y="3057400"/>
            <a:ext cx="41587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spc="120">
                <a:solidFill>
                  <a:srgbClr val="FF3C00"/>
                </a:solidFill>
                <a:latin typeface="Arial"/>
              </a:rPr>
              <a:t xml:space="preserve">OPTIONALER EINSTIEG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7200000" y="3377400"/>
            <a:ext cx="4158775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C8C8C8"/>
                </a:solidFill>
                <a:latin typeface="Arial"/>
              </a:rPr>
              <a:t xml:space="preserve">Vor mission-architect, feature-architect oder change-architect — noch bevor die Kette startet.</a:t>
            </a:r>
          </a:p>
        </p:txBody>
      </p:sp>
      <p:sp>
        <p:nvSpPr>
          <p:cNvPr id="24" name="Line"/>
          <p:cNvSpPr/>
          <p:nvPr/>
        </p:nvSpPr>
        <p:spPr>
          <a:xfrm>
            <a:off x="7200000" y="4137400"/>
            <a:ext cx="4158775" cy="0"/>
          </a:xfrm>
          <a:prstGeom prst="line">
            <a:avLst/>
          </a:prstGeom>
          <a:ln w="9525">
            <a:solidFill>
              <a:srgbClr val="3D3D3D"/>
            </a:solidFill>
          </a:ln>
          <a:effectLst/>
        </p:spPr>
        <p:txBody>
          <a:bodyPr/>
          <a:lstStyle/>
          <a:p/>
        </p:txBody>
      </p:sp>
      <p:sp>
        <p:nvSpPr>
          <p:cNvPr id="25" name="TextBox"/>
          <p:cNvSpPr txBox="1"/>
          <p:nvPr/>
        </p:nvSpPr>
        <p:spPr>
          <a:xfrm>
            <a:off x="7200000" y="4317400"/>
            <a:ext cx="4158775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3C00"/>
                </a:solidFill>
                <a:latin typeface="Arial"/>
              </a:rPr>
              <a:t xml:space="preserve">→ </a:t>
            </a:r>
            <a:r>
              <a:rPr sz="1250" b="1" i="0">
                <a:solidFill>
                  <a:srgbClr val="FF3C00"/>
                </a:solidFill>
                <a:latin typeface="Courier New"/>
              </a:rPr>
              <a:t xml:space="preserve">thoughts/shared/prototypes/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200000" y="4757400"/>
            <a:ext cx="4158775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8C8C8"/>
                </a:solidFill>
                <a:latin typeface="Arial"/>
              </a:rPr>
              <a:t xml:space="preserve">Learnings-Notiz — immer, unabhängig vom Ergebnis.</a:t>
            </a:r>
          </a:p>
        </p:txBody>
      </p:sp>
      <p:sp>
        <p:nvSpPr>
          <p:cNvPr id="27" name="Banner"/>
          <p:cNvSpPr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"/>
          <p:cNvSpPr txBox="1"/>
          <p:nvPr/>
        </p:nvSpPr>
        <p:spPr>
          <a:xfrm>
            <a:off x="502920" y="5650992"/>
            <a:ext cx="11183112" cy="566928"/>
          </a:xfrm>
          <a:prstGeom prst="rect">
            <a:avLst/>
          </a:prstGeom>
          <a:noFill/>
        </p:spPr>
        <p:txBody>
          <a:bodyPr wrap="square" lIns="228600" rIns="0" t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 xml:space="preserve">Kein Ersatz für den Prozess, sondern ein bewusstes Ventil davor — /prototype läuft auf opus und nie als Subagent.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 xml:space="preserve">17</a:t>
            </a:r>
          </a:p>
        </p:txBody>
      </p:sp>
      <p:pic>
        <p:nvPicPr>
          <p:cNvPr id="30" name="Picture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Das DOX-Framework: Jedes Verzeichnis hat einen Vertrag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>
                <a:solidFill>
                  <a:srgbClr val="FF3C00"/>
                </a:solidFill>
                <a:latin typeface="Arial"/>
              </a:rPr>
              <a:t>Kein Installations-Paket. Keine Abhängigkeiten. Nur AGENTS.md-Dateien — dort, wo die Arbeit stattfindet.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40867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Was sind AGENTS.md-Dateien?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Arial"/>
              </a:rPr>
              <a:t>Hierarchische Governance-Verträge für Verzeichnis-Teilbäume. Die Root-AGENTS.md setzt projektweite Regeln; jede Child-AGENTS.md konkretisiert sie für ihre Domäne. Je näher an der Datei, desto stärker gilt sie.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5408676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Arial"/>
              </a:rPr>
              <a:t>Nähe-Regel:  </a:t>
            </a:r>
            <a:r>
              <a:rPr sz="1050" b="0" i="0">
                <a:solidFill>
                  <a:srgbClr val="141414"/>
                </a:solidFill>
                <a:latin typeface="Arial"/>
              </a:rPr>
              <a:t>Die nächste AGENTS.md zur Zieldatei ist der lokale Vertrag. Eltern liefern übergeordnete Regeln. Keine AGENTS.md überschreibt CLAUDE.md — und .claude/** liegt bewusst außerhalb von DOX.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965960"/>
            <a:ext cx="54086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41414"/>
                </a:solidFill>
                <a:latin typeface="Arial"/>
              </a:rPr>
              <a:t>Das Protokoll: Zwei Pflichten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2350008"/>
            <a:ext cx="5408676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3C00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Vor jeder Dateiänderung — Lesen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Vom Repository-Root bis zur Zieldatei jede Ebene prüfen und vorhandene AGENTS.md einlesen.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557015"/>
            <a:ext cx="5408676" cy="1078992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182880" rIns="18288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14"/>
                </a:solidFill>
                <a:latin typeface="Arial"/>
              </a:rPr>
              <a:t>Nach bedeutsamer Änderung — Schreiben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080" b="0" i="0">
                <a:solidFill>
                  <a:srgbClr val="5C5C5C"/>
                </a:solidFill>
                <a:latin typeface="Arial"/>
              </a:rPr>
              <a:t>Wenn Zweck, Struktur, Ownership oder Konventionen betroffen sind, die nächste AGENTS.md aktualisieren.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DOX ist kein Pipeline-Schritt — es ist die Governance-Schicht, die alle Pipeline-Schritte umhüllt.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18</a:t>
            </a:r>
          </a:p>
        </p:txBody>
      </p:sp>
      <p:pic>
        <p:nvPicPr>
          <p:cNvPr id="13" name="Picture 1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GOVERNANCE-BEFEHLE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Den Vertrag pflegen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5408676" cy="27432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Courier New"/>
              </a:rPr>
              <a:t>/dox-init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Governance-Baum bootstrappen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17520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82112"/>
            <a:ext cx="48600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Einmalig bei Projektstart. Erzeugt die Root-AGENTS.md und eine Child-AGENTS.md für jedes bedeutungsvolle Verzeichnis. Idempotent — überschreibt nie bestehende Dateien.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828800"/>
            <a:ext cx="5408676" cy="27432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676" y="21214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3C00"/>
                </a:solidFill>
                <a:latin typeface="Courier New"/>
              </a:rPr>
              <a:t>/dox-update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6" y="2578608"/>
            <a:ext cx="48600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Veraltete Verträge reparieren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1676" y="3017520"/>
            <a:ext cx="4860036" cy="1097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6" y="3182112"/>
            <a:ext cx="48600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Nach größeren Codeänderungen. Prüft jede AGENTS.md gegen den aktuellen Verzeichnisinhalt — veraltete Dateien werden regeneriert, aktuelle bleiben unberührt.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37760"/>
            <a:ext cx="11183112" cy="10058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DOX ist aktiv bei jedem Datei-Edit — besonders während /implement. .claude/** ist bewusst ausgenommen: dort beschreibt sich jede SKILL.md über ihr eigenes Frontmatter. Live sind die Root-AGENTS.md sowie thoughts/shared/ mit changes/, facts/, plans/, prototypes/ und qa/.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19</a:t>
            </a:r>
          </a:p>
        </p:txBody>
      </p:sp>
      <p:pic>
        <p:nvPicPr>
          <p:cNvPr id="18" name="Picture 17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QUALITÄTSSICHERUNG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Der parallele QA-Workflow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FF3C00"/>
                </a:solidFill>
                <a:latin typeface="Arial"/>
              </a:rPr>
              <a:t>Trigger: </a:t>
            </a:r>
            <a:r>
              <a:rPr sz="1200" b="1" i="0">
                <a:solidFill>
                  <a:srgbClr val="141414"/>
                </a:solidFill>
                <a:latin typeface="Courier New"/>
              </a:rPr>
              <a:t>/fact-finder</a:t>
            </a:r>
            <a:r>
              <a:rPr sz="1200" b="0" i="0">
                <a:solidFill>
                  <a:srgbClr val="5C5C5C"/>
                </a:solidFill>
                <a:latin typeface="Arial"/>
              </a:rPr>
              <a:t xml:space="preserve"> mit QA-Keywords — läuft parallel zur Entwicklung; der Bericht landet in thoughts/shared/qa/.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python-qa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ruff (Style), pyright (Types), bandit (Security), interrogate (Docstrings)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148840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7356" y="2148840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1676" y="242316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6" y="2770632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typescript-qa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1676" y="3118104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tsc (Compilation), eslint (Quality), knip (Dead Code)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Logik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logic-bugs-qa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Ausführungsverfolgung für Control Flow &amp; Edge Cases (keine einfachen Linter)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4224528"/>
            <a:ext cx="5408676" cy="1755648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4224528"/>
            <a:ext cx="5408676" cy="5029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1676" y="4498848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6" y="4846320"/>
            <a:ext cx="48600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clean-code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5193792"/>
            <a:ext cx="486003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C5C"/>
                </a:solidFill>
                <a:latin typeface="Courier New"/>
              </a:rPr>
              <a:t>Komplexität (lizard), Umfang (scc), Duplizierung (jscpd)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20</a:t>
            </a:r>
          </a:p>
        </p:txBody>
      </p:sp>
      <p:pic>
        <p:nvPicPr>
          <p:cNvPr id="27" name="Picture 26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SUB-AGENTEN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Die unsichtbare Flotte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32807" y="1627632"/>
            <a:ext cx="2926080" cy="5029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Kartografen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(Codebase)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codebase-locator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Findet Dateien nach Zweck und Topologie.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96849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codebase-pattern-finder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Extrahiert dominante Implementierungsmuster.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70001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codebase-analyzer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Verfolgt Logik und Datenflüsse in Dateien.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7304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5048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Archivare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(Historie)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5048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thoughts-locator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Sucht historische Entscheidungsdokumente.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396849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thoughts-analyzer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Extrahiert reine Signale: Entscheidungen, Specs.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1688" y="2468880"/>
            <a:ext cx="3514344" cy="283464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9432" y="2706624"/>
            <a:ext cx="3038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14"/>
                </a:solidFill>
                <a:latin typeface="Arial"/>
              </a:rPr>
              <a:t>Die Pfadfinder  </a:t>
            </a:r>
            <a:r>
              <a:rPr sz="1000" b="0" i="1">
                <a:solidFill>
                  <a:srgbClr val="8A8A8A"/>
                </a:solidFill>
                <a:latin typeface="Arial"/>
              </a:rPr>
              <a:t>(Extern)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9432" y="3072384"/>
            <a:ext cx="3038856" cy="2286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9432" y="3236976"/>
            <a:ext cx="30388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3C00"/>
                </a:solidFill>
                <a:latin typeface="Courier New"/>
              </a:rPr>
              <a:t>web-search-researcher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 i="0">
                <a:solidFill>
                  <a:srgbClr val="5C5C5C"/>
                </a:solidFill>
                <a:latin typeface="Arial"/>
              </a:rPr>
              <a:t>Recherchiert externe APIs, Bibliotheken und Best Practices.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5C5C5C"/>
                </a:solidFill>
                <a:latin typeface="Arial"/>
              </a:rPr>
              <a:t>Diese sechs Agenten sprechen nur mit dem Orchestrator. /implement ist die Ausnahme: seine Implementer und Reviewer laufen als general-purpose — auf haiku bzw. dem Session-Modell.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21</a:t>
            </a:r>
          </a:p>
        </p:txBody>
      </p:sp>
      <p:pic>
        <p:nvPicPr>
          <p:cNvPr id="23" name="Picture 22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Drei remote Server, kein lokaler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crawl4ai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Extrahiert Web-Inhalte mit BM25/LLM-Filterung zur Token-Reduktion. Modi: crawl, markdown, screenshot.
${CRAWL4AI_MCP_URL}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9912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7112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searxng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912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Web-Suche über eine gehostete SearXNG-Instanz — für externe Dokumentation, ohne kommerziellen Suchdienst.
${SEARXNG_MCP_URL}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1688" y="1828800"/>
            <a:ext cx="3514344" cy="224000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64296" y="2121408"/>
            <a:ext cx="310896" cy="31089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1496" y="2139696"/>
            <a:ext cx="2471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Courier New"/>
              </a:rPr>
              <a:t>context7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4296" y="2670048"/>
            <a:ext cx="2929128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C5C5C"/>
                </a:solidFill>
                <a:latin typeface="Arial"/>
              </a:rPr>
              <a:t>resolve-library-id und query-docs liefern tagesaktuelle Bibliotheks-Dokumentation statt veraltetem Trainingswissen.
mcp.context7.com/mcp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22</a:t>
            </a:r>
          </a:p>
        </p:txBody>
      </p:sp>
      <p:pic>
        <p:nvPicPr>
          <p:cNvPr id="22" name="Picture 2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23" name="Band"/>
          <p:cNvSpPr/>
          <p:nvPr/>
        </p:nvSpPr>
        <p:spPr>
          <a:xfrm>
            <a:off x="502920" y="4360000"/>
            <a:ext cx="11183112" cy="960120"/>
          </a:xfrm>
          <a:prstGeom prst="rect">
            <a:avLst/>
          </a:prstGeom>
          <a:solidFill>
            <a:srgbClr val="FAF9F9"/>
          </a:solidFill>
          <a:ln w="12700">
            <a:solidFill>
              <a:srgbClr val="E8E8E8"/>
            </a:solidFill>
          </a:ln>
          <a:effectLst/>
        </p:spPr>
        <p:txBody>
          <a:bodyPr rtlCol="0" anchor="ctr" wrap="square" lIns="256032" rIns="256032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3C00"/>
                </a:solidFill>
                <a:latin typeface="Arial"/>
              </a:rPr>
              <a:t xml:space="preserve">Alle drei sind remote:  </a:t>
            </a:r>
            <a:r>
              <a:rPr sz="1150" b="0" i="0">
                <a:solidFill>
                  <a:srgbClr val="141414"/>
                </a:solidFill>
                <a:latin typeface="Arial"/>
              </a:rPr>
              <a:t>deklariert in der Wurzel-.mcp.json, ohne lokalen Build, und über enableAllProjectMcpServers automatisch aktiv. Seit V4.0.1 kommen die Endpunkte aus der gitignorierten .env — CRAWL4AI_MCP_URL, SEARXNG_MCP_URL und CONTEXT7_API_KEY. Ein Klon ohne .env startet daher ganz ohne funktionierenden MCP-Server; die aktuellen Werte stehen in .env.example.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QUICK-START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41414"/>
                </a:solidFill>
                <a:latin typeface="Arial"/>
              </a:rPr>
              <a:t>Command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1183112" cy="4160520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94560"/>
            <a:ext cx="155448" cy="155448"/>
          </a:xfrm>
          <a:prstGeom prst="ellipse">
            <a:avLst/>
          </a:prstGeom>
          <a:solidFill>
            <a:srgbClr val="E0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194560"/>
            <a:ext cx="155448" cy="155448"/>
          </a:xfrm>
          <a:prstGeom prst="ellipse">
            <a:avLst/>
          </a:prstGeom>
          <a:solidFill>
            <a:srgbClr val="E0B0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5024" y="2194560"/>
            <a:ext cx="155448" cy="155448"/>
          </a:xfrm>
          <a:prstGeom prst="ellipse">
            <a:avLst/>
          </a:prstGeom>
          <a:solidFill>
            <a:srgbClr val="55B8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088636"/>
            <a:ext cx="10515600" cy="10972"/>
          </a:xfrm>
          <a:prstGeom prst="rect">
            <a:avLst/>
          </a:prstGeom>
          <a:solidFill>
            <a:srgbClr val="3A3D4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Arial"/>
              </a:rPr>
              <a:t>23</a:t>
            </a:r>
          </a:p>
        </p:txBody>
      </p:sp>
      <p:pic>
        <p:nvPicPr>
          <p:cNvPr id="32" name="Picture 31" descr="vi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  <p:sp>
        <p:nvSpPr>
          <p:cNvPr id="33" name="Row"/>
          <p:cNvSpPr txBox="1"/>
          <p:nvPr/>
        </p:nvSpPr>
        <p:spPr>
          <a:xfrm>
            <a:off x="822960" y="230428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230428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/prototype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230428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Idee im isolierten git-Worktree prüfen — optional, noch vor der Kette</a:t>
            </a:r>
          </a:p>
        </p:txBody>
      </p:sp>
      <p:sp>
        <p:nvSpPr>
          <p:cNvPr id="36" name="Row"/>
          <p:cNvSpPr txBox="1"/>
          <p:nvPr/>
        </p:nvSpPr>
        <p:spPr>
          <a:xfrm>
            <a:off x="822960" y="255117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7" name="Row"/>
          <p:cNvSpPr txBox="1"/>
          <p:nvPr/>
        </p:nvSpPr>
        <p:spPr>
          <a:xfrm>
            <a:off x="1188720" y="25511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/mission-architect</a:t>
            </a:r>
          </a:p>
        </p:txBody>
      </p:sp>
      <p:sp>
        <p:nvSpPr>
          <p:cNvPr id="38" name="Row"/>
          <p:cNvSpPr txBox="1"/>
          <p:nvPr/>
        </p:nvSpPr>
        <p:spPr>
          <a:xfrm>
            <a:off x="4251959" y="255117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Neues Projekt oder Subsystem starten (Greenfield)</a:t>
            </a:r>
          </a:p>
        </p:txBody>
      </p:sp>
      <p:sp>
        <p:nvSpPr>
          <p:cNvPr id="39" name="Row"/>
          <p:cNvSpPr txBox="1"/>
          <p:nvPr/>
        </p:nvSpPr>
        <p:spPr>
          <a:xfrm>
            <a:off x="822960" y="279806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0" name="Row"/>
          <p:cNvSpPr txBox="1"/>
          <p:nvPr/>
        </p:nvSpPr>
        <p:spPr>
          <a:xfrm>
            <a:off x="1188720" y="279806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/feature-architect</a:t>
            </a:r>
          </a:p>
        </p:txBody>
      </p:sp>
      <p:sp>
        <p:nvSpPr>
          <p:cNvPr id="41" name="Row"/>
          <p:cNvSpPr txBox="1"/>
          <p:nvPr/>
        </p:nvSpPr>
        <p:spPr>
          <a:xfrm>
            <a:off x="4251959" y="2798064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Neues Feature im bestehenden System definieren (Brownfield)</a:t>
            </a:r>
          </a:p>
        </p:txBody>
      </p:sp>
      <p:sp>
        <p:nvSpPr>
          <p:cNvPr id="42" name="Row"/>
          <p:cNvSpPr txBox="1"/>
          <p:nvPr/>
        </p:nvSpPr>
        <p:spPr>
          <a:xfrm>
            <a:off x="822960" y="329184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3" name="Row"/>
          <p:cNvSpPr txBox="1"/>
          <p:nvPr/>
        </p:nvSpPr>
        <p:spPr>
          <a:xfrm>
            <a:off x="1188720" y="329184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/specifier</a:t>
            </a:r>
          </a:p>
        </p:txBody>
      </p:sp>
      <p:sp>
        <p:nvSpPr>
          <p:cNvPr id="44" name="Row"/>
          <p:cNvSpPr txBox="1"/>
          <p:nvPr/>
        </p:nvSpPr>
        <p:spPr>
          <a:xfrm>
            <a:off x="4251959" y="32918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Mission in eine technologieneutrale Spezifikation übersetzen</a:t>
            </a:r>
          </a:p>
        </p:txBody>
      </p:sp>
      <p:sp>
        <p:nvSpPr>
          <p:cNvPr id="45" name="Row"/>
          <p:cNvSpPr txBox="1"/>
          <p:nvPr/>
        </p:nvSpPr>
        <p:spPr>
          <a:xfrm>
            <a:off x="822960" y="353872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6" name="Row"/>
          <p:cNvSpPr txBox="1"/>
          <p:nvPr/>
        </p:nvSpPr>
        <p:spPr>
          <a:xfrm>
            <a:off x="1188720" y="35387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/epic-planner</a:t>
            </a:r>
          </a:p>
        </p:txBody>
      </p:sp>
      <p:sp>
        <p:nvSpPr>
          <p:cNvPr id="47" name="Row"/>
          <p:cNvSpPr txBox="1"/>
          <p:nvPr/>
        </p:nvSpPr>
        <p:spPr>
          <a:xfrm>
            <a:off x="4251959" y="353872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Spec in Epics zerlegen — nur auf dem Greenfield-Pfad</a:t>
            </a:r>
          </a:p>
        </p:txBody>
      </p:sp>
      <p:sp>
        <p:nvSpPr>
          <p:cNvPr id="48" name="Row"/>
          <p:cNvSpPr txBox="1"/>
          <p:nvPr/>
        </p:nvSpPr>
        <p:spPr>
          <a:xfrm>
            <a:off x="822960" y="378561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49" name="Row"/>
          <p:cNvSpPr txBox="1"/>
          <p:nvPr/>
        </p:nvSpPr>
        <p:spPr>
          <a:xfrm>
            <a:off x="1188720" y="37856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/fact-finder</a:t>
            </a:r>
          </a:p>
        </p:txBody>
      </p:sp>
      <p:sp>
        <p:nvSpPr>
          <p:cNvPr id="50" name="Row"/>
          <p:cNvSpPr txBox="1"/>
          <p:nvPr/>
        </p:nvSpPr>
        <p:spPr>
          <a:xfrm>
            <a:off x="4251959" y="378561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Codebasis und externes Wissen verifiziert erheben</a:t>
            </a:r>
          </a:p>
        </p:txBody>
      </p:sp>
      <p:sp>
        <p:nvSpPr>
          <p:cNvPr id="51" name="Row"/>
          <p:cNvSpPr txBox="1"/>
          <p:nvPr/>
        </p:nvSpPr>
        <p:spPr>
          <a:xfrm>
            <a:off x="822960" y="403250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2" name="Row"/>
          <p:cNvSpPr txBox="1"/>
          <p:nvPr/>
        </p:nvSpPr>
        <p:spPr>
          <a:xfrm>
            <a:off x="1188720" y="403250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/fact-finder QA</a:t>
            </a:r>
          </a:p>
        </p:txBody>
      </p:sp>
      <p:sp>
        <p:nvSpPr>
          <p:cNvPr id="53" name="Row"/>
          <p:cNvSpPr txBox="1"/>
          <p:nvPr/>
        </p:nvSpPr>
        <p:spPr>
          <a:xfrm>
            <a:off x="4251959" y="4032504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Parallelen Code-Quality-Review starten (Bericht nach qa/)</a:t>
            </a:r>
          </a:p>
        </p:txBody>
      </p:sp>
      <p:sp>
        <p:nvSpPr>
          <p:cNvPr id="54" name="Row"/>
          <p:cNvSpPr txBox="1"/>
          <p:nvPr/>
        </p:nvSpPr>
        <p:spPr>
          <a:xfrm>
            <a:off x="822960" y="427939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5" name="Row"/>
          <p:cNvSpPr txBox="1"/>
          <p:nvPr/>
        </p:nvSpPr>
        <p:spPr>
          <a:xfrm>
            <a:off x="1188720" y="42793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/planner</a:t>
            </a:r>
          </a:p>
        </p:txBody>
      </p:sp>
      <p:sp>
        <p:nvSpPr>
          <p:cNvPr id="56" name="Row"/>
          <p:cNvSpPr txBox="1"/>
          <p:nvPr/>
        </p:nvSpPr>
        <p:spPr>
          <a:xfrm>
            <a:off x="4251959" y="427939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Plan mit Wellen, Evidenz und Verify-Kommandos schreiben</a:t>
            </a:r>
          </a:p>
        </p:txBody>
      </p:sp>
      <p:sp>
        <p:nvSpPr>
          <p:cNvPr id="57" name="Row"/>
          <p:cNvSpPr txBox="1"/>
          <p:nvPr/>
        </p:nvSpPr>
        <p:spPr>
          <a:xfrm>
            <a:off x="822960" y="4526279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58" name="Row"/>
          <p:cNvSpPr txBox="1"/>
          <p:nvPr/>
        </p:nvSpPr>
        <p:spPr>
          <a:xfrm>
            <a:off x="1188720" y="4526279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/implement</a:t>
            </a:r>
          </a:p>
        </p:txBody>
      </p:sp>
      <p:sp>
        <p:nvSpPr>
          <p:cNvPr id="59" name="Row"/>
          <p:cNvSpPr txBox="1"/>
          <p:nvPr/>
        </p:nvSpPr>
        <p:spPr>
          <a:xfrm>
            <a:off x="4251959" y="4526279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Plan wellenweise ausführen — oder nach Abbruch fortsetzen</a:t>
            </a:r>
          </a:p>
        </p:txBody>
      </p:sp>
      <p:sp>
        <p:nvSpPr>
          <p:cNvPr id="60" name="Row"/>
          <p:cNvSpPr txBox="1"/>
          <p:nvPr/>
        </p:nvSpPr>
        <p:spPr>
          <a:xfrm>
            <a:off x="822960" y="516636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1" name="Row"/>
          <p:cNvSpPr txBox="1"/>
          <p:nvPr/>
        </p:nvSpPr>
        <p:spPr>
          <a:xfrm>
            <a:off x="1188720" y="516636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/dox-init</a:t>
            </a:r>
          </a:p>
        </p:txBody>
      </p:sp>
      <p:sp>
        <p:nvSpPr>
          <p:cNvPr id="62" name="Row"/>
          <p:cNvSpPr txBox="1"/>
          <p:nvPr/>
        </p:nvSpPr>
        <p:spPr>
          <a:xfrm>
            <a:off x="4251959" y="51663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Governance-Baum bootstrappen (einmalig bei Projektstart)</a:t>
            </a:r>
          </a:p>
        </p:txBody>
      </p:sp>
      <p:sp>
        <p:nvSpPr>
          <p:cNvPr id="63" name="Row"/>
          <p:cNvSpPr txBox="1"/>
          <p:nvPr/>
        </p:nvSpPr>
        <p:spPr>
          <a:xfrm>
            <a:off x="822960" y="541324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4" name="Row"/>
          <p:cNvSpPr txBox="1"/>
          <p:nvPr/>
        </p:nvSpPr>
        <p:spPr>
          <a:xfrm>
            <a:off x="1188720" y="541324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/dox-update</a:t>
            </a:r>
          </a:p>
        </p:txBody>
      </p:sp>
      <p:sp>
        <p:nvSpPr>
          <p:cNvPr id="65" name="Row"/>
          <p:cNvSpPr txBox="1"/>
          <p:nvPr/>
        </p:nvSpPr>
        <p:spPr>
          <a:xfrm>
            <a:off x="4251959" y="541324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Veraltete AGENTS.md-Dateien nach Codeänderungen reparieren</a:t>
            </a:r>
          </a:p>
        </p:txBody>
      </p:sp>
      <p:sp>
        <p:nvSpPr>
          <p:cNvPr id="66" name="Row"/>
          <p:cNvSpPr txBox="1"/>
          <p:nvPr/>
        </p:nvSpPr>
        <p:spPr>
          <a:xfrm>
            <a:off x="822960" y="56601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67" name="Row"/>
          <p:cNvSpPr txBox="1"/>
          <p:nvPr/>
        </p:nvSpPr>
        <p:spPr>
          <a:xfrm>
            <a:off x="1188720" y="56601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/commit</a:t>
            </a:r>
          </a:p>
        </p:txBody>
      </p:sp>
      <p:sp>
        <p:nvSpPr>
          <p:cNvPr id="68" name="Row"/>
          <p:cNvSpPr txBox="1"/>
          <p:nvPr/>
        </p:nvSpPr>
        <p:spPr>
          <a:xfrm>
            <a:off x="4251959" y="5660136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Änderungen gruppiert committen — nur manuell aufrufbar</a:t>
            </a:r>
          </a:p>
        </p:txBody>
      </p:sp>
      <p:sp>
        <p:nvSpPr>
          <p:cNvPr id="33" name="Row"/>
          <p:cNvSpPr txBox="1"/>
          <p:nvPr/>
        </p:nvSpPr>
        <p:spPr>
          <a:xfrm>
            <a:off x="822960" y="30449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304495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/change-architect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304495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Zielzustand einer kleinen Änderung festhalten (Change Brief)</a:t>
            </a:r>
          </a:p>
        </p:txBody>
      </p:sp>
      <p:sp>
        <p:nvSpPr>
          <p:cNvPr id="33" name="Row"/>
          <p:cNvSpPr txBox="1"/>
          <p:nvPr/>
        </p:nvSpPr>
        <p:spPr>
          <a:xfrm>
            <a:off x="822960" y="4773167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7A9A"/>
                </a:solidFill>
                <a:latin typeface="Courier New"/>
              </a:rPr>
              <a:t>&gt;</a:t>
            </a:r>
          </a:p>
        </p:txBody>
      </p:sp>
      <p:sp>
        <p:nvSpPr>
          <p:cNvPr id="34" name="Row"/>
          <p:cNvSpPr txBox="1"/>
          <p:nvPr/>
        </p:nvSpPr>
        <p:spPr>
          <a:xfrm>
            <a:off x="1188720" y="4773167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070"/>
                </a:solidFill>
                <a:latin typeface="Courier New"/>
              </a:rPr>
              <a:t>/just-do-it</a:t>
            </a:r>
          </a:p>
        </p:txBody>
      </p:sp>
      <p:sp>
        <p:nvSpPr>
          <p:cNvPr id="35" name="Row"/>
          <p:cNvSpPr txBox="1"/>
          <p:nvPr/>
        </p:nvSpPr>
        <p:spPr>
          <a:xfrm>
            <a:off x="4251959" y="4773167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AB0C8"/>
                </a:solidFill>
                <a:latin typeface="Arial"/>
              </a:rPr>
              <a:t>route: direct-Brief direkt zu einem Commit — nur manuell aufrufbar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40">
                <a:solidFill>
                  <a:srgbClr val="FF3C00"/>
                </a:solidFill>
                <a:latin typeface="Arial"/>
              </a:rP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751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KI-Erfolg durch Methodik, nicht durch Magie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16152"/>
            <a:ext cx="1051560" cy="4572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8B8B8"/>
                </a:solidFill>
                <a:latin typeface="Courier New"/>
              </a:rPr>
              <a:t>missions/ · features/ · changes/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specs/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epics/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facts/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plans/</a:t>
            </a:r>
            <a:r>
              <a:rPr sz="1150" b="0" i="0">
                <a:solidFill>
                  <a:srgbClr val="B8B8B8"/>
                </a:solidFill>
                <a:latin typeface="Courier New"/>
              </a:rPr>
              <a:t>  →  </a:t>
            </a:r>
            <a:r>
              <a:rPr sz="1150" b="1" i="0">
                <a:solidFill>
                  <a:srgbClr val="FF3C00"/>
                </a:solidFill>
                <a:latin typeface="Courier New"/>
              </a:rPr>
              <a:t>Source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057400"/>
            <a:ext cx="10085832" cy="1143000"/>
          </a:xfrm>
          <a:prstGeom prst="rect">
            <a:avLst/>
          </a:prstGeom>
          <a:solidFill>
            <a:srgbClr val="202020"/>
          </a:solidFill>
          <a:ln w="12700">
            <a:solidFill>
              <a:srgbClr val="3A3A3A"/>
            </a:solidFill>
          </a:ln>
          <a:effectLst/>
        </p:spPr>
        <p:txBody>
          <a:bodyPr rtlCol="0" anchor="ctr" wrap="square" lIns="365760" rIns="365760" tIns="0" bIns="0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Erfolgreiche KI-gestützte Entwicklung basiert nicht auf besseren Coding-Modellen, sondern auf rigoroser Planung, erzwungenen Systemgrenzen und verifizierbarer Orchestrierung.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Fakten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ersetzen Annahmen.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035" y="3566160"/>
            <a:ext cx="10972" cy="6400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20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Spezifikationen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gehen der Ausführung voraus.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1515" y="3566160"/>
            <a:ext cx="10972" cy="6400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35204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3C00"/>
                </a:solidFill>
                <a:latin typeface="Arial"/>
              </a:rPr>
              <a:t>Transparenz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8B8B8"/>
                </a:solidFill>
                <a:latin typeface="Arial"/>
              </a:rPr>
              <a:t>bei jedem Git-Commit.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74920"/>
            <a:ext cx="11183112" cy="777240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txBody>
          <a:bodyPr rtlCol="0" anchor="ctr" wrap="square" lIns="228600" rIns="22860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Von der Vision bis zum ausführbaren Code — jeder Schritt hinterlässt ein Artefakt, das im Frontmatter auf seinen Vorgänger zeigt. Kein Schritt beginnt ohne festgehaltenen Zielzustand.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B8B8"/>
                </a:solidFill>
                <a:latin typeface="Arial"/>
              </a:rPr>
              <a:t>24</a:t>
            </a:r>
          </a:p>
        </p:txBody>
      </p:sp>
      <p:pic>
        <p:nvPicPr>
          <p:cNvPr id="15" name="Picture 14" descr="vier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0"/>
            <a:ext cx="777240" cy="297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