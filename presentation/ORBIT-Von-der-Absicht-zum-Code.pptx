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8" r:id="rId9"/>
    <p:sldId id="276" r:id="rId27"/>
    <p:sldId id="259" r:id="rId10"/>
    <p:sldId id="277" r:id="rId28"/>
    <p:sldId id="274" r:id="rId25"/>
    <p:sldId id="280" r:id="rId31"/>
    <p:sldId id="260" r:id="rId11"/>
    <p:sldId id="262" r:id="rId13"/>
    <p:sldId id="279" r:id="rId30"/>
    <p:sldId id="281" r:id="rId32"/>
    <p:sldId id="275" r:id="rId26"/>
    <p:sldId id="282" r:id="rId33"/>
    <p:sldId id="264" r:id="rId15"/>
    <p:sldId id="265" r:id="rId16"/>
    <p:sldId id="278" r:id="rId29"/>
    <p:sldId id="266" r:id="rId17"/>
    <p:sldId id="270" r:id="rId21"/>
    <p:sldId id="267" r:id="rId18"/>
    <p:sldId id="269" r:id="rId20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4.xml"/><Relationship Id="rId11" Type="http://schemas.openxmlformats.org/officeDocument/2006/relationships/slide" Target="slides/slide8.xml"/><Relationship Id="rId13" Type="http://schemas.openxmlformats.org/officeDocument/2006/relationships/slide" Target="slides/slide9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7.xml"/><Relationship Id="rId18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18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6.xml"/><Relationship Id="rId26" Type="http://schemas.openxmlformats.org/officeDocument/2006/relationships/slide" Target="slides/slide12.xml"/><Relationship Id="rId27" Type="http://schemas.openxmlformats.org/officeDocument/2006/relationships/slide" Target="slides/slide3.xml"/><Relationship Id="rId28" Type="http://schemas.openxmlformats.org/officeDocument/2006/relationships/slide" Target="slides/slide5.xml"/><Relationship Id="rId29" Type="http://schemas.openxmlformats.org/officeDocument/2006/relationships/slide" Target="slides/slide16.xml"/><Relationship Id="rId30" Type="http://schemas.openxmlformats.org/officeDocument/2006/relationships/slide" Target="slides/slide10.xml"/><Relationship Id="rId31" Type="http://schemas.openxmlformats.org/officeDocument/2006/relationships/slide" Target="slides/slide7.xml"/><Relationship Id="rId32" Type="http://schemas.openxmlformats.org/officeDocument/2006/relationships/slide" Target="slides/slide11.xml"/><Relationship Id="rId33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" name="Picture 2" descr="vier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580" y="2443950"/>
            <a:ext cx="1874519" cy="1970098"/>
          </a:xfrm>
          <a:prstGeom prst="rect">
            <a:avLst/>
          </a:prstGeom>
        </p:spPr>
      </p:pic>
      <p:pic>
        <p:nvPicPr>
          <p:cNvPr id="4" name="Picture 3" descr="vie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0095" y="411480"/>
            <a:ext cx="868680" cy="3329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141732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 spc="260">
                <a:solidFill>
                  <a:srgbClr val="FF3C00"/>
                </a:solidFill>
                <a:latin typeface="Arial"/>
              </a:rPr>
              <a:t>AGENTISCHES ENGINEERING-FRAMEWORK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1783080"/>
            <a:ext cx="66751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200" b="1" i="0">
                <a:solidFill>
                  <a:srgbClr val="141414"/>
                </a:solidFill>
                <a:latin typeface="Arial"/>
              </a:rPr>
              <a:t>ORBIT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907792"/>
            <a:ext cx="6675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1">
                <a:solidFill>
                  <a:srgbClr val="5C5C5C"/>
                </a:solidFill>
                <a:latin typeface="Arial"/>
              </a:rPr>
              <a:t>Von der Absicht zum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310128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1">
                <a:solidFill>
                  <a:srgbClr val="8A8A8A"/>
                </a:solidFill>
                <a:latin typeface="Arial"/>
              </a:rPr>
              <a:t>Eine Kette von Dokumenten — V4.1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3822191"/>
            <a:ext cx="1051560" cy="457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937760" y="4160520"/>
            <a:ext cx="365760" cy="365760"/>
          </a:xfrm>
          <a:prstGeom prst="ellipse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68112" y="411480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1414"/>
                </a:solidFill>
                <a:latin typeface="Arial"/>
              </a:rPr>
              <a:t>Die Absicht zuerst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A8A8A"/>
                </a:solidFill>
                <a:latin typeface="Arial"/>
              </a:rPr>
              <a:t>Kein Code ohne festgehaltenen Zielzustand</a:t>
            </a:r>
          </a:p>
        </p:txBody>
      </p:sp>
      <p:sp>
        <p:nvSpPr>
          <p:cNvPr id="12" name="Oval 11"/>
          <p:cNvSpPr/>
          <p:nvPr/>
        </p:nvSpPr>
        <p:spPr>
          <a:xfrm>
            <a:off x="4937760" y="4873752"/>
            <a:ext cx="365760" cy="365760"/>
          </a:xfrm>
          <a:prstGeom prst="ellipse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68112" y="4828032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1414"/>
                </a:solidFill>
                <a:latin typeface="Arial"/>
              </a:rPr>
              <a:t>Der Weg richtet sich nach der Absicht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A8A8A"/>
                </a:solidFill>
                <a:latin typeface="Arial"/>
              </a:rPr>
              <a:t>Fünf Längen derselben Kette — vom Projekt bis zum Einzeiler</a:t>
            </a:r>
          </a:p>
        </p:txBody>
      </p:sp>
      <p:sp>
        <p:nvSpPr>
          <p:cNvPr id="14" name="Oval 13"/>
          <p:cNvSpPr/>
          <p:nvPr/>
        </p:nvSpPr>
        <p:spPr>
          <a:xfrm>
            <a:off x="4937760" y="5586984"/>
            <a:ext cx="365760" cy="365760"/>
          </a:xfrm>
          <a:prstGeom prst="ellipse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68112" y="5541264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1414"/>
                </a:solidFill>
                <a:latin typeface="Arial"/>
              </a:rPr>
              <a:t>Jedes Glied belegt seinen Vorgänger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A8A8A"/>
                </a:solidFill>
                <a:latin typeface="Arial"/>
              </a:rPr>
              <a:t>Von der Absicht bis zum Git-Commit nachverfolgbar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40">
                <a:solidFill>
                  <a:srgbClr val="FF3C00"/>
                </a:solidFill>
                <a:latin typeface="Arial"/>
              </a:rPr>
              <a:t>DAS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6751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41414"/>
                </a:solidFill>
                <a:latin typeface="Arial"/>
              </a:rPr>
              <a:t>Die Absicht stand nur im Prompt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16152"/>
            <a:ext cx="1051560" cy="457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C5C5C"/>
                </a:solidFill>
                <a:latin typeface="Arial"/>
              </a:rPr>
              <a:t>Keine Absicht überlebt die Session, in der sie ausgesprochen wurde — es sei denn, jemand schreibt sie auf.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057400"/>
            <a:ext cx="5408676" cy="333756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13432"/>
            <a:ext cx="2331720" cy="2743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950" b="1" i="0" spc="120">
                <a:solidFill>
                  <a:srgbClr val="FFFFFF"/>
                </a:solidFill>
                <a:latin typeface="Arial"/>
              </a:rPr>
              <a:t>OHNE KETTE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70632"/>
            <a:ext cx="486003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F3C00"/>
                </a:solidFill>
                <a:latin typeface="Arial"/>
              </a:rPr>
              <a:t>Die Absicht verschwindet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>Was gewollt war, stand im Prompt — und der ist mit der Session weg.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611880"/>
            <a:ext cx="486003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F3C00"/>
                </a:solidFill>
                <a:latin typeface="Arial"/>
              </a:rPr>
              <a:t>Nichts ist belegt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>Der Ist-Zustand wird vermutet statt erhoben. Befund und Halluzination sehen gleich aus.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453128"/>
            <a:ext cx="486003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F3C00"/>
                </a:solidFill>
                <a:latin typeface="Arial"/>
              </a:rPr>
              <a:t>Niemand prüft gegen etwas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>Ohne festgehaltene Absicht gibt es kein Kriterium, an dem die Arbeit scheitern könnte.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7356" y="2057400"/>
            <a:ext cx="5408676" cy="333756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77356" y="2057400"/>
            <a:ext cx="5408676" cy="50292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51676" y="2313432"/>
            <a:ext cx="2377440" cy="27432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950" b="1" i="0" spc="120">
                <a:solidFill>
                  <a:srgbClr val="FFFFFF"/>
                </a:solidFill>
                <a:latin typeface="Arial"/>
              </a:rPr>
              <a:t>MIT KETTE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51676" y="2752344"/>
            <a:ext cx="1691640" cy="2560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73152" rIns="0" tIns="0" bIns="0"/>
          <a:lstStyle/>
          <a:p>
            <a:pPr algn="l">
              <a:spcAft>
                <a:spcPts val="0"/>
              </a:spcAft>
            </a:pPr>
            <a:r>
              <a:rPr sz="950" b="1" i="0" spc="80">
                <a:solidFill>
                  <a:srgbClr val="FFFFFF"/>
                </a:solidFill>
                <a:latin typeface="Arial"/>
              </a:rPr>
              <a:t>ABSICHT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0475" y="2734056"/>
            <a:ext cx="29855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>Warum und Was — festgehalten, bevor irgendwer Code liest.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51676" y="3401568"/>
            <a:ext cx="1691640" cy="2560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73152" rIns="0" tIns="0" bIns="0"/>
          <a:lstStyle/>
          <a:p>
            <a:pPr algn="l">
              <a:spcAft>
                <a:spcPts val="0"/>
              </a:spcAft>
            </a:pPr>
            <a:r>
              <a:rPr sz="950" b="1" i="0" spc="80">
                <a:solidFill>
                  <a:srgbClr val="FFFFFF"/>
                </a:solidFill>
                <a:latin typeface="Arial"/>
              </a:rPr>
              <a:t>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0475" y="3383279"/>
            <a:ext cx="29855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>Codebasis und externes Wissen erhoben — mit Belegen, nicht aus Erinnerung.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1676" y="4050791"/>
            <a:ext cx="1691640" cy="2560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73152" rIns="0" tIns="0" bIns="0"/>
          <a:lstStyle/>
          <a:p>
            <a:pPr algn="l">
              <a:spcAft>
                <a:spcPts val="0"/>
              </a:spcAft>
            </a:pPr>
            <a:r>
              <a:rPr sz="950" b="1" i="0" spc="80">
                <a:solidFill>
                  <a:srgbClr val="FFFFFF"/>
                </a:solidFill>
                <a:latin typeface="Arial"/>
              </a:rPr>
              <a:t>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0475" y="4032504"/>
            <a:ext cx="29855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>Der Weg vom Ist zur Absicht — jede Aufgabe mit Zitat.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51676" y="4700016"/>
            <a:ext cx="1691640" cy="2560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73152" rIns="0" tIns="0" bIns="0"/>
          <a:lstStyle/>
          <a:p>
            <a:pPr algn="l">
              <a:spcAft>
                <a:spcPts val="0"/>
              </a:spcAft>
            </a:pPr>
            <a:r>
              <a:rPr sz="950" b="1" i="0" spc="80">
                <a:solidFill>
                  <a:srgbClr val="FFFFFF"/>
                </a:solidFill>
                <a:latin typeface="Arial"/>
              </a:rPr>
              <a:t>UMSETZUNG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0475" y="4681728"/>
            <a:ext cx="29855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>Umsetzen — und gegen die Absicht prüfen lassen.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650992"/>
            <a:ext cx="11183112" cy="566928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228600" rIns="22860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Die Goldene Regel: Kein Glied ohne Vorgänger. Jedes Dokument setzt das Artefakt des vorherigen voraus.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2</a:t>
            </a:r>
          </a:p>
        </p:txBody>
      </p:sp>
      <p:pic>
        <p:nvPicPr>
          <p:cNvPr id="24" name="Picture 23" descr="vi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400800"/>
            <a:ext cx="777240" cy="2978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"/>
          <p:cNvSpPr txBox="1"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40">
                <a:solidFill>
                  <a:srgbClr val="FF3C00"/>
                </a:solidFill>
                <a:latin typeface="Arial"/>
              </a:rPr>
              <a:t xml:space="preserve">WARUM SO VIELE DOKUMENTE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502920" y="66751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41414"/>
                </a:solidFill>
                <a:latin typeface="Arial"/>
              </a:rPr>
              <a:t xml:space="preserve">Damit die KI das Projekt versteht</a:t>
            </a:r>
          </a:p>
        </p:txBody>
      </p:sp>
      <p:sp>
        <p:nvSpPr>
          <p:cNvPr id="4" name="Rule"/>
          <p:cNvSpPr/>
          <p:nvPr/>
        </p:nvSpPr>
        <p:spPr>
          <a:xfrm>
            <a:off x="502920" y="1216152"/>
            <a:ext cx="1051560" cy="457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"/>
          <p:cNvSpPr txBox="1"/>
          <p:nvPr/>
        </p:nvSpPr>
        <p:spPr>
          <a:xfrm>
            <a:off x="502920" y="1481328"/>
            <a:ext cx="10600000" cy="5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C5C5C"/>
                </a:solidFill>
                <a:latin typeface="Arial"/>
              </a:rPr>
              <a:t xml:space="preserve">Jedes Artefakt ist Kontext. Keine Entscheidung entsteht in Isolation — sie stützt sich auf die Absicht des Projekts und auf alle bisher getroffenen Entscheidungen.</a:t>
            </a:r>
          </a:p>
        </p:txBody>
      </p:sp>
      <p:sp>
        <p:nvSpPr>
          <p:cNvPr id="6" name="Num"/>
          <p:cNvSpPr/>
          <p:nvPr/>
        </p:nvSpPr>
        <p:spPr>
          <a:xfrm>
            <a:off x="502920" y="2450000"/>
            <a:ext cx="380000" cy="380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502920" y="245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 xml:space="preserve">1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1022920" y="2430000"/>
            <a:ext cx="5250000" cy="8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141414"/>
                </a:solidFill>
                <a:latin typeface="Arial"/>
              </a:rPr>
              <a:t xml:space="preserve">Das Modell hat kein Gedächtnis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 xml:space="preserve">Zwischen den Schritten vergisst die KI alles Vorherige. Die Artefakte sind ihr persistenter, gemeinsamer Kontext.</a:t>
            </a:r>
          </a:p>
        </p:txBody>
      </p:sp>
      <p:sp>
        <p:nvSpPr>
          <p:cNvPr id="9" name="Num"/>
          <p:cNvSpPr/>
          <p:nvPr/>
        </p:nvSpPr>
        <p:spPr>
          <a:xfrm>
            <a:off x="502920" y="3400000"/>
            <a:ext cx="380000" cy="380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502920" y="340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 xml:space="preserve">2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1022920" y="3380000"/>
            <a:ext cx="5250000" cy="8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141414"/>
                </a:solidFill>
                <a:latin typeface="Arial"/>
              </a:rPr>
              <a:t xml:space="preserve">Keine Entscheidung in Isolation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 xml:space="preserve">Jede neue Entscheidung setzt die Absicht des Projekts und alle bisher getroffenen Entscheidungen voraus.</a:t>
            </a:r>
          </a:p>
        </p:txBody>
      </p:sp>
      <p:sp>
        <p:nvSpPr>
          <p:cNvPr id="12" name="Num"/>
          <p:cNvSpPr/>
          <p:nvPr/>
        </p:nvSpPr>
        <p:spPr>
          <a:xfrm>
            <a:off x="502920" y="4350000"/>
            <a:ext cx="380000" cy="380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"/>
          <p:cNvSpPr txBox="1"/>
          <p:nvPr/>
        </p:nvSpPr>
        <p:spPr>
          <a:xfrm>
            <a:off x="502920" y="435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 xml:space="preserve">3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1022920" y="4330000"/>
            <a:ext cx="5250000" cy="8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141414"/>
                </a:solidFill>
                <a:latin typeface="Arial"/>
              </a:rPr>
              <a:t xml:space="preserve">Kontext führt zur richtigen Wahl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 xml:space="preserve">Erst das Verständnis von Ziel und Historie macht aus einer beliebigen eine fundierte Entscheidung.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6600000" y="2057400"/>
            <a:ext cx="5088775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 spc="120">
                <a:solidFill>
                  <a:srgbClr val="8A8A8A"/>
                </a:solidFill>
                <a:latin typeface="Arial"/>
              </a:rPr>
              <a:t xml:space="preserve">SO ENTSTEHT EINE GUTE ENTSCHEIDUNG</a:t>
            </a:r>
          </a:p>
        </p:txBody>
      </p:sp>
      <p:sp>
        <p:nvSpPr>
          <p:cNvPr id="16" name="FBox"/>
          <p:cNvSpPr/>
          <p:nvPr/>
        </p:nvSpPr>
        <p:spPr>
          <a:xfrm>
            <a:off x="6600000" y="2470000"/>
            <a:ext cx="5088775" cy="64000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"/>
          <p:cNvSpPr txBox="1"/>
          <p:nvPr/>
        </p:nvSpPr>
        <p:spPr>
          <a:xfrm>
            <a:off x="6600000" y="2470000"/>
            <a:ext cx="5088775" cy="6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 spc="80">
                <a:solidFill>
                  <a:srgbClr val="141414"/>
                </a:solidFill>
                <a:latin typeface="Arial"/>
              </a:rPr>
              <a:t xml:space="preserve">ABSICHT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C5C5C"/>
                </a:solidFill>
                <a:latin typeface="Arial"/>
              </a:rPr>
              <a:t xml:space="preserve">Das Warum des Projekts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6600000" y="3170000"/>
            <a:ext cx="5088775" cy="30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 xml:space="preserve">+</a:t>
            </a:r>
          </a:p>
        </p:txBody>
      </p:sp>
      <p:sp>
        <p:nvSpPr>
          <p:cNvPr id="19" name="FBox"/>
          <p:cNvSpPr/>
          <p:nvPr/>
        </p:nvSpPr>
        <p:spPr>
          <a:xfrm>
            <a:off x="6600000" y="3490000"/>
            <a:ext cx="5088775" cy="64000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"/>
          <p:cNvSpPr txBox="1"/>
          <p:nvPr/>
        </p:nvSpPr>
        <p:spPr>
          <a:xfrm>
            <a:off x="6600000" y="3490000"/>
            <a:ext cx="5088775" cy="6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 spc="80">
                <a:solidFill>
                  <a:srgbClr val="141414"/>
                </a:solidFill>
                <a:latin typeface="Arial"/>
              </a:rPr>
              <a:t xml:space="preserve">BISHERIGE ENTSCHEIDUNGEN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C5C5C"/>
                </a:solidFill>
                <a:latin typeface="Arial"/>
              </a:rPr>
              <a:t xml:space="preserve">Die gesamte Artefakt-Kette</a:t>
            </a:r>
          </a:p>
        </p:txBody>
      </p:sp>
      <p:sp>
        <p:nvSpPr>
          <p:cNvPr id="21" name="TextBox"/>
          <p:cNvSpPr txBox="1"/>
          <p:nvPr/>
        </p:nvSpPr>
        <p:spPr>
          <a:xfrm>
            <a:off x="6600000" y="4190000"/>
            <a:ext cx="5088775" cy="30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 xml:space="preserve">=</a:t>
            </a:r>
          </a:p>
        </p:txBody>
      </p:sp>
      <p:sp>
        <p:nvSpPr>
          <p:cNvPr id="22" name="FBox"/>
          <p:cNvSpPr/>
          <p:nvPr/>
        </p:nvSpPr>
        <p:spPr>
          <a:xfrm>
            <a:off x="6600000" y="4510000"/>
            <a:ext cx="5088775" cy="640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TextBox"/>
          <p:cNvSpPr txBox="1"/>
          <p:nvPr/>
        </p:nvSpPr>
        <p:spPr>
          <a:xfrm>
            <a:off x="6600000" y="4510000"/>
            <a:ext cx="5088775" cy="6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 spc="80">
                <a:solidFill>
                  <a:srgbClr val="FFFFFF"/>
                </a:solidFill>
                <a:latin typeface="Arial"/>
              </a:rPr>
              <a:t xml:space="preserve">DIE RICHTIGE ENTSCHEIDUNG</a:t>
            </a:r>
          </a:p>
        </p:txBody>
      </p:sp>
      <p:sp>
        <p:nvSpPr>
          <p:cNvPr id="24" name="Banner"/>
          <p:cNvSpPr/>
          <p:nvPr/>
        </p:nvSpPr>
        <p:spPr>
          <a:xfrm>
            <a:off x="502920" y="5650992"/>
            <a:ext cx="11183112" cy="56692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"/>
          <p:cNvSpPr txBox="1"/>
          <p:nvPr/>
        </p:nvSpPr>
        <p:spPr>
          <a:xfrm>
            <a:off x="502920" y="5650992"/>
            <a:ext cx="11183112" cy="566928"/>
          </a:xfrm>
          <a:prstGeom prst="rect">
            <a:avLst/>
          </a:prstGeom>
          <a:noFill/>
        </p:spPr>
        <p:txBody>
          <a:bodyPr wrap="square" lIns="228600" rIns="0" tIns="0" bIns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 xml:space="preserve">Die Dokumente sind kein Overhead — sie sind das geteilte Gedächtnis, das jede Entscheidung trägt.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502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 xml:space="preserve">3</a:t>
            </a:r>
          </a:p>
        </p:txBody>
      </p:sp>
      <p:pic>
        <p:nvPicPr>
          <p:cNvPr id="27" name="Picture" descr="vi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400800"/>
            <a:ext cx="777240" cy="2978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40">
                <a:solidFill>
                  <a:srgbClr val="FF3C00"/>
                </a:solidFill>
                <a:latin typeface="Arial"/>
              </a:rPr>
              <a:t>DIE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6751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41414"/>
                </a:solidFill>
                <a:latin typeface="Arial"/>
              </a:rPr>
              <a:t>ORBIT ist eine Kette von Dokumenten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16152"/>
            <a:ext cx="1051560" cy="457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1">
                <a:solidFill>
                  <a:srgbClr val="FF3C00"/>
                </a:solidFill>
                <a:latin typeface="Arial"/>
              </a:rPr>
              <a:t>Kein Werkzeugkasten, keine Sammlung von Befehlen — eine Kette, die bei der Absicht beginnt und im Code endet.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93392"/>
            <a:ext cx="540867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41414"/>
                </a:solidFill>
                <a:latin typeface="Arial"/>
              </a:rPr>
              <a:t>Jeder Skill ist eine Transformation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 i="0">
                <a:solidFill>
                  <a:srgbClr val="5C5C5C"/>
                </a:solidFill>
                <a:latin typeface="Arial"/>
              </a:rPr>
              <a:t>Ein Artefakt rein, ein Artefakt raus. Die Informationsdichte steigt mit jedem Glied.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182112"/>
            <a:ext cx="5408676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3C00"/>
            </a:solidFill>
          </a:ln>
          <a:effectLst/>
        </p:spPr>
        <p:txBody>
          <a:bodyPr rtlCol="0" anchor="ctr" wrap="square" lIns="164592" rIns="164592" tIns="0" bIns="0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41414"/>
                </a:solidFill>
                <a:latin typeface="Arial"/>
              </a:rPr>
              <a:t>Alle Artefakte leben in </a:t>
            </a:r>
            <a:r>
              <a:rPr sz="1050" b="1" i="0">
                <a:solidFill>
                  <a:srgbClr val="FF3C00"/>
                </a:solidFill>
                <a:latin typeface="Courier New"/>
              </a:rPr>
              <a:t>thoughts/shared/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 i="0">
                <a:solidFill>
                  <a:srgbClr val="5C5C5C"/>
                </a:solidFill>
                <a:latin typeface="Arial"/>
              </a:rPr>
              <a:t>Jedes Artefakt nennt seinen Vorgänger im Frontmatter — ein lückenloses Audit-Log.</a:t>
            </a:r>
          </a:p>
          <a:p>
            <a:pPr algn="l">
              <a:spcAft>
                <a:spcPts val="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6277356" y="1993392"/>
            <a:ext cx="540867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41414"/>
                </a:solidFill>
                <a:latin typeface="Arial"/>
              </a:rPr>
              <a:t>Die Ausnahmeregel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7356" y="2304288"/>
            <a:ext cx="540867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5C5C5C"/>
                </a:solidFill>
                <a:latin typeface="Arial"/>
              </a:rPr>
              <a:t>Die Skills </a:t>
            </a:r>
            <a:r>
              <a:rPr sz="1100" b="1" i="0">
                <a:solidFill>
                  <a:srgbClr val="FF3C00"/>
                </a:solidFill>
                <a:latin typeface="Courier New"/>
              </a:rPr>
              <a:t>/mission-architect</a:t>
            </a:r>
            <a:r>
              <a:rPr sz="1100" b="0" i="0">
                <a:solidFill>
                  <a:srgbClr val="5C5C5C"/>
                </a:solidFill>
                <a:latin typeface="Arial"/>
              </a:rPr>
              <a:t>, </a:t>
            </a:r>
            <a:r>
              <a:rPr sz="1100" b="1" i="0">
                <a:solidFill>
                  <a:srgbClr val="FF3C00"/>
                </a:solidFill>
                <a:latin typeface="Courier New"/>
              </a:rPr>
              <a:t>/feature-architect und /change-architect</a:t>
            </a:r>
            <a:r>
              <a:rPr sz="1100" b="0" i="0">
                <a:solidFill>
                  <a:srgbClr val="5C5C5C"/>
                </a:solidFill>
                <a:latin typeface="Arial"/>
              </a:rPr>
              <a:t> lesen kein Artefakt — sie starten die Kette aus einem Gespräch.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7356" y="3182112"/>
            <a:ext cx="5408676" cy="86868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164592" rIns="164592" tIns="0" bIns="0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141414"/>
                </a:solidFill>
                <a:latin typeface="Arial"/>
              </a:rPr>
              <a:t>Alle anderen folgen der Regel: ein Eingabe-Artefakt rein, ein Ausgabe-Artefakt raus. Das Ende der Kette ist ausführbarer Code — oder die festgehaltene Entscheidung, keinen zu schreiben.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370832"/>
            <a:ext cx="11183112" cy="1755648"/>
          </a:xfrm>
          <a:prstGeom prst="rect">
            <a:avLst/>
          </a:prstGeom>
          <a:solidFill>
            <a:srgbClr val="F2F1EF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535424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 spc="200">
                <a:solidFill>
                  <a:srgbClr val="8A8A8A"/>
                </a:solidFill>
                <a:latin typeface="Arial"/>
              </a:rPr>
              <a:t>DIE LÄNGSTE FORM  (NEUES PROJEKT)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4937760"/>
            <a:ext cx="1481328" cy="4572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urier New"/>
              </a:rPr>
              <a:t>missions/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5440680"/>
            <a:ext cx="16642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1">
                <a:solidFill>
                  <a:srgbClr val="8A8A8A"/>
                </a:solidFill>
                <a:latin typeface="Arial"/>
              </a:rPr>
              <a:t>Das Warum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4937760"/>
            <a:ext cx="411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14600" y="4937760"/>
            <a:ext cx="1481328" cy="4572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urier New"/>
              </a:rPr>
              <a:t>specs/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5440680"/>
            <a:ext cx="16642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1">
                <a:solidFill>
                  <a:srgbClr val="8A8A8A"/>
                </a:solidFill>
                <a:latin typeface="Arial"/>
              </a:rPr>
              <a:t>Das Was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95928" y="4937760"/>
            <a:ext cx="411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07408" y="4937760"/>
            <a:ext cx="1481328" cy="4572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urier New"/>
              </a:rPr>
              <a:t>epics/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5968" y="5440680"/>
            <a:ext cx="16642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1">
                <a:solidFill>
                  <a:srgbClr val="8A8A8A"/>
                </a:solidFill>
                <a:latin typeface="Arial"/>
              </a:rPr>
              <a:t>Die Ströme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88736" y="4937760"/>
            <a:ext cx="411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0216" y="4937760"/>
            <a:ext cx="1481328" cy="4572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urier New"/>
              </a:rPr>
              <a:t>facts/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08776" y="5440680"/>
            <a:ext cx="16642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1">
                <a:solidFill>
                  <a:srgbClr val="8A8A8A"/>
                </a:solidFill>
                <a:latin typeface="Arial"/>
              </a:rPr>
              <a:t>Das 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81544" y="4937760"/>
            <a:ext cx="411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93024" y="4937760"/>
            <a:ext cx="1481328" cy="4572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urier New"/>
              </a:rPr>
              <a:t>plans/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01584" y="5440680"/>
            <a:ext cx="16642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1">
                <a:solidFill>
                  <a:srgbClr val="8A8A8A"/>
                </a:solidFill>
                <a:latin typeface="Arial"/>
              </a:rPr>
              <a:t>Der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74352" y="4937760"/>
            <a:ext cx="411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85832" y="4937760"/>
            <a:ext cx="1481328" cy="4572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urier New"/>
              </a:rPr>
              <a:t>Source Code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94392" y="5440680"/>
            <a:ext cx="16642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1">
                <a:solidFill>
                  <a:srgbClr val="8A8A8A"/>
                </a:solidFill>
                <a:latin typeface="Arial"/>
              </a:rPr>
              <a:t>Git-Commits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852160"/>
            <a:ext cx="1118311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1">
                <a:solidFill>
                  <a:srgbClr val="5C5C5C"/>
                </a:solidFill>
                <a:latin typeface="Arial"/>
              </a:rPr>
              <a:t>Das ist die längste Form. Wie die Kette schrumpft, wenn die Absicht kleiner ist, zeigt die nächste Folie.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4</a:t>
            </a:r>
          </a:p>
        </p:txBody>
      </p:sp>
      <p:pic>
        <p:nvPicPr>
          <p:cNvPr id="32" name="Picture 31" descr="vi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400800"/>
            <a:ext cx="777240" cy="2978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"/>
          <p:cNvSpPr txBox="1"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40">
                <a:solidFill>
                  <a:srgbClr val="FF3C00"/>
                </a:solidFill>
                <a:latin typeface="Arial"/>
              </a:rPr>
              <a:t xml:space="preserve">NACHVERFOLGBARKEIT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502920" y="66751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41414"/>
                </a:solidFill>
                <a:latin typeface="Arial"/>
              </a:rPr>
              <a:t xml:space="preserve">Die Kette ist maschinenlesbar</a:t>
            </a:r>
          </a:p>
        </p:txBody>
      </p:sp>
      <p:sp>
        <p:nvSpPr>
          <p:cNvPr id="4" name="Rule"/>
          <p:cNvSpPr/>
          <p:nvPr/>
        </p:nvSpPr>
        <p:spPr>
          <a:xfrm>
            <a:off x="502920" y="1216152"/>
            <a:ext cx="1051560" cy="457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"/>
          <p:cNvSpPr txBox="1"/>
          <p:nvPr/>
        </p:nvSpPr>
        <p:spPr>
          <a:xfrm>
            <a:off x="502920" y="1481328"/>
            <a:ext cx="10600000" cy="5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C5C5C"/>
                </a:solidFill>
                <a:latin typeface="Arial"/>
              </a:rPr>
              <a:t xml:space="preserve">Eine Kette ist es nur, wenn die Glieder wirklich aufeinander zeigen. Jedes Artefakt trägt YAML-Frontmatter, das seinen Vorgänger benennt — die Kette ist damit in beide Richtungen traversierbar, nicht per Konvention, sondern per Feld.</a:t>
            </a:r>
          </a:p>
        </p:txBody>
      </p:sp>
      <p:sp>
        <p:nvSpPr>
          <p:cNvPr id="6" name="Num"/>
          <p:cNvSpPr/>
          <p:nvPr/>
        </p:nvSpPr>
        <p:spPr>
          <a:xfrm>
            <a:off x="502920" y="2450000"/>
            <a:ext cx="380000" cy="380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502920" y="245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 xml:space="preserve">1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1022920" y="2430000"/>
            <a:ext cx="5250000" cy="8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141414"/>
                </a:solidFill>
                <a:latin typeface="Arial"/>
              </a:rPr>
              <a:t xml:space="preserve">Rückwärtszeiger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 xml:space="preserve">mission-source:, spec-source:, fact-source:, plan:, change-brief: oder das generische upstream-artifact: — immer ein repo-relativer Pfad oder das Literal none.</a:t>
            </a:r>
          </a:p>
        </p:txBody>
      </p:sp>
      <p:sp>
        <p:nvSpPr>
          <p:cNvPr id="9" name="Num"/>
          <p:cNvSpPr/>
          <p:nvPr/>
        </p:nvSpPr>
        <p:spPr>
          <a:xfrm>
            <a:off x="502920" y="3400000"/>
            <a:ext cx="380000" cy="380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502920" y="340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 xml:space="preserve">2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1022920" y="3380000"/>
            <a:ext cx="5250000" cy="8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141414"/>
                </a:solidFill>
                <a:latin typeface="Arial"/>
              </a:rPr>
              <a:t xml:space="preserve">status: beschreibt das Dokument, nicht die Arbeit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 xml:space="preserve">complete, superseded, ready-for-research. Ob ein Plan ausgeführt wurde, steht in seiner STATE-Datei; der Change Record verfolgt seinen Ausführungsversuch selbst.</a:t>
            </a:r>
          </a:p>
        </p:txBody>
      </p:sp>
      <p:sp>
        <p:nvSpPr>
          <p:cNvPr id="12" name="Num"/>
          <p:cNvSpPr/>
          <p:nvPr/>
        </p:nvSpPr>
        <p:spPr>
          <a:xfrm>
            <a:off x="502920" y="4350000"/>
            <a:ext cx="380000" cy="380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"/>
          <p:cNvSpPr txBox="1"/>
          <p:nvPr/>
        </p:nvSpPr>
        <p:spPr>
          <a:xfrm>
            <a:off x="502920" y="435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 xml:space="preserve">3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1022920" y="4330000"/>
            <a:ext cx="5250000" cy="8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141414"/>
                </a:solidFill>
                <a:latin typeface="Arial"/>
              </a:rPr>
              <a:t xml:space="preserve">Der schreibende Skill signiert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 xml:space="preserve">change-architect:, fact-finder:, feature-architect:, just-do-it:, planner: — wer ein Artefakt erzeugt hat, steht im Artefakt selbst.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6600000" y="2057400"/>
            <a:ext cx="5088775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 spc="120">
                <a:solidFill>
                  <a:srgbClr val="8A8A8A"/>
                </a:solidFill>
                <a:latin typeface="Arial"/>
              </a:rPr>
              <a:t xml:space="preserve">WER ZEIGT AUF WEN</a:t>
            </a:r>
          </a:p>
        </p:txBody>
      </p:sp>
      <p:sp>
        <p:nvSpPr>
          <p:cNvPr id="16" name="FBox"/>
          <p:cNvSpPr/>
          <p:nvPr/>
        </p:nvSpPr>
        <p:spPr>
          <a:xfrm>
            <a:off x="6600000" y="2470000"/>
            <a:ext cx="5088775" cy="64000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"/>
          <p:cNvSpPr txBox="1"/>
          <p:nvPr/>
        </p:nvSpPr>
        <p:spPr>
          <a:xfrm>
            <a:off x="6600000" y="2470000"/>
            <a:ext cx="5088775" cy="6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 spc="80">
                <a:solidFill>
                  <a:srgbClr val="141414"/>
                </a:solidFill>
                <a:latin typeface="Arial"/>
              </a:rPr>
              <a:t xml:space="preserve">mission  →  spec  →  epic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C5C5C"/>
                </a:solidFill>
                <a:latin typeface="Arial"/>
              </a:rPr>
              <a:t xml:space="preserve">mission-source:   ·   spec-source: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6600000" y="3170000"/>
            <a:ext cx="5088775" cy="30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 xml:space="preserve">↓</a:t>
            </a:r>
          </a:p>
        </p:txBody>
      </p:sp>
      <p:sp>
        <p:nvSpPr>
          <p:cNvPr id="19" name="FBox"/>
          <p:cNvSpPr/>
          <p:nvPr/>
        </p:nvSpPr>
        <p:spPr>
          <a:xfrm>
            <a:off x="6600000" y="3490000"/>
            <a:ext cx="5088775" cy="64000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"/>
          <p:cNvSpPr txBox="1"/>
          <p:nvPr/>
        </p:nvSpPr>
        <p:spPr>
          <a:xfrm>
            <a:off x="6600000" y="3490000"/>
            <a:ext cx="5088775" cy="6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 spc="80">
                <a:solidFill>
                  <a:srgbClr val="141414"/>
                </a:solidFill>
                <a:latin typeface="Arial"/>
              </a:rPr>
              <a:t xml:space="preserve">fact report  /  QA report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C5C5C"/>
                </a:solidFill>
                <a:latin typeface="Arial"/>
              </a:rPr>
              <a:t xml:space="preserve">upstream-artifact:  —  Epic, Feature-Brief oder Change Brief</a:t>
            </a:r>
          </a:p>
        </p:txBody>
      </p:sp>
      <p:sp>
        <p:nvSpPr>
          <p:cNvPr id="21" name="TextBox"/>
          <p:cNvSpPr txBox="1"/>
          <p:nvPr/>
        </p:nvSpPr>
        <p:spPr>
          <a:xfrm>
            <a:off x="6600000" y="4190000"/>
            <a:ext cx="5088775" cy="30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 xml:space="preserve">↓</a:t>
            </a:r>
          </a:p>
        </p:txBody>
      </p:sp>
      <p:sp>
        <p:nvSpPr>
          <p:cNvPr id="22" name="FBox"/>
          <p:cNvSpPr/>
          <p:nvPr/>
        </p:nvSpPr>
        <p:spPr>
          <a:xfrm>
            <a:off x="6600000" y="4510000"/>
            <a:ext cx="5088775" cy="640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TextBox"/>
          <p:cNvSpPr txBox="1"/>
          <p:nvPr/>
        </p:nvSpPr>
        <p:spPr>
          <a:xfrm>
            <a:off x="6600000" y="4510000"/>
            <a:ext cx="5088775" cy="6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 spc="80">
                <a:solidFill>
                  <a:srgbClr val="FFFFFF"/>
                </a:solidFill>
                <a:latin typeface="Arial"/>
              </a:rPr>
              <a:t xml:space="preserve">plan  →  STATE   —   fact-source:  ·  plan:</a:t>
            </a:r>
          </a:p>
        </p:txBody>
      </p:sp>
      <p:sp>
        <p:nvSpPr>
          <p:cNvPr id="24" name="Banner"/>
          <p:cNvSpPr/>
          <p:nvPr/>
        </p:nvSpPr>
        <p:spPr>
          <a:xfrm>
            <a:off x="502920" y="5650992"/>
            <a:ext cx="11183112" cy="56692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"/>
          <p:cNvSpPr txBox="1"/>
          <p:nvPr/>
        </p:nvSpPr>
        <p:spPr>
          <a:xfrm>
            <a:off x="502920" y="5650992"/>
            <a:ext cx="11183112" cy="566928"/>
          </a:xfrm>
          <a:prstGeom prst="rect">
            <a:avLst/>
          </a:prstGeom>
          <a:noFill/>
        </p:spPr>
        <p:txBody>
          <a:bodyPr wrap="square" lIns="228600" rIns="0" tIns="0" bIns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 xml:space="preserve">/planner kopiert upstream-artifact: wörtlich — und /implement liest genau diese Kopie, um den Verification Plan des Epics zu finden.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502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 xml:space="preserve">5</a:t>
            </a:r>
          </a:p>
        </p:txBody>
      </p:sp>
      <p:pic>
        <p:nvPicPr>
          <p:cNvPr id="27" name="Picture" descr="vi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400800"/>
            <a:ext cx="777240" cy="2978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"/>
          <p:cNvSpPr txBox="1"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40">
                <a:solidFill>
                  <a:srgbClr val="FF3C00"/>
                </a:solidFill>
                <a:latin typeface="Arial"/>
              </a:rPr>
              <a:t xml:space="preserve">DIE DREI GLIEDER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502920" y="66751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41414"/>
                </a:solidFill>
                <a:latin typeface="Arial"/>
              </a:rPr>
              <a:t xml:space="preserve">Absicht — Ist — Plan</a:t>
            </a:r>
          </a:p>
        </p:txBody>
      </p:sp>
      <p:sp>
        <p:nvSpPr>
          <p:cNvPr id="4" name="Rule"/>
          <p:cNvSpPr/>
          <p:nvPr/>
        </p:nvSpPr>
        <p:spPr>
          <a:xfrm>
            <a:off x="502920" y="1216152"/>
            <a:ext cx="1051560" cy="457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"/>
          <p:cNvSpPr txBox="1"/>
          <p:nvPr/>
        </p:nvSpPr>
        <p:spPr>
          <a:xfrm>
            <a:off x="502920" y="1481328"/>
            <a:ext cx="10600000" cy="5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C5C5C"/>
                </a:solidFill>
                <a:latin typeface="Arial"/>
              </a:rPr>
              <a:t xml:space="preserve">Jede Code-Änderung folgt demselben Muster — erst drei Glieder, dann die Umsetzung. Nur ihre Tiefe variiert: ob Greenfield, Brownfield oder Einzeiler.</a:t>
            </a:r>
          </a:p>
        </p:txBody>
      </p:sp>
      <p:sp>
        <p:nvSpPr>
          <p:cNvPr id="6" name="ZoneLabel"/>
          <p:cNvSpPr/>
          <p:nvPr/>
        </p:nvSpPr>
        <p:spPr>
          <a:xfrm>
            <a:off x="502920" y="2057400"/>
            <a:ext cx="2057400" cy="2743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502920" y="205740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 spc="120">
                <a:solidFill>
                  <a:srgbClr val="FFFFFF"/>
                </a:solidFill>
                <a:latin typeface="Arial"/>
              </a:rPr>
              <a:t xml:space="preserve">DAS UNIVERSELLE MUSTER</a:t>
            </a:r>
          </a:p>
        </p:txBody>
      </p:sp>
      <p:sp>
        <p:nvSpPr>
          <p:cNvPr id="8" name="NumBadge"/>
          <p:cNvSpPr/>
          <p:nvPr/>
        </p:nvSpPr>
        <p:spPr>
          <a:xfrm>
            <a:off x="502920" y="2500000"/>
            <a:ext cx="380000" cy="380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502920" y="250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 xml:space="preserve">1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1022920" y="2480000"/>
            <a:ext cx="4230000" cy="7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141414"/>
                </a:solidFill>
                <a:latin typeface="Arial"/>
              </a:rPr>
              <a:t xml:space="preserve">ABSICHT — Spec, Feature- oder Change-Brief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5C5C5C"/>
                </a:solidFill>
                <a:latin typeface="Arial"/>
              </a:rPr>
              <a:t xml:space="preserve">Was soll gelten, wenn es fertig ist? Ohne festgehaltene Absicht schreibt /planner keinen Plan.</a:t>
            </a:r>
          </a:p>
        </p:txBody>
      </p:sp>
      <p:sp>
        <p:nvSpPr>
          <p:cNvPr id="11" name="NumBadge"/>
          <p:cNvSpPr/>
          <p:nvPr/>
        </p:nvSpPr>
        <p:spPr>
          <a:xfrm>
            <a:off x="502920" y="3300000"/>
            <a:ext cx="380000" cy="380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"/>
          <p:cNvSpPr txBox="1"/>
          <p:nvPr/>
        </p:nvSpPr>
        <p:spPr>
          <a:xfrm>
            <a:off x="502920" y="330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 xml:space="preserve">2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1022920" y="3280000"/>
            <a:ext cx="4230000" cy="7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141414"/>
                </a:solidFill>
                <a:latin typeface="Arial"/>
              </a:rPr>
              <a:t xml:space="preserve">IST — fact-finder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5C5C5C"/>
                </a:solidFill>
                <a:latin typeface="Arial"/>
              </a:rPr>
              <a:t xml:space="preserve">Woher starten wir? Die Codebasis samt Doku plus externes Wissen (Best Practices, Libraries, Standards, Services) — verifiziert festgehalten.</a:t>
            </a:r>
          </a:p>
        </p:txBody>
      </p:sp>
      <p:sp>
        <p:nvSpPr>
          <p:cNvPr id="14" name="NumBadge"/>
          <p:cNvSpPr/>
          <p:nvPr/>
        </p:nvSpPr>
        <p:spPr>
          <a:xfrm>
            <a:off x="502920" y="4100000"/>
            <a:ext cx="380000" cy="380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"/>
          <p:cNvSpPr txBox="1"/>
          <p:nvPr/>
        </p:nvSpPr>
        <p:spPr>
          <a:xfrm>
            <a:off x="502920" y="410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 xml:space="preserve">3</a:t>
            </a:r>
          </a:p>
        </p:txBody>
      </p:sp>
      <p:sp>
        <p:nvSpPr>
          <p:cNvPr id="16" name="TextBox"/>
          <p:cNvSpPr txBox="1"/>
          <p:nvPr/>
        </p:nvSpPr>
        <p:spPr>
          <a:xfrm>
            <a:off x="1022920" y="4080000"/>
            <a:ext cx="4230000" cy="7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141414"/>
                </a:solidFill>
                <a:latin typeface="Arial"/>
              </a:rPr>
              <a:t xml:space="preserve">PLAN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5C5C5C"/>
                </a:solidFill>
                <a:latin typeface="Arial"/>
              </a:rPr>
              <a:t xml:space="preserve">Der Weg vom Ist zur Absicht.</a:t>
            </a:r>
          </a:p>
        </p:txBody>
      </p:sp>
      <p:sp>
        <p:nvSpPr>
          <p:cNvPr id="17" name="UmsetzChip"/>
          <p:cNvSpPr/>
          <p:nvPr/>
        </p:nvSpPr>
        <p:spPr>
          <a:xfrm>
            <a:off x="502920" y="4960000"/>
            <a:ext cx="4750000" cy="470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"/>
          <p:cNvSpPr txBox="1"/>
          <p:nvPr/>
        </p:nvSpPr>
        <p:spPr>
          <a:xfrm>
            <a:off x="502920" y="4960000"/>
            <a:ext cx="4750000" cy="470000"/>
          </a:xfrm>
          <a:prstGeom prst="rect">
            <a:avLst/>
          </a:prstGeom>
          <a:noFill/>
        </p:spPr>
        <p:txBody>
          <a:bodyPr wrap="square" lIns="22860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F3C00"/>
                </a:solidFill>
                <a:latin typeface="Arial"/>
              </a:rPr>
              <a:t xml:space="preserve">→ UMSETZUNG</a:t>
            </a:r>
            <a:r>
              <a:rPr sz="1150" b="0" i="0">
                <a:solidFill>
                  <a:srgbClr val="FFFFFF"/>
                </a:solidFill>
                <a:latin typeface="Arial"/>
              </a:rPr>
              <a:t xml:space="preserve">   erst jetzt entsteht Code.</a:t>
            </a:r>
          </a:p>
        </p:txBody>
      </p:sp>
      <p:sp>
        <p:nvSpPr>
          <p:cNvPr id="19" name="TextBox"/>
          <p:cNvSpPr txBox="1"/>
          <p:nvPr/>
        </p:nvSpPr>
        <p:spPr>
          <a:xfrm>
            <a:off x="502920" y="5580000"/>
            <a:ext cx="475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1" i="0">
                <a:solidFill>
                  <a:srgbClr val="FF3C00"/>
                </a:solidFill>
                <a:latin typeface="Arial"/>
              </a:rPr>
              <a:t xml:space="preserve">Die Absicht ist immer ein Dokument. Ist und Plan dürfen auf dem kürzesten Weg zu bloßen Arbeitsschritten schrumpfen — ausfallen dürfen sie nie.</a:t>
            </a:r>
          </a:p>
        </p:txBody>
      </p:sp>
      <p:sp>
        <p:nvSpPr>
          <p:cNvPr id="20" name="TextBox"/>
          <p:cNvSpPr txBox="1"/>
          <p:nvPr/>
        </p:nvSpPr>
        <p:spPr>
          <a:xfrm>
            <a:off x="6850000" y="2057400"/>
            <a:ext cx="390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 spc="120">
                <a:solidFill>
                  <a:srgbClr val="8A8A8A"/>
                </a:solidFill>
                <a:latin typeface="Arial"/>
              </a:rPr>
              <a:t xml:space="preserve">ALLES ANDERE UMKREIST DEN KERN</a:t>
            </a:r>
          </a:p>
        </p:txBody>
      </p:sp>
      <p:sp>
        <p:nvSpPr>
          <p:cNvPr id="21" name="OrbitRing"/>
          <p:cNvSpPr/>
          <p:nvPr/>
        </p:nvSpPr>
        <p:spPr>
          <a:xfrm>
            <a:off x="6850000" y="2350000"/>
            <a:ext cx="3900000" cy="3900000"/>
          </a:xfrm>
          <a:prstGeom prst="ellipse">
            <a:avLst/>
          </a:prstGeom>
          <a:noFill/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Line"/>
          <p:cNvSpPr/>
          <p:nvPr/>
        </p:nvSpPr>
        <p:spPr>
          <a:xfrm>
            <a:off x="7421136" y="2921136"/>
            <a:ext cx="1378864" cy="1378864"/>
          </a:xfrm>
          <a:prstGeom prst="line">
            <a:avLst/>
          </a:prstGeom>
          <a:ln w="9525">
            <a:solidFill>
              <a:srgbClr val="E8E8E8"/>
            </a:solidFill>
          </a:ln>
          <a:effectLst/>
        </p:spPr>
        <p:txBody>
          <a:bodyPr/>
          <a:lstStyle/>
          <a:p/>
        </p:txBody>
      </p:sp>
      <p:sp>
        <p:nvSpPr>
          <p:cNvPr id="23" name="Line"/>
          <p:cNvSpPr/>
          <p:nvPr/>
        </p:nvSpPr>
        <p:spPr>
          <a:xfrm flipV="1">
            <a:off x="8800000" y="2921136"/>
            <a:ext cx="1378864" cy="1378864"/>
          </a:xfrm>
          <a:prstGeom prst="line">
            <a:avLst/>
          </a:prstGeom>
          <a:ln w="9525">
            <a:solidFill>
              <a:srgbClr val="E8E8E8"/>
            </a:solidFill>
          </a:ln>
          <a:effectLst/>
        </p:spPr>
        <p:txBody>
          <a:bodyPr/>
          <a:lstStyle/>
          <a:p/>
        </p:txBody>
      </p:sp>
      <p:sp>
        <p:nvSpPr>
          <p:cNvPr id="24" name="Line"/>
          <p:cNvSpPr/>
          <p:nvPr/>
        </p:nvSpPr>
        <p:spPr>
          <a:xfrm flipH="1">
            <a:off x="7421136" y="4300000"/>
            <a:ext cx="1378864" cy="1378864"/>
          </a:xfrm>
          <a:prstGeom prst="line">
            <a:avLst/>
          </a:prstGeom>
          <a:ln w="9525">
            <a:solidFill>
              <a:srgbClr val="E8E8E8"/>
            </a:solidFill>
          </a:ln>
          <a:effectLst/>
        </p:spPr>
        <p:txBody>
          <a:bodyPr/>
          <a:lstStyle/>
          <a:p/>
        </p:txBody>
      </p:sp>
      <p:sp>
        <p:nvSpPr>
          <p:cNvPr id="25" name="Line"/>
          <p:cNvSpPr/>
          <p:nvPr/>
        </p:nvSpPr>
        <p:spPr>
          <a:xfrm>
            <a:off x="8800000" y="4300000"/>
            <a:ext cx="1378864" cy="1378864"/>
          </a:xfrm>
          <a:prstGeom prst="line">
            <a:avLst/>
          </a:prstGeom>
          <a:ln w="9525">
            <a:solidFill>
              <a:srgbClr val="E8E8E8"/>
            </a:solidFill>
          </a:ln>
          <a:effectLst/>
        </p:spPr>
        <p:txBody>
          <a:bodyPr/>
          <a:lstStyle/>
          <a:p/>
        </p:txBody>
      </p:sp>
      <p:sp>
        <p:nvSpPr>
          <p:cNvPr id="26" name="Core"/>
          <p:cNvSpPr/>
          <p:nvPr/>
        </p:nvSpPr>
        <p:spPr>
          <a:xfrm>
            <a:off x="8075000" y="3575000"/>
            <a:ext cx="1450000" cy="1450000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TextBox"/>
          <p:cNvSpPr txBox="1"/>
          <p:nvPr/>
        </p:nvSpPr>
        <p:spPr>
          <a:xfrm>
            <a:off x="8075000" y="3575000"/>
            <a:ext cx="1450000" cy="145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00" b="1" i="0" spc="120">
                <a:solidFill>
                  <a:srgbClr val="FF3C00"/>
                </a:solidFill>
                <a:latin typeface="Arial"/>
              </a:rPr>
              <a:t xml:space="preserve">KERN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 xml:space="preserve">Absicht · Ist · Plan</a:t>
            </a:r>
          </a:p>
        </p:txBody>
      </p:sp>
      <p:sp>
        <p:nvSpPr>
          <p:cNvPr id="28" name="Pill_NW"/>
          <p:cNvSpPr/>
          <p:nvPr/>
        </p:nvSpPr>
        <p:spPr>
          <a:xfrm>
            <a:off x="6471136" y="2661136"/>
            <a:ext cx="1900000" cy="52000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TextBox"/>
          <p:cNvSpPr txBox="1"/>
          <p:nvPr/>
        </p:nvSpPr>
        <p:spPr>
          <a:xfrm>
            <a:off x="6471136" y="2661136"/>
            <a:ext cx="1900000" cy="52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141414"/>
                </a:solidFill>
                <a:latin typeface="Arial"/>
              </a:rPr>
              <a:t xml:space="preserve">Green-, Brownfield- &amp; Change-Architekten</a:t>
            </a:r>
          </a:p>
        </p:txBody>
      </p:sp>
      <p:sp>
        <p:nvSpPr>
          <p:cNvPr id="30" name="Pill_NE"/>
          <p:cNvSpPr/>
          <p:nvPr/>
        </p:nvSpPr>
        <p:spPr>
          <a:xfrm>
            <a:off x="9228864" y="2661136"/>
            <a:ext cx="1900000" cy="52000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TextBox"/>
          <p:cNvSpPr txBox="1"/>
          <p:nvPr/>
        </p:nvSpPr>
        <p:spPr>
          <a:xfrm>
            <a:off x="9228864" y="2661136"/>
            <a:ext cx="1900000" cy="52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141414"/>
                </a:solidFill>
                <a:latin typeface="Arial"/>
              </a:rPr>
              <a:t xml:space="preserve">DOX-Governance</a:t>
            </a:r>
          </a:p>
        </p:txBody>
      </p:sp>
      <p:sp>
        <p:nvSpPr>
          <p:cNvPr id="32" name="Pill_SW"/>
          <p:cNvSpPr/>
          <p:nvPr/>
        </p:nvSpPr>
        <p:spPr>
          <a:xfrm>
            <a:off x="6471136" y="5418864"/>
            <a:ext cx="1900000" cy="52000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3" name="TextBox"/>
          <p:cNvSpPr txBox="1"/>
          <p:nvPr/>
        </p:nvSpPr>
        <p:spPr>
          <a:xfrm>
            <a:off x="6471136" y="5418864"/>
            <a:ext cx="1900000" cy="52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141414"/>
                </a:solidFill>
                <a:latin typeface="Arial"/>
              </a:rPr>
              <a:t xml:space="preserve">Sub-Agenten-Flotte</a:t>
            </a:r>
          </a:p>
        </p:txBody>
      </p:sp>
      <p:sp>
        <p:nvSpPr>
          <p:cNvPr id="34" name="Pill_SE"/>
          <p:cNvSpPr/>
          <p:nvPr/>
        </p:nvSpPr>
        <p:spPr>
          <a:xfrm>
            <a:off x="9228864" y="5418864"/>
            <a:ext cx="1900000" cy="52000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TextBox"/>
          <p:cNvSpPr txBox="1"/>
          <p:nvPr/>
        </p:nvSpPr>
        <p:spPr>
          <a:xfrm>
            <a:off x="9228864" y="5418864"/>
            <a:ext cx="1900000" cy="52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141414"/>
                </a:solidFill>
                <a:latin typeface="Arial"/>
              </a:rPr>
              <a:t xml:space="preserve">QA-Workflow</a:t>
            </a:r>
          </a:p>
        </p:txBody>
      </p:sp>
      <p:sp>
        <p:nvSpPr>
          <p:cNvPr id="36" name="TextBox"/>
          <p:cNvSpPr txBox="1"/>
          <p:nvPr/>
        </p:nvSpPr>
        <p:spPr>
          <a:xfrm>
            <a:off x="502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 xml:space="preserve">6</a:t>
            </a:r>
          </a:p>
        </p:txBody>
      </p:sp>
      <p:pic>
        <p:nvPicPr>
          <p:cNvPr id="37" name="Picture" descr="vi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400800"/>
            <a:ext cx="777240" cy="2978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40">
                <a:solidFill>
                  <a:srgbClr val="FF3C00"/>
                </a:solidFill>
                <a:latin typeface="Arial"/>
              </a:rPr>
              <a:t>DER WEG VARIIERT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6751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41414"/>
                </a:solidFill>
                <a:latin typeface="Arial"/>
              </a:rPr>
              <a:t>Dieselbe Kette, fünf Längen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16152"/>
            <a:ext cx="1051560" cy="457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1">
                <a:solidFill>
                  <a:srgbClr val="FF3C00"/>
                </a:solidFill>
                <a:latin typeface="Arial"/>
              </a:rPr>
              <a:t>Anfang und Ende stehen fest: eine festgehaltene Absicht, ausführbarer Code. Wie viele Glieder dazwischen liegen, entscheidet die Größe und der Kontext der Absicht.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993392"/>
            <a:ext cx="11183112" cy="3840480"/>
          </a:xfrm>
          <a:prstGeom prst="rect">
            <a:avLst/>
          </a:prstGeom>
          <a:solidFill>
            <a:srgbClr val="F2F1EF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157984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 spc="200">
                <a:solidFill>
                  <a:srgbClr val="8A8A8A"/>
                </a:solidFill>
                <a:latin typeface="Arial"/>
              </a:rPr>
              <a:t>ANFANG UND ENDE GLEICH — NUR DIE ZAHL DER GLIEDER ÄNDERT SICH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7</a:t>
            </a:r>
          </a:p>
        </p:txBody>
      </p:sp>
      <p:pic>
        <p:nvPicPr>
          <p:cNvPr id="32" name="Picture 31" descr="vi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400800"/>
            <a:ext cx="777240" cy="2978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58368" y="2624327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1">
                <a:solidFill>
                  <a:srgbClr val="8A8A8A"/>
                </a:solidFill>
                <a:latin typeface="Arial"/>
              </a:rPr>
              <a:t>Neues Projekt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0" y="2542032"/>
            <a:ext cx="1207008" cy="402336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ourier New"/>
              </a:rPr>
              <a:t>missions/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7328" y="2542032"/>
            <a:ext cx="25603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0" y="2542032"/>
            <a:ext cx="1207008" cy="402336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ourier New"/>
              </a:rPr>
              <a:t>specs/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368" y="2542032"/>
            <a:ext cx="25603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0" y="2542032"/>
            <a:ext cx="1207008" cy="402336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ourier New"/>
              </a:rPr>
              <a:t>epics/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3408" y="2542032"/>
            <a:ext cx="25603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0" y="2542032"/>
            <a:ext cx="1207008" cy="402336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ourier New"/>
              </a:rPr>
              <a:t>facts/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2542032"/>
            <a:ext cx="25603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2542032"/>
            <a:ext cx="1207008" cy="402336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ourier New"/>
              </a:rPr>
              <a:t>plans/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19488" y="2542032"/>
            <a:ext cx="25603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75520" y="2542032"/>
            <a:ext cx="1207008" cy="402336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ourier New"/>
              </a:rPr>
              <a:t>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236975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1">
                <a:solidFill>
                  <a:srgbClr val="8A8A8A"/>
                </a:solidFill>
                <a:latin typeface="Arial"/>
              </a:rPr>
              <a:t>Neues Feature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0" y="3154679"/>
            <a:ext cx="1207008" cy="402336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ourier New"/>
              </a:rPr>
              <a:t>features/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7328" y="3154679"/>
            <a:ext cx="25603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0" y="3154679"/>
            <a:ext cx="1207008" cy="402336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ourier New"/>
              </a:rPr>
              <a:t>facts/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368" y="3154679"/>
            <a:ext cx="25603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0" y="3154679"/>
            <a:ext cx="1207008" cy="402336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ourier New"/>
              </a:rPr>
              <a:t>plans/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3408" y="3154679"/>
            <a:ext cx="25603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49440" y="3154679"/>
            <a:ext cx="1207008" cy="402336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ourier New"/>
              </a:rPr>
              <a:t>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84962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1">
                <a:solidFill>
                  <a:srgbClr val="8A8A8A"/>
                </a:solidFill>
                <a:latin typeface="Arial"/>
              </a:rPr>
              <a:t>Kleine Änderung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0" y="3767328"/>
            <a:ext cx="1207008" cy="402336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ourier New"/>
              </a:rPr>
              <a:t>changes/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7328" y="3767328"/>
            <a:ext cx="25603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0" y="3767328"/>
            <a:ext cx="1207008" cy="402336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ourier New"/>
              </a:rPr>
              <a:t>facts/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368" y="3767328"/>
            <a:ext cx="25603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0" y="3767328"/>
            <a:ext cx="1207008" cy="402336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ourier New"/>
              </a:rPr>
              <a:t>plans/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3408" y="3767328"/>
            <a:ext cx="25603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49440" y="3767328"/>
            <a:ext cx="1207008" cy="402336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ourier New"/>
              </a:rPr>
              <a:t>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46227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1">
                <a:solidFill>
                  <a:srgbClr val="8A8A8A"/>
                </a:solidFill>
                <a:latin typeface="Arial"/>
              </a:rPr>
              <a:t>route: direct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0" y="4379976"/>
            <a:ext cx="1207008" cy="402336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ourier New"/>
              </a:rPr>
              <a:t>changes/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7328" y="4379976"/>
            <a:ext cx="25603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23360" y="4379976"/>
            <a:ext cx="1207008" cy="402336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ourier New"/>
              </a:rPr>
              <a:t>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0749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1">
                <a:solidFill>
                  <a:srgbClr val="8A8A8A"/>
                </a:solidFill>
                <a:latin typeface="Arial"/>
              </a:rPr>
              <a:t>QA-Befund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0" y="4992624"/>
            <a:ext cx="1207008" cy="402336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ourier New"/>
              </a:rPr>
              <a:t>qa/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7328" y="4992624"/>
            <a:ext cx="25603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0" y="4992624"/>
            <a:ext cx="1207008" cy="402336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ourier New"/>
              </a:rPr>
              <a:t>plans/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368" y="4992624"/>
            <a:ext cx="25603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0" y="4992624"/>
            <a:ext cx="1207008" cy="402336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ourier New"/>
              </a:rPr>
              <a:t>Code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943600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1">
                <a:solidFill>
                  <a:srgbClr val="5C5C5C"/>
                </a:solidFill>
                <a:latin typeface="Arial"/>
              </a:rPr>
              <a:t>Was mit der Länge wächst, ist nicht die Sorgfalt, sondern die Zahl der Übergaben — und jede Übergabe kostet einen kalten Kontext. Richtig ist die kürzeste Kette, die die Absicht noch trägt.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40">
                <a:solidFill>
                  <a:srgbClr val="FF3C00"/>
                </a:solidFill>
                <a:latin typeface="Arial"/>
              </a:rPr>
              <a:t>EINSTIEG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6751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41414"/>
                </a:solidFill>
                <a:latin typeface="Arial"/>
              </a:rPr>
              <a:t>Der Einstieg entscheidet die Länge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16152"/>
            <a:ext cx="1051560" cy="457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8A8A8A"/>
                </a:solidFill>
                <a:latin typeface="Arial"/>
              </a:rPr>
              <a:t>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1828800"/>
            <a:ext cx="38404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1581912" y="1828800"/>
            <a:ext cx="2880360" cy="64008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164592" rIns="0" tIns="0" bIns="0"/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41414"/>
                </a:solidFill>
                <a:latin typeface="Arial"/>
              </a:rPr>
              <a:t>Neues Projekt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8A8A8A"/>
                </a:solidFill>
                <a:latin typeface="Arial"/>
              </a:rPr>
              <a:t>Komplett neue Codebasis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8848" y="1828800"/>
            <a:ext cx="38404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919472" y="1828800"/>
            <a:ext cx="2743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5C5C5C"/>
            </a:solidFill>
          </a:ln>
          <a:effectLst/>
        </p:spPr>
        <p:txBody>
          <a:bodyPr rtlCol="0" anchor="ctr" wrap="square" lIns="164592" rIns="0" tIns="0" bIns="0"/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1414"/>
                </a:solidFill>
                <a:latin typeface="Courier New"/>
              </a:rPr>
              <a:t>/mission-architect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9247" y="1828800"/>
            <a:ext cx="38404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19871" y="1828800"/>
            <a:ext cx="2606040" cy="64008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Greenfield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6060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8A8A8A"/>
                </a:solidFill>
                <a:latin typeface="Arial"/>
              </a:rPr>
              <a:t>Start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2606040"/>
            <a:ext cx="38404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81912" y="2606040"/>
            <a:ext cx="2880360" cy="64008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164592" rIns="0" tIns="0" bIns="0"/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41414"/>
                </a:solidFill>
                <a:latin typeface="Arial"/>
              </a:rPr>
              <a:t>Neues Feature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8A8A8A"/>
                </a:solidFill>
                <a:latin typeface="Arial"/>
              </a:rPr>
              <a:t>Erweiterung eines Systems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2606040"/>
            <a:ext cx="38404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19472" y="2606040"/>
            <a:ext cx="2743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5C5C5C"/>
            </a:solidFill>
          </a:ln>
          <a:effectLst/>
        </p:spPr>
        <p:txBody>
          <a:bodyPr rtlCol="0" anchor="ctr" wrap="square" lIns="164592" rIns="0" tIns="0" bIns="0"/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1414"/>
                </a:solidFill>
                <a:latin typeface="Courier New"/>
              </a:rPr>
              <a:t>/feature-architect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9247" y="2606040"/>
            <a:ext cx="38404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19871" y="2606040"/>
            <a:ext cx="2606040" cy="64008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Brownfield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3832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8A8A8A"/>
                </a:solidFill>
                <a:latin typeface="Arial"/>
              </a:rPr>
              <a:t>Start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1288" y="3383280"/>
            <a:ext cx="38404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81912" y="3383280"/>
            <a:ext cx="2880360" cy="64008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164592" rIns="0" tIns="0" bIns="0"/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41414"/>
                </a:solidFill>
                <a:latin typeface="Arial"/>
              </a:rPr>
              <a:t>Kleine Änderung / Bug / Wartung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8A8A8A"/>
                </a:solidFill>
                <a:latin typeface="Arial"/>
              </a:rPr>
              <a:t>Lokalisierte Anpassung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3383280"/>
            <a:ext cx="38404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19472" y="3383280"/>
            <a:ext cx="2743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5C5C5C"/>
            </a:solidFill>
          </a:ln>
          <a:effectLst/>
        </p:spPr>
        <p:txBody>
          <a:bodyPr rtlCol="0" anchor="ctr" wrap="square" lIns="164592" rIns="0" tIns="0" bIns="0"/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1414"/>
                </a:solidFill>
                <a:latin typeface="Courier New"/>
              </a:rPr>
              <a:t>/change-architect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074920"/>
            <a:ext cx="11183112" cy="96012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256032" rIns="256032" tIns="0" bIns="0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1" i="0">
                <a:solidFill>
                  <a:srgbClr val="FF3C00"/>
                </a:solidFill>
                <a:latin typeface="Arial"/>
              </a:rPr>
              <a:t xml:space="preserve">Drei Regeln:  </a:t>
            </a:r>
            <a:r>
              <a:rPr sz="1150" b="0" i="0">
                <a:solidFill>
                  <a:srgbClr val="141414"/>
                </a:solidFill>
                <a:latin typeface="Arial"/>
              </a:rPr>
              <a:t>Brownfield überspringt /epic-planner — Epic-Zerlegung schneidet eine ganze Spezifikation in mehrere parallele Ströme, und ein Feature ist ein Strom. Braucht ein Feature diese Zerlegung doch, ist es kein Feature, sondern ein Subsystem: eigene Wertaussage UND mehrere Ströme — dann geht es über /mission-architect. Und der Change-Pfad hat zwei Ausgänge; welchen, entscheidet das Feld route: im Brief.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8</a:t>
            </a:r>
          </a:p>
        </p:txBody>
      </p:sp>
      <p:pic>
        <p:nvPicPr>
          <p:cNvPr id="26" name="Picture 25" descr="vi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400800"/>
            <a:ext cx="777240" cy="297864"/>
          </a:xfrm>
          <a:prstGeom prst="rect">
            <a:avLst/>
          </a:prstGeom>
        </p:spPr>
      </p:pic>
      <p:sp>
        <p:nvSpPr>
          <p:cNvPr id="27" name="Row3Add"/>
          <p:cNvSpPr txBox="1"/>
          <p:nvPr/>
        </p:nvSpPr>
        <p:spPr>
          <a:xfrm>
            <a:off x="7699247" y="3383280"/>
            <a:ext cx="38404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28" name="Row3Add"/>
          <p:cNvSpPr/>
          <p:nvPr/>
        </p:nvSpPr>
        <p:spPr>
          <a:xfrm>
            <a:off x="8119871" y="3383280"/>
            <a:ext cx="2606040" cy="64008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Zwei Ausgänge — Folie 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1605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8A8A8A"/>
                </a:solidFill>
                <a:latin typeface="Arial"/>
              </a:rPr>
              <a:t>Start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1288" y="4160520"/>
            <a:ext cx="38404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81912" y="4160520"/>
            <a:ext cx="2880360" cy="64008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164592" rIns="0" tIns="0" bIns="0"/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41414"/>
                </a:solidFill>
                <a:latin typeface="Arial"/>
              </a:rPr>
              <a:t>Code-Qualität prüfen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8A8A8A"/>
                </a:solidFill>
                <a:latin typeface="Arial"/>
              </a:rPr>
              <a:t>Review parallel zur Arbeit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4160520"/>
            <a:ext cx="38404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19472" y="4160520"/>
            <a:ext cx="2743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5C5C5C"/>
            </a:solidFill>
          </a:ln>
          <a:effectLst/>
        </p:spPr>
        <p:txBody>
          <a:bodyPr rtlCol="0" anchor="ctr" wrap="square" lIns="164592" rIns="0" tIns="0" bIns="0"/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1414"/>
                </a:solidFill>
                <a:latin typeface="Courier New"/>
              </a:rPr>
              <a:t>/fact-finder QA</a:t>
            </a:r>
          </a:p>
        </p:txBody>
      </p:sp>
      <p:sp>
        <p:nvSpPr>
          <p:cNvPr id="27" name="Row3Add"/>
          <p:cNvSpPr txBox="1"/>
          <p:nvPr/>
        </p:nvSpPr>
        <p:spPr>
          <a:xfrm>
            <a:off x="7699247" y="4160520"/>
            <a:ext cx="38404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28" name="Row3Add"/>
          <p:cNvSpPr/>
          <p:nvPr/>
        </p:nvSpPr>
        <p:spPr>
          <a:xfrm>
            <a:off x="8119871" y="4160520"/>
            <a:ext cx="2606040" cy="64008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QA-Bericht → qa/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40">
                <a:solidFill>
                  <a:srgbClr val="FF3C00"/>
                </a:solidFill>
                <a:latin typeface="Arial"/>
              </a:rPr>
              <a:t>DIE LANGE KETTE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6751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41414"/>
                </a:solidFill>
                <a:latin typeface="Arial"/>
              </a:rPr>
              <a:t>Warum ein Projekt drei Dokumente braucht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16152"/>
            <a:ext cx="1051560" cy="457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572768"/>
            <a:ext cx="713232" cy="246888"/>
          </a:xfrm>
          <a:prstGeom prst="rect">
            <a:avLst/>
          </a:prstGeom>
          <a:solidFill>
            <a:srgbClr val="5C5C5C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i="0" spc="120">
                <a:solidFill>
                  <a:srgbClr val="FFFFFF"/>
                </a:solidFill>
                <a:latin typeface="Arial"/>
              </a:rPr>
              <a:t>READS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414"/>
                </a:solidFill>
                <a:latin typeface="Courier New"/>
              </a:rPr>
              <a:t>thoughts/shared/missions/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59" y="1517904"/>
            <a:ext cx="457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572768"/>
            <a:ext cx="868680" cy="246888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i="0" spc="120">
                <a:solidFill>
                  <a:srgbClr val="FFFFFF"/>
                </a:solidFill>
                <a:latin typeface="Arial"/>
              </a:rPr>
              <a:t>PRODUCES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554480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3C00"/>
                </a:solidFill>
                <a:latin typeface="Courier New"/>
              </a:rPr>
              <a:t>specs/  ·  epics/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331720"/>
            <a:ext cx="3514344" cy="233172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331720"/>
            <a:ext cx="3514344" cy="50292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2569463"/>
            <a:ext cx="30388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F3C00"/>
                </a:solidFill>
                <a:latin typeface="Courier New"/>
              </a:rPr>
              <a:t>missions/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2898648"/>
            <a:ext cx="30388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141414"/>
                </a:solidFill>
                <a:latin typeface="Arial"/>
              </a:rPr>
              <a:t>Das Warum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" y="3520439"/>
            <a:ext cx="303885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 i="0">
                <a:solidFill>
                  <a:srgbClr val="5C5C5C"/>
                </a:solidFill>
                <a:latin typeface="Arial"/>
              </a:rPr>
              <a:t>Wert, Problem, Grenzen — mit striktem Verbot von Technologienamen. Kein React, kein PostgreSQL.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7304" y="2331720"/>
            <a:ext cx="3514344" cy="233172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37304" y="2331720"/>
            <a:ext cx="3514344" cy="50292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5048" y="2569463"/>
            <a:ext cx="30388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F3C00"/>
                </a:solidFill>
                <a:latin typeface="Courier New"/>
              </a:rPr>
              <a:t>specs/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5048" y="2898648"/>
            <a:ext cx="30388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141414"/>
                </a:solidFill>
                <a:latin typeface="Arial"/>
              </a:rPr>
              <a:t>Das Was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5048" y="3520439"/>
            <a:ext cx="303885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 i="0">
                <a:solidFill>
                  <a:srgbClr val="5C5C5C"/>
                </a:solidFill>
                <a:latin typeface="Arial"/>
              </a:rPr>
              <a:t>Architektur, Datenflüsse und Datenmodell als graph TD, sequenceDiagram und erDiagram — technologieneutral.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71688" y="2331720"/>
            <a:ext cx="3514344" cy="233172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71688" y="2331720"/>
            <a:ext cx="3514344" cy="50292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09432" y="2569463"/>
            <a:ext cx="30388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F3C00"/>
                </a:solidFill>
                <a:latin typeface="Courier New"/>
              </a:rPr>
              <a:t>epics/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09432" y="2898648"/>
            <a:ext cx="30388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141414"/>
                </a:solidFill>
                <a:latin typeface="Arial"/>
              </a:rPr>
              <a:t>Die Ströme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9432" y="3520439"/>
            <a:ext cx="303885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 i="0">
                <a:solidFill>
                  <a:srgbClr val="5C5C5C"/>
                </a:solidFill>
                <a:latin typeface="Arial"/>
              </a:rPr>
              <a:t>Schneidet die Spec in parallel bearbeitbare Ströme, jeder mit Akzeptanzkriterien und Forschungsfragen.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074920"/>
            <a:ext cx="11183112" cy="91440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256032" rIns="256032" tIns="0" bIns="0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1" i="0">
                <a:solidFill>
                  <a:srgbClr val="FF3C00"/>
                </a:solidFill>
                <a:latin typeface="Arial"/>
              </a:rPr>
              <a:t>Warum drei und nicht eins:  </a:t>
            </a:r>
            <a:r>
              <a:rPr sz="1150" b="0" i="0">
                <a:solidFill>
                  <a:srgbClr val="141414"/>
                </a:solidFill>
                <a:latin typeface="Arial"/>
              </a:rPr>
              <a:t xml:space="preserve">Jedes Dokument beantwortet genau eine Frage, und jede Antwort ist die Voraussetzung der nächsten. Die Epic-Zerlegung existiert allein, um eine ganze Spezifikation in mehrere parallele Ströme zu schneiden — ein Feature ist ein Strom, deshalb überspringt Brownfield diesen Schritt.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9</a:t>
            </a:r>
          </a:p>
        </p:txBody>
      </p:sp>
      <p:pic>
        <p:nvPicPr>
          <p:cNvPr id="27" name="Picture 26" descr="vi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400800"/>
            <a:ext cx="777240" cy="2978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"/>
          <p:cNvSpPr txBox="1"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40">
                <a:solidFill>
                  <a:srgbClr val="FF3C00"/>
                </a:solidFill>
                <a:latin typeface="Arial"/>
              </a:rPr>
              <a:t xml:space="preserve">DIE KURZE KETTE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502920" y="66751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41414"/>
                </a:solidFill>
                <a:latin typeface="Arial"/>
              </a:rPr>
              <a:t xml:space="preserve">Klein bleibt klein</a:t>
            </a:r>
          </a:p>
        </p:txBody>
      </p:sp>
      <p:sp>
        <p:nvSpPr>
          <p:cNvPr id="4" name="Rule"/>
          <p:cNvSpPr/>
          <p:nvPr/>
        </p:nvSpPr>
        <p:spPr>
          <a:xfrm>
            <a:off x="502920" y="1216152"/>
            <a:ext cx="1051560" cy="457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"/>
          <p:cNvSpPr txBox="1"/>
          <p:nvPr/>
        </p:nvSpPr>
        <p:spPr>
          <a:xfrm>
            <a:off x="502920" y="1481328"/>
            <a:ext cx="10600000" cy="5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C5C5C"/>
                </a:solidFill>
                <a:latin typeface="Arial"/>
              </a:rPr>
              <a:t xml:space="preserve">Neu in V4.1: Ein Bugfix kostete bisher entweder die volle Pipeline oder er entkam ihr ganz in den Chat. /change-architect hält den Zielzustand auf einer Seite fest — /just-do-it führt ihn direkt zu einem Commit.</a:t>
            </a:r>
          </a:p>
        </p:txBody>
      </p:sp>
      <p:sp>
        <p:nvSpPr>
          <p:cNvPr id="6" name="Num"/>
          <p:cNvSpPr/>
          <p:nvPr/>
        </p:nvSpPr>
        <p:spPr>
          <a:xfrm>
            <a:off x="502920" y="2450000"/>
            <a:ext cx="380000" cy="380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502920" y="245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 xml:space="preserve">1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1022920" y="2430000"/>
            <a:ext cx="5250000" cy="8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141414"/>
                </a:solidFill>
                <a:latin typeface="Arial"/>
              </a:rPr>
              <a:t xml:space="preserve">/change-architect — erst der Zielzustand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 xml:space="preserve">Ein kurzes Gespräch, kein Codebase-Scan. Typisiert als defect, enhancement oder maintenance; der berichtete Ist bleibt ausdrücklich unverifiziert.</a:t>
            </a:r>
          </a:p>
        </p:txBody>
      </p:sp>
      <p:sp>
        <p:nvSpPr>
          <p:cNvPr id="9" name="Num"/>
          <p:cNvSpPr/>
          <p:nvPr/>
        </p:nvSpPr>
        <p:spPr>
          <a:xfrm>
            <a:off x="502920" y="3400000"/>
            <a:ext cx="380000" cy="380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502920" y="340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 xml:space="preserve">2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1022920" y="3380000"/>
            <a:ext cx="5250000" cy="8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141414"/>
                </a:solidFill>
                <a:latin typeface="Arial"/>
              </a:rPr>
              <a:t xml:space="preserve">route: direct | full entscheidet den Ausgang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 xml:space="preserve">direct nur, wenn keine Frage offen ist und genau ein Akzeptanzkriterium existiert. Sonst gilt full — /fact-finder → /planner → /implement.</a:t>
            </a:r>
          </a:p>
        </p:txBody>
      </p:sp>
      <p:sp>
        <p:nvSpPr>
          <p:cNvPr id="12" name="Num"/>
          <p:cNvSpPr/>
          <p:nvPr/>
        </p:nvSpPr>
        <p:spPr>
          <a:xfrm>
            <a:off x="502920" y="4350000"/>
            <a:ext cx="380000" cy="380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"/>
          <p:cNvSpPr txBox="1"/>
          <p:nvPr/>
        </p:nvSpPr>
        <p:spPr>
          <a:xfrm>
            <a:off x="502920" y="435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 xml:space="preserve">3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1022920" y="4330000"/>
            <a:ext cx="5250000" cy="8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141414"/>
                </a:solidFill>
                <a:latin typeface="Arial"/>
              </a:rPr>
              <a:t xml:space="preserve">/just-do-it — ein Reviewer, ein Commit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 xml:space="preserve">Kein Fakten-Bericht, kein Plan, keine Wellen. Was bleibt: Ein Kontext, der die Arbeit nicht gemacht hat, prüft sie gegen die vorher festgehaltene Absicht.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6600000" y="2057400"/>
            <a:ext cx="5088775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 spc="120">
                <a:solidFill>
                  <a:srgbClr val="8A8A8A"/>
                </a:solidFill>
                <a:latin typeface="Arial"/>
              </a:rPr>
              <a:t xml:space="preserve">DIE DREI GRENZEN DES DIREKTEN PFADS</a:t>
            </a:r>
          </a:p>
        </p:txBody>
      </p:sp>
      <p:sp>
        <p:nvSpPr>
          <p:cNvPr id="16" name="FBox"/>
          <p:cNvSpPr/>
          <p:nvPr/>
        </p:nvSpPr>
        <p:spPr>
          <a:xfrm>
            <a:off x="6600000" y="2470000"/>
            <a:ext cx="5088775" cy="64000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"/>
          <p:cNvSpPr txBox="1"/>
          <p:nvPr/>
        </p:nvSpPr>
        <p:spPr>
          <a:xfrm>
            <a:off x="6600000" y="2470000"/>
            <a:ext cx="5088775" cy="6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 spc="80">
                <a:solidFill>
                  <a:srgbClr val="141414"/>
                </a:solidFill>
                <a:latin typeface="Arial"/>
              </a:rPr>
              <a:t xml:space="preserve">~5 DATEIEN GELESEN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C5C5C"/>
                </a:solidFill>
                <a:latin typeface="Arial"/>
              </a:rPr>
              <a:t xml:space="preserve">mehr heißt: der Ist ist unbelegt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6600000" y="3170000"/>
            <a:ext cx="5088775" cy="30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 xml:space="preserve">·</a:t>
            </a:r>
          </a:p>
        </p:txBody>
      </p:sp>
      <p:sp>
        <p:nvSpPr>
          <p:cNvPr id="19" name="FBox"/>
          <p:cNvSpPr/>
          <p:nvPr/>
        </p:nvSpPr>
        <p:spPr>
          <a:xfrm>
            <a:off x="6600000" y="3490000"/>
            <a:ext cx="5088775" cy="64000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"/>
          <p:cNvSpPr txBox="1"/>
          <p:nvPr/>
        </p:nvSpPr>
        <p:spPr>
          <a:xfrm>
            <a:off x="6600000" y="3490000"/>
            <a:ext cx="5088775" cy="6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 spc="80">
                <a:solidFill>
                  <a:srgbClr val="141414"/>
                </a:solidFill>
                <a:latin typeface="Arial"/>
              </a:rPr>
              <a:t xml:space="preserve">GENAU 1 IMPLEMENTIERUNGSORT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C5C5C"/>
                </a:solidFill>
                <a:latin typeface="Arial"/>
              </a:rPr>
              <a:t xml:space="preserve">zwei Orte sind eine Forschungsfrage</a:t>
            </a:r>
          </a:p>
        </p:txBody>
      </p:sp>
      <p:sp>
        <p:nvSpPr>
          <p:cNvPr id="21" name="TextBox"/>
          <p:cNvSpPr txBox="1"/>
          <p:nvPr/>
        </p:nvSpPr>
        <p:spPr>
          <a:xfrm>
            <a:off x="6600000" y="4190000"/>
            <a:ext cx="5088775" cy="30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 xml:space="preserve">·</a:t>
            </a:r>
          </a:p>
        </p:txBody>
      </p:sp>
      <p:sp>
        <p:nvSpPr>
          <p:cNvPr id="22" name="FBox"/>
          <p:cNvSpPr/>
          <p:nvPr/>
        </p:nvSpPr>
        <p:spPr>
          <a:xfrm>
            <a:off x="6600000" y="4510000"/>
            <a:ext cx="5088775" cy="640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TextBox"/>
          <p:cNvSpPr txBox="1"/>
          <p:nvPr/>
        </p:nvSpPr>
        <p:spPr>
          <a:xfrm>
            <a:off x="6600000" y="4510000"/>
            <a:ext cx="5088775" cy="6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 spc="80">
                <a:solidFill>
                  <a:srgbClr val="FFFFFF"/>
                </a:solidFill>
                <a:latin typeface="Arial"/>
              </a:rPr>
              <a:t xml:space="preserve">~50 GEÄNDERTE ZEILEN  —  Prosa trägt nicht mehr</a:t>
            </a:r>
          </a:p>
        </p:txBody>
      </p:sp>
      <p:sp>
        <p:nvSpPr>
          <p:cNvPr id="24" name="Banner"/>
          <p:cNvSpPr/>
          <p:nvPr/>
        </p:nvSpPr>
        <p:spPr>
          <a:xfrm>
            <a:off x="502920" y="5650992"/>
            <a:ext cx="11183112" cy="56692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"/>
          <p:cNvSpPr txBox="1"/>
          <p:nvPr/>
        </p:nvSpPr>
        <p:spPr>
          <a:xfrm>
            <a:off x="502920" y="5650992"/>
            <a:ext cx="11183112" cy="566928"/>
          </a:xfrm>
          <a:prstGeom prst="rect">
            <a:avLst/>
          </a:prstGeom>
          <a:noFill/>
        </p:spPr>
        <p:txBody>
          <a:bodyPr wrap="square" lIns="228600" rIns="0" tIns="0" bIns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 xml:space="preserve">Jede überschrittene Grenze bricht ab und übergibt denselben Brief an /fact-finder — und jeder Lauf, auch der abgebrochene, hinterlässt einen Change Record.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502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 xml:space="preserve">10</a:t>
            </a:r>
          </a:p>
        </p:txBody>
      </p:sp>
      <p:pic>
        <p:nvPicPr>
          <p:cNvPr id="27" name="Picture" descr="vi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400800"/>
            <a:ext cx="777240" cy="2978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"/>
          <p:cNvSpPr txBox="1"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40">
                <a:solidFill>
                  <a:srgbClr val="FF3C00"/>
                </a:solidFill>
                <a:latin typeface="Arial"/>
              </a:rPr>
              <a:t xml:space="preserve">DIE INVARIANTE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502920" y="66751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41414"/>
                </a:solidFill>
                <a:latin typeface="Arial"/>
              </a:rPr>
              <a:t xml:space="preserve">Was auf keinem Weg entfällt</a:t>
            </a:r>
          </a:p>
        </p:txBody>
      </p:sp>
      <p:sp>
        <p:nvSpPr>
          <p:cNvPr id="4" name="Rule"/>
          <p:cNvSpPr/>
          <p:nvPr/>
        </p:nvSpPr>
        <p:spPr>
          <a:xfrm>
            <a:off x="502920" y="1216152"/>
            <a:ext cx="1051560" cy="457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"/>
          <p:cNvSpPr txBox="1"/>
          <p:nvPr/>
        </p:nvSpPr>
        <p:spPr>
          <a:xfrm>
            <a:off x="502920" y="1481328"/>
            <a:ext cx="10600000" cy="5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C5C5C"/>
                </a:solidFill>
                <a:latin typeface="Arial"/>
              </a:rPr>
              <a:t xml:space="preserve">Fünf Längen, ein gemeinsamer Kern. Diese drei Zusagen sind es, die auch die kürzeste Kette noch von einem Prompt im Chat unterscheiden.</a:t>
            </a:r>
          </a:p>
        </p:txBody>
      </p:sp>
      <p:sp>
        <p:nvSpPr>
          <p:cNvPr id="6" name="Num"/>
          <p:cNvSpPr/>
          <p:nvPr/>
        </p:nvSpPr>
        <p:spPr>
          <a:xfrm>
            <a:off x="502920" y="2450000"/>
            <a:ext cx="380000" cy="380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502920" y="245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 xml:space="preserve">1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1022920" y="2430000"/>
            <a:ext cx="5250000" cy="8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141414"/>
                </a:solidFill>
                <a:latin typeface="Arial"/>
              </a:rPr>
              <a:t xml:space="preserve">Die Absicht steht vorher fest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 xml:space="preserve">Sie wird aufgeschrieben, bevor jemand Code liest — und danach nicht mehr angefasst. Artefakte sind write-once, auch von dem Skill, der sie gerade ausführt.</a:t>
            </a:r>
          </a:p>
        </p:txBody>
      </p:sp>
      <p:sp>
        <p:nvSpPr>
          <p:cNvPr id="9" name="Num"/>
          <p:cNvSpPr/>
          <p:nvPr/>
        </p:nvSpPr>
        <p:spPr>
          <a:xfrm>
            <a:off x="502920" y="3400000"/>
            <a:ext cx="380000" cy="380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502920" y="340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 xml:space="preserve">2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1022920" y="3380000"/>
            <a:ext cx="5250000" cy="8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141414"/>
                </a:solidFill>
                <a:latin typeface="Arial"/>
              </a:rPr>
              <a:t xml:space="preserve">Ein fremder Kontext prüft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 xml:space="preserve">Wer die Arbeit gemacht hat, nimmt sie nicht ab. Geprüft wird immer von einem Kontext, der nicht beteiligt war — gegen die vorher festgehaltene Absicht.</a:t>
            </a:r>
          </a:p>
        </p:txBody>
      </p:sp>
      <p:sp>
        <p:nvSpPr>
          <p:cNvPr id="12" name="Num"/>
          <p:cNvSpPr/>
          <p:nvPr/>
        </p:nvSpPr>
        <p:spPr>
          <a:xfrm>
            <a:off x="502920" y="4350000"/>
            <a:ext cx="380000" cy="380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"/>
          <p:cNvSpPr txBox="1"/>
          <p:nvPr/>
        </p:nvSpPr>
        <p:spPr>
          <a:xfrm>
            <a:off x="502920" y="435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 xml:space="preserve">3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1022920" y="4330000"/>
            <a:ext cx="5250000" cy="8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141414"/>
                </a:solidFill>
                <a:latin typeface="Arial"/>
              </a:rPr>
              <a:t xml:space="preserve">Jeder Lauf hinterlässt eine Spur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 xml:space="preserve">Auch der abgebrochene. Ein Lauf, der nichts hinterlässt, ist ein Lauf, den irgendwann jemand wiederholt.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6600000" y="2057400"/>
            <a:ext cx="5088775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 spc="120">
                <a:solidFill>
                  <a:srgbClr val="8A8A8A"/>
                </a:solidFill>
                <a:latin typeface="Arial"/>
              </a:rPr>
              <a:t xml:space="preserve">WO DAS DURCHGESETZT WIRD</a:t>
            </a:r>
          </a:p>
        </p:txBody>
      </p:sp>
      <p:sp>
        <p:nvSpPr>
          <p:cNvPr id="16" name="FBox"/>
          <p:cNvSpPr/>
          <p:nvPr/>
        </p:nvSpPr>
        <p:spPr>
          <a:xfrm>
            <a:off x="6600000" y="2470000"/>
            <a:ext cx="5088775" cy="64000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"/>
          <p:cNvSpPr txBox="1"/>
          <p:nvPr/>
        </p:nvSpPr>
        <p:spPr>
          <a:xfrm>
            <a:off x="6600000" y="2470000"/>
            <a:ext cx="5088775" cy="6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 spc="80">
                <a:solidFill>
                  <a:srgbClr val="141414"/>
                </a:solidFill>
                <a:latin typeface="Arial"/>
              </a:rPr>
              <a:t xml:space="preserve">/planner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C5C5C"/>
                </a:solidFill>
                <a:latin typeface="Arial"/>
              </a:rPr>
              <a:t xml:space="preserve">Kein Plan ohne festgehaltene Absicht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6600000" y="3170000"/>
            <a:ext cx="5088775" cy="30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 xml:space="preserve">·</a:t>
            </a:r>
          </a:p>
        </p:txBody>
      </p:sp>
      <p:sp>
        <p:nvSpPr>
          <p:cNvPr id="19" name="FBox"/>
          <p:cNvSpPr/>
          <p:nvPr/>
        </p:nvSpPr>
        <p:spPr>
          <a:xfrm>
            <a:off x="6600000" y="3490000"/>
            <a:ext cx="5088775" cy="64000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"/>
          <p:cNvSpPr txBox="1"/>
          <p:nvPr/>
        </p:nvSpPr>
        <p:spPr>
          <a:xfrm>
            <a:off x="6600000" y="3490000"/>
            <a:ext cx="5088775" cy="6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 spc="80">
                <a:solidFill>
                  <a:srgbClr val="141414"/>
                </a:solidFill>
                <a:latin typeface="Arial"/>
              </a:rPr>
              <a:t xml:space="preserve">/just-do-it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C5C5C"/>
                </a:solidFill>
                <a:latin typeface="Arial"/>
              </a:rPr>
              <a:t xml:space="preserve">Der Reviewer wird nie übersprungen — egal wie klein der Diff</a:t>
            </a:r>
          </a:p>
        </p:txBody>
      </p:sp>
      <p:sp>
        <p:nvSpPr>
          <p:cNvPr id="21" name="TextBox"/>
          <p:cNvSpPr txBox="1"/>
          <p:nvPr/>
        </p:nvSpPr>
        <p:spPr>
          <a:xfrm>
            <a:off x="6600000" y="4190000"/>
            <a:ext cx="5088775" cy="30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 xml:space="preserve">·</a:t>
            </a:r>
          </a:p>
        </p:txBody>
      </p:sp>
      <p:sp>
        <p:nvSpPr>
          <p:cNvPr id="22" name="FBox"/>
          <p:cNvSpPr/>
          <p:nvPr/>
        </p:nvSpPr>
        <p:spPr>
          <a:xfrm>
            <a:off x="6600000" y="4510000"/>
            <a:ext cx="5088775" cy="640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TextBox"/>
          <p:cNvSpPr txBox="1"/>
          <p:nvPr/>
        </p:nvSpPr>
        <p:spPr>
          <a:xfrm>
            <a:off x="6600000" y="4510000"/>
            <a:ext cx="5088775" cy="6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 spc="80">
                <a:solidFill>
                  <a:srgbClr val="FFFFFF"/>
                </a:solidFill>
                <a:latin typeface="Arial"/>
              </a:rPr>
              <a:t xml:space="preserve">/implement  —  Boundary Check und Review-Gate je Welle</a:t>
            </a:r>
          </a:p>
        </p:txBody>
      </p:sp>
      <p:sp>
        <p:nvSpPr>
          <p:cNvPr id="24" name="Banner"/>
          <p:cNvSpPr/>
          <p:nvPr/>
        </p:nvSpPr>
        <p:spPr>
          <a:xfrm>
            <a:off x="502920" y="5650992"/>
            <a:ext cx="11183112" cy="56692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"/>
          <p:cNvSpPr txBox="1"/>
          <p:nvPr/>
        </p:nvSpPr>
        <p:spPr>
          <a:xfrm>
            <a:off x="502920" y="5650992"/>
            <a:ext cx="11183112" cy="566928"/>
          </a:xfrm>
          <a:prstGeom prst="rect">
            <a:avLst/>
          </a:prstGeom>
          <a:noFill/>
        </p:spPr>
        <p:txBody>
          <a:bodyPr wrap="square" lIns="228600" rIns="0" tIns="0" bIns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 xml:space="preserve">Weglassen darf man die Planung. Die Prüfung gegen eine vorher festgehaltene Absicht nicht — ohne sie bliebe Chatten mit Extraschritten.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502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 xml:space="preserve">11</a:t>
            </a:r>
          </a:p>
        </p:txBody>
      </p:sp>
      <p:pic>
        <p:nvPicPr>
          <p:cNvPr id="27" name="Picture" descr="vi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400800"/>
            <a:ext cx="777240" cy="2978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"/>
          <p:cNvSpPr txBox="1"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40">
                <a:solidFill>
                  <a:srgbClr val="FF3C00"/>
                </a:solidFill>
                <a:latin typeface="Arial"/>
              </a:rPr>
              <a:t xml:space="preserve">VOR DER KETTE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502920" y="66751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41414"/>
                </a:solidFill>
                <a:latin typeface="Arial"/>
              </a:rPr>
              <a:t xml:space="preserve">Wenn die Absicht noch keine ist</a:t>
            </a:r>
          </a:p>
        </p:txBody>
      </p:sp>
      <p:sp>
        <p:nvSpPr>
          <p:cNvPr id="4" name="Rule"/>
          <p:cNvSpPr/>
          <p:nvPr/>
        </p:nvSpPr>
        <p:spPr>
          <a:xfrm>
            <a:off x="502920" y="1216152"/>
            <a:ext cx="1051560" cy="457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"/>
          <p:cNvSpPr txBox="1"/>
          <p:nvPr/>
        </p:nvSpPr>
        <p:spPr>
          <a:xfrm>
            <a:off x="502920" y="1481328"/>
            <a:ext cx="10600000" cy="5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C5C5C"/>
                </a:solidFill>
                <a:latin typeface="Arial"/>
              </a:rPr>
              <a:t xml:space="preserve">Manchmal ist noch nicht klar, was man überhaupt will — dann gibt es nichts festzuhalten. </a:t>
            </a:r>
            <a:r>
              <a:rPr sz="1200" b="1" i="0">
                <a:solidFill>
                  <a:srgbClr val="141414"/>
                </a:solidFill>
                <a:latin typeface="Courier New"/>
              </a:rPr>
              <a:t xml:space="preserve">/prototype</a:t>
            </a:r>
            <a:r>
              <a:rPr sz="1200" b="0" i="0">
                <a:solidFill>
                  <a:srgbClr val="5C5C5C"/>
                </a:solidFill>
                <a:latin typeface="Arial"/>
              </a:rPr>
              <a:t xml:space="preserve"> ist der einzige Weg, der ohne Absicht startet.</a:t>
            </a:r>
          </a:p>
        </p:txBody>
      </p:sp>
      <p:sp>
        <p:nvSpPr>
          <p:cNvPr id="6" name="ZoneLabel"/>
          <p:cNvSpPr/>
          <p:nvPr/>
        </p:nvSpPr>
        <p:spPr>
          <a:xfrm>
            <a:off x="502920" y="2057400"/>
            <a:ext cx="2150000" cy="2743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502920" y="205740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 spc="120">
                <a:solidFill>
                  <a:srgbClr val="FFFFFF"/>
                </a:solidFill>
                <a:latin typeface="Arial"/>
              </a:rPr>
              <a:t xml:space="preserve">SO ARBEITET DER SKILL</a:t>
            </a:r>
          </a:p>
        </p:txBody>
      </p:sp>
      <p:sp>
        <p:nvSpPr>
          <p:cNvPr id="8" name="Num"/>
          <p:cNvSpPr/>
          <p:nvPr/>
        </p:nvSpPr>
        <p:spPr>
          <a:xfrm>
            <a:off x="502920" y="2520000"/>
            <a:ext cx="380000" cy="380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502920" y="252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 xml:space="preserve">1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1022920" y="2500000"/>
            <a:ext cx="5450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141414"/>
                </a:solidFill>
                <a:latin typeface="Arial"/>
              </a:rPr>
              <a:t xml:space="preserve">Isolierter git-Worktree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5C5C5C"/>
                </a:solidFill>
                <a:latin typeface="Arial"/>
              </a:rPr>
              <a:t xml:space="preserve">Wegwerf-Code entsteht getrennt vom Hauptzweig. Phase 5 löscht den Branch — deshalb ist dort alles verboten, was committet: /implement, /just-do-it, /commit.</a:t>
            </a:r>
          </a:p>
        </p:txBody>
      </p:sp>
      <p:sp>
        <p:nvSpPr>
          <p:cNvPr id="11" name="Num"/>
          <p:cNvSpPr/>
          <p:nvPr/>
        </p:nvSpPr>
        <p:spPr>
          <a:xfrm>
            <a:off x="502920" y="3255000"/>
            <a:ext cx="380000" cy="380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"/>
          <p:cNvSpPr txBox="1"/>
          <p:nvPr/>
        </p:nvSpPr>
        <p:spPr>
          <a:xfrm>
            <a:off x="502920" y="3255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 xml:space="preserve">2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1022920" y="3235000"/>
            <a:ext cx="5450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141414"/>
                </a:solidFill>
                <a:latin typeface="Arial"/>
              </a:rPr>
              <a:t xml:space="preserve">Keine Gates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5C5C5C"/>
                </a:solidFill>
                <a:latin typeface="Arial"/>
              </a:rPr>
              <a:t xml:space="preserve">Kein Spec, kein Plan, keine QA — schnelles, rohes Ausprobieren einer Idee.</a:t>
            </a:r>
          </a:p>
        </p:txBody>
      </p:sp>
      <p:sp>
        <p:nvSpPr>
          <p:cNvPr id="14" name="Num"/>
          <p:cNvSpPr/>
          <p:nvPr/>
        </p:nvSpPr>
        <p:spPr>
          <a:xfrm>
            <a:off x="502920" y="3990000"/>
            <a:ext cx="380000" cy="380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"/>
          <p:cNvSpPr txBox="1"/>
          <p:nvPr/>
        </p:nvSpPr>
        <p:spPr>
          <a:xfrm>
            <a:off x="502920" y="399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 xml:space="preserve">3</a:t>
            </a:r>
          </a:p>
        </p:txBody>
      </p:sp>
      <p:sp>
        <p:nvSpPr>
          <p:cNvPr id="16" name="TextBox"/>
          <p:cNvSpPr txBox="1"/>
          <p:nvPr/>
        </p:nvSpPr>
        <p:spPr>
          <a:xfrm>
            <a:off x="1022920" y="3970000"/>
            <a:ext cx="5450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141414"/>
                </a:solidFill>
                <a:latin typeface="Arial"/>
              </a:rPr>
              <a:t xml:space="preserve">Explizite Entscheidung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5C5C5C"/>
                </a:solidFill>
                <a:latin typeface="Arial"/>
              </a:rPr>
              <a:t xml:space="preserve">Am Ende steht bewusst ein klares go / no-go / iterate.</a:t>
            </a:r>
          </a:p>
        </p:txBody>
      </p:sp>
      <p:sp>
        <p:nvSpPr>
          <p:cNvPr id="17" name="Num"/>
          <p:cNvSpPr/>
          <p:nvPr/>
        </p:nvSpPr>
        <p:spPr>
          <a:xfrm>
            <a:off x="502920" y="4725000"/>
            <a:ext cx="380000" cy="380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"/>
          <p:cNvSpPr txBox="1"/>
          <p:nvPr/>
        </p:nvSpPr>
        <p:spPr>
          <a:xfrm>
            <a:off x="502920" y="4725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 xml:space="preserve">4</a:t>
            </a:r>
          </a:p>
        </p:txBody>
      </p:sp>
      <p:sp>
        <p:nvSpPr>
          <p:cNvPr id="19" name="TextBox"/>
          <p:cNvSpPr txBox="1"/>
          <p:nvPr/>
        </p:nvSpPr>
        <p:spPr>
          <a:xfrm>
            <a:off x="1022920" y="4705000"/>
            <a:ext cx="5450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141414"/>
                </a:solidFill>
                <a:latin typeface="Arial"/>
              </a:rPr>
              <a:t xml:space="preserve">Code wird verworfen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5C5C5C"/>
                </a:solidFill>
                <a:latin typeface="Arial"/>
              </a:rPr>
              <a:t xml:space="preserve">Der Code wird immer gelöscht — es bleibt allein die Erkenntnis.</a:t>
            </a:r>
          </a:p>
        </p:txBody>
      </p:sp>
      <p:sp>
        <p:nvSpPr>
          <p:cNvPr id="20" name="ProtoCard"/>
          <p:cNvSpPr/>
          <p:nvPr/>
        </p:nvSpPr>
        <p:spPr>
          <a:xfrm>
            <a:off x="6900000" y="2057400"/>
            <a:ext cx="4758775" cy="3300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TextBox"/>
          <p:cNvSpPr txBox="1"/>
          <p:nvPr/>
        </p:nvSpPr>
        <p:spPr>
          <a:xfrm>
            <a:off x="7200000" y="2337400"/>
            <a:ext cx="4158775" cy="5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ourier New"/>
              </a:rPr>
              <a:t xml:space="preserve">/prototype</a:t>
            </a:r>
          </a:p>
        </p:txBody>
      </p:sp>
      <p:sp>
        <p:nvSpPr>
          <p:cNvPr id="22" name="TextBox"/>
          <p:cNvSpPr txBox="1"/>
          <p:nvPr/>
        </p:nvSpPr>
        <p:spPr>
          <a:xfrm>
            <a:off x="7200000" y="3057400"/>
            <a:ext cx="4158775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 spc="120">
                <a:solidFill>
                  <a:srgbClr val="FF3C00"/>
                </a:solidFill>
                <a:latin typeface="Arial"/>
              </a:rPr>
              <a:t xml:space="preserve">VOR DEM ERSTEN GLIED</a:t>
            </a:r>
          </a:p>
        </p:txBody>
      </p:sp>
      <p:sp>
        <p:nvSpPr>
          <p:cNvPr id="23" name="TextBox"/>
          <p:cNvSpPr txBox="1"/>
          <p:nvPr/>
        </p:nvSpPr>
        <p:spPr>
          <a:xfrm>
            <a:off x="7200000" y="3377400"/>
            <a:ext cx="4158775" cy="5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C8C8C8"/>
                </a:solidFill>
                <a:latin typeface="Arial"/>
              </a:rPr>
              <a:t xml:space="preserve">Vor mission-architect, feature-architect oder change-architect — noch bevor die Kette startet.</a:t>
            </a:r>
          </a:p>
        </p:txBody>
      </p:sp>
      <p:sp>
        <p:nvSpPr>
          <p:cNvPr id="24" name="Line"/>
          <p:cNvSpPr/>
          <p:nvPr/>
        </p:nvSpPr>
        <p:spPr>
          <a:xfrm>
            <a:off x="7200000" y="4137400"/>
            <a:ext cx="4158775" cy="0"/>
          </a:xfrm>
          <a:prstGeom prst="line">
            <a:avLst/>
          </a:prstGeom>
          <a:ln w="9525">
            <a:solidFill>
              <a:srgbClr val="3D3D3D"/>
            </a:solidFill>
          </a:ln>
          <a:effectLst/>
        </p:spPr>
        <p:txBody>
          <a:bodyPr/>
          <a:lstStyle/>
          <a:p/>
        </p:txBody>
      </p:sp>
      <p:sp>
        <p:nvSpPr>
          <p:cNvPr id="25" name="TextBox"/>
          <p:cNvSpPr txBox="1"/>
          <p:nvPr/>
        </p:nvSpPr>
        <p:spPr>
          <a:xfrm>
            <a:off x="7200000" y="4317400"/>
            <a:ext cx="4158775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F3C00"/>
                </a:solidFill>
                <a:latin typeface="Arial"/>
              </a:rPr>
              <a:t xml:space="preserve">→ </a:t>
            </a:r>
            <a:r>
              <a:rPr sz="1250" b="1" i="0">
                <a:solidFill>
                  <a:srgbClr val="FF3C00"/>
                </a:solidFill>
                <a:latin typeface="Courier New"/>
              </a:rPr>
              <a:t xml:space="preserve">thoughts/shared/prototypes/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7200000" y="4757400"/>
            <a:ext cx="4158775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C8C8C8"/>
                </a:solidFill>
                <a:latin typeface="Arial"/>
              </a:rPr>
              <a:t xml:space="preserve">Learnings-Notiz — immer, unabhängig vom Ergebnis.</a:t>
            </a:r>
          </a:p>
        </p:txBody>
      </p:sp>
      <p:sp>
        <p:nvSpPr>
          <p:cNvPr id="27" name="Banner"/>
          <p:cNvSpPr/>
          <p:nvPr/>
        </p:nvSpPr>
        <p:spPr>
          <a:xfrm>
            <a:off x="502920" y="5650992"/>
            <a:ext cx="11183112" cy="566928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TextBox"/>
          <p:cNvSpPr txBox="1"/>
          <p:nvPr/>
        </p:nvSpPr>
        <p:spPr>
          <a:xfrm>
            <a:off x="502920" y="5650992"/>
            <a:ext cx="11183112" cy="566928"/>
          </a:xfrm>
          <a:prstGeom prst="rect">
            <a:avLst/>
          </a:prstGeom>
          <a:noFill/>
        </p:spPr>
        <p:txBody>
          <a:bodyPr wrap="square" lIns="228600" rIns="0" tIns="0" bIns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 xml:space="preserve">Die einzige Kette, die nicht im Code endet: /prototype hinterlässt allein eine Learnings-Notiz — und die Entscheidung, ob eine Absicht daraus wird.</a:t>
            </a:r>
          </a:p>
        </p:txBody>
      </p:sp>
      <p:sp>
        <p:nvSpPr>
          <p:cNvPr id="29" name="TextBox"/>
          <p:cNvSpPr txBox="1"/>
          <p:nvPr/>
        </p:nvSpPr>
        <p:spPr>
          <a:xfrm>
            <a:off x="502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 xml:space="preserve">12</a:t>
            </a:r>
          </a:p>
        </p:txBody>
      </p:sp>
      <p:pic>
        <p:nvPicPr>
          <p:cNvPr id="30" name="Picture" descr="vi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400800"/>
            <a:ext cx="777240" cy="2978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40">
                <a:solidFill>
                  <a:srgbClr val="FF3C00"/>
                </a:solidFill>
                <a:latin typeface="Arial"/>
              </a:rPr>
              <a:t>TEIL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6751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Die Maschinerie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16152"/>
            <a:ext cx="1051560" cy="457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1560" y="3400000"/>
            <a:ext cx="10085832" cy="1280160"/>
          </a:xfrm>
          <a:prstGeom prst="rect">
            <a:avLst/>
          </a:prstGeom>
          <a:solidFill>
            <a:srgbClr val="202020"/>
          </a:solidFill>
          <a:ln w="12700">
            <a:solidFill>
              <a:srgbClr val="3A3A3A"/>
            </a:solidFill>
          </a:ln>
          <a:effectLst/>
        </p:spPr>
        <p:txBody>
          <a:bodyPr rtlCol="0" anchor="ctr" wrap="square" lIns="365760" rIns="365760" tIns="0" bIns="0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Sub-Agenten, Wellen, Governance, Werkzeuge — alles, was die Kette trägt. Wichtig für den, der ORBIT betreibt. Aber nicht die Idee.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8B8B8"/>
                </a:solidFill>
                <a:latin typeface="Arial"/>
              </a:rPr>
              <a:t>13</a:t>
            </a:r>
          </a:p>
        </p:txBody>
      </p:sp>
      <p:pic>
        <p:nvPicPr>
          <p:cNvPr id="15" name="Picture 14" descr="vier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400800"/>
            <a:ext cx="777240" cy="2978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40">
                <a:solidFill>
                  <a:srgbClr val="FF3C00"/>
                </a:solidFill>
                <a:latin typeface="Arial"/>
              </a:rPr>
              <a:t>DAS IST-GLIED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6751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41414"/>
                </a:solidFill>
                <a:latin typeface="Arial"/>
              </a:rPr>
              <a:t>Der fact-finder bildet das faktenbasierte Fundament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16152"/>
            <a:ext cx="1051560" cy="457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572768"/>
            <a:ext cx="713232" cy="246888"/>
          </a:xfrm>
          <a:prstGeom prst="rect">
            <a:avLst/>
          </a:prstGeom>
          <a:solidFill>
            <a:srgbClr val="5C5C5C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i="0" spc="120">
                <a:solidFill>
                  <a:srgbClr val="FFFFFF"/>
                </a:solidFill>
                <a:latin typeface="Arial"/>
              </a:rPr>
              <a:t>READS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414"/>
                </a:solidFill>
                <a:latin typeface="Courier New"/>
              </a:rPr>
              <a:t>epics/ · features/ · changes/ · freie Frage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59" y="1517904"/>
            <a:ext cx="457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572768"/>
            <a:ext cx="868680" cy="246888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i="0" spc="120">
                <a:solidFill>
                  <a:srgbClr val="FFFFFF"/>
                </a:solidFill>
                <a:latin typeface="Arial"/>
              </a:rPr>
              <a:t>PRODUCES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554480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3C00"/>
                </a:solidFill>
                <a:latin typeface="Courier New"/>
              </a:rPr>
              <a:t>thoughts/shared/facts/  ·  qa/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377440"/>
            <a:ext cx="5408676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3C00"/>
            </a:solidFill>
          </a:ln>
          <a:effectLst/>
        </p:spPr>
        <p:txBody>
          <a:bodyPr rtlCol="0" anchor="ctr" wrap="square" lIns="182880" rIns="182880" tIns="0" bIns="0"/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41414"/>
                </a:solidFill>
                <a:latin typeface="Arial"/>
              </a:rPr>
              <a:t>Die oberste Direktive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5C5C5C"/>
                </a:solidFill>
                <a:latin typeface="Arial"/>
              </a:rPr>
              <a:t>Keine Meinungen, keine Annahmen. Nur </a:t>
            </a:r>
            <a:r>
              <a:rPr sz="1100" b="1" i="0">
                <a:solidFill>
                  <a:srgbClr val="FF3C00"/>
                </a:solidFill>
                <a:latin typeface="Arial"/>
              </a:rPr>
              <a:t>verifizierte Beweise</a:t>
            </a:r>
            <a:r>
              <a:rPr sz="1100" b="0" i="0">
                <a:solidFill>
                  <a:srgbClr val="5C5C5C"/>
                </a:solidFill>
                <a:latin typeface="Arial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584448"/>
            <a:ext cx="5408676" cy="210312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201168" rIns="182880" tIns="0" bIns="0"/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200" b="1" i="0">
                <a:solidFill>
                  <a:srgbClr val="FF3C00"/>
                </a:solidFill>
                <a:latin typeface="Arial"/>
              </a:rPr>
              <a:t>›  </a:t>
            </a:r>
            <a:r>
              <a:rPr sz="1150" b="0" i="0">
                <a:solidFill>
                  <a:srgbClr val="141414"/>
                </a:solidFill>
                <a:latin typeface="Arial"/>
              </a:rPr>
              <a:t>Kartografiert die Codebasis-Topologie.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200" b="1" i="0">
                <a:solidFill>
                  <a:srgbClr val="FF3C00"/>
                </a:solidFill>
                <a:latin typeface="Arial"/>
              </a:rPr>
              <a:t>›  </a:t>
            </a:r>
            <a:r>
              <a:rPr sz="1150" b="0" i="0">
                <a:solidFill>
                  <a:srgbClr val="141414"/>
                </a:solidFill>
                <a:latin typeface="Arial"/>
              </a:rPr>
              <a:t>Verfolgt Ausführungspfade durch komplexe Funktionen.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200" b="1" i="0">
                <a:solidFill>
                  <a:srgbClr val="FF3C00"/>
                </a:solidFill>
                <a:latin typeface="Arial"/>
              </a:rPr>
              <a:t>›  </a:t>
            </a:r>
            <a:r>
              <a:rPr sz="1150" b="0" i="0">
                <a:solidFill>
                  <a:srgbClr val="141414"/>
                </a:solidFill>
                <a:latin typeface="Arial"/>
              </a:rPr>
              <a:t>Verifizierte Fakten und upstream-artifact: speisen den Planner.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200" b="1" i="0">
                <a:solidFill>
                  <a:srgbClr val="FF3C00"/>
                </a:solidFill>
                <a:latin typeface="Arial"/>
              </a:rPr>
              <a:t>›  </a:t>
            </a:r>
            <a:r>
              <a:rPr sz="1150" b="0" i="0">
                <a:solidFill>
                  <a:srgbClr val="141414"/>
                </a:solidFill>
                <a:latin typeface="Arial"/>
              </a:rPr>
              <a:t>Unbestätigtes bleibt eine offene Frage.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200" b="1" i="0">
                <a:solidFill>
                  <a:srgbClr val="FF3C00"/>
                </a:solidFill>
                <a:latin typeface="Arial"/>
              </a:rPr>
              <a:t>›  </a:t>
            </a:r>
            <a:r>
              <a:rPr sz="1150" b="0" i="0">
                <a:solidFill>
                  <a:srgbClr val="141414"/>
                </a:solidFill>
                <a:latin typeface="Arial"/>
              </a:rPr>
              <a:t>Ohne Ziel-Artefakt läuft er ausdrücklich als exploratorischer Bericht.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7356" y="2377440"/>
            <a:ext cx="5408676" cy="29900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ourier New"/>
              </a:rPr>
              <a:t>/fact-finder</a:t>
            </a:r>
          </a:p>
        </p:txBody>
      </p:sp>
      <p:sp>
        <p:nvSpPr>
          <p:cNvPr id="13" name="Rectangle 12"/>
          <p:cNvSpPr/>
          <p:nvPr/>
        </p:nvSpPr>
        <p:spPr>
          <a:xfrm rot="21000000">
            <a:off x="9354312" y="2788920"/>
            <a:ext cx="2011680" cy="868680"/>
          </a:xfrm>
          <a:prstGeom prst="rect">
            <a:avLst/>
          </a:prstGeom>
          <a:noFill/>
          <a:ln w="44450">
            <a:solidFill>
              <a:srgbClr val="FF3C00"/>
            </a:solidFill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500" b="1" i="0" spc="150">
                <a:solidFill>
                  <a:srgbClr val="FF3C00"/>
                </a:solidFill>
                <a:latin typeface="Arial"/>
              </a:rPr>
              <a:t>BEWEIS</a:t>
            </a:r>
          </a:p>
          <a:p>
            <a:pPr algn="ctr">
              <a:spcAft>
                <a:spcPts val="0"/>
              </a:spcAft>
            </a:pPr>
            <a:r>
              <a:rPr sz="1300" b="1" i="0" spc="120">
                <a:solidFill>
                  <a:srgbClr val="FF3C00"/>
                </a:solidFill>
                <a:latin typeface="Arial"/>
              </a:rPr>
              <a:t>ERFORDERLICH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14</a:t>
            </a:r>
          </a:p>
        </p:txBody>
      </p:sp>
      <p:pic>
        <p:nvPicPr>
          <p:cNvPr id="15" name="Picture 14" descr="vi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400800"/>
            <a:ext cx="777240" cy="2978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40">
                <a:solidFill>
                  <a:srgbClr val="FF3C00"/>
                </a:solidFill>
                <a:latin typeface="Arial"/>
              </a:rPr>
              <a:t>DAS PLAN-GLIED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6751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41414"/>
                </a:solidFill>
                <a:latin typeface="Arial"/>
              </a:rPr>
              <a:t>Der Planner erstellt den evidenzbasierten Bauplan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16152"/>
            <a:ext cx="1051560" cy="457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572768"/>
            <a:ext cx="713232" cy="246888"/>
          </a:xfrm>
          <a:prstGeom prst="rect">
            <a:avLst/>
          </a:prstGeom>
          <a:solidFill>
            <a:srgbClr val="5C5C5C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i="0" spc="120">
                <a:solidFill>
                  <a:srgbClr val="FFFFFF"/>
                </a:solidFill>
                <a:latin typeface="Arial"/>
              </a:rPr>
              <a:t>READS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414"/>
                </a:solidFill>
                <a:latin typeface="Courier New"/>
              </a:rPr>
              <a:t>thoughts/shared/facts/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59" y="1517904"/>
            <a:ext cx="457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572768"/>
            <a:ext cx="868680" cy="246888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i="0" spc="120">
                <a:solidFill>
                  <a:srgbClr val="FFFFFF"/>
                </a:solidFill>
                <a:latin typeface="Arial"/>
              </a:rPr>
              <a:t>PRODUCES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554480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3C00"/>
                </a:solidFill>
                <a:latin typeface="Courier New"/>
              </a:rPr>
              <a:t>thoughts/shared/plans/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423160"/>
            <a:ext cx="5385816" cy="283464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926080"/>
            <a:ext cx="538581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8A8A8A"/>
                </a:solidFill>
                <a:latin typeface="Courier New"/>
              </a:rPr>
              <a:t>facts/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474720"/>
            <a:ext cx="53858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FF3C00"/>
                </a:solidFill>
                <a:latin typeface="Arial"/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95828" y="4114800"/>
            <a:ext cx="3400000" cy="64008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ourier New"/>
              </a:rPr>
              <a:t>plan.md + STATE.md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0216" y="2423160"/>
            <a:ext cx="5385816" cy="877824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182880" rIns="182880" tIns="0" bIns="0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3C00"/>
                </a:solidFill>
                <a:latin typeface="Arial"/>
              </a:rPr>
              <a:t>Der Task-Kontrakt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80" b="0" i="0">
                <a:solidFill>
                  <a:srgbClr val="5C5C5C"/>
                </a:solidFill>
                <a:latin typeface="Arial"/>
              </a:rPr>
              <a:t>Wave:, Model:, Change Type:, File(s):, allowedAdjacentEdits:, Instruction:, Evidence:, Done When:, Verify:, Context: — zehn Felder mit vier Lesern.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216" y="3401568"/>
            <a:ext cx="5385816" cy="877824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182880" rIns="182880" tIns="0" bIns="0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3C00"/>
                </a:solidFill>
                <a:latin typeface="Arial"/>
              </a:rPr>
              <a:t>Beweispflicht und Verify: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80" b="0" i="0">
                <a:solidFill>
                  <a:srgbClr val="5C5C5C"/>
                </a:solidFill>
                <a:latin typeface="Arial"/>
              </a:rPr>
              <a:t>Jede Änderung belegt mit Pfad:Zeile-Zeile. Verify: muss Inhalt prüfen — eine Zählung genügt nicht, sonst heißt es none — requires review.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0216" y="4379976"/>
            <a:ext cx="5385816" cy="877824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182880" rIns="182880" tIns="0" bIns="0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3C00"/>
                </a:solidFill>
                <a:latin typeface="Arial"/>
              </a:rPr>
              <a:t>Wellen und STATE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80" b="0" i="0">
                <a:solidFill>
                  <a:srgbClr val="5C5C5C"/>
                </a:solidFill>
                <a:latin typeface="Arial"/>
              </a:rPr>
              <a:t>Tasks werden in dateidisjunkte Wellen gruppiert; die STATE-Datei entsteht mit status: in-progress. Nur /implement setzt sie auf complete.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15</a:t>
            </a:r>
          </a:p>
        </p:txBody>
      </p:sp>
      <p:pic>
        <p:nvPicPr>
          <p:cNvPr id="18" name="Picture 17" descr="vi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400800"/>
            <a:ext cx="777240" cy="297864"/>
          </a:xfrm>
          <a:prstGeom prst="rect">
            <a:avLst/>
          </a:prstGeom>
        </p:spPr>
      </p:pic>
      <p:sp>
        <p:nvSpPr>
          <p:cNvPr id="24" name="Banner"/>
          <p:cNvSpPr/>
          <p:nvPr/>
        </p:nvSpPr>
        <p:spPr>
          <a:xfrm>
            <a:off x="502920" y="5650992"/>
            <a:ext cx="11183112" cy="56692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"/>
          <p:cNvSpPr txBox="1"/>
          <p:nvPr/>
        </p:nvSpPr>
        <p:spPr>
          <a:xfrm>
            <a:off x="502920" y="5650992"/>
            <a:ext cx="11183112" cy="566928"/>
          </a:xfrm>
          <a:prstGeom prst="rect">
            <a:avLst/>
          </a:prstGeom>
          <a:noFill/>
        </p:spPr>
        <p:txBody>
          <a:bodyPr wrap="square" lIns="228600" rIns="0" tIns="0" bIns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 xml:space="preserve">Aufnahmeprüfung: Ohne festgehaltenen Zielzustand — upstream-artifact: none und kein QA-Bericht — schreibt /planner keinen Plan, sondern verweist auf /change-architect.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"/>
          <p:cNvSpPr txBox="1"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40">
                <a:solidFill>
                  <a:srgbClr val="FF3C00"/>
                </a:solidFill>
                <a:latin typeface="Arial"/>
              </a:rPr>
              <a:t xml:space="preserve">AUSFÜHRUNGSMODELL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502920" y="66751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41414"/>
                </a:solidFill>
                <a:latin typeface="Arial"/>
              </a:rPr>
              <a:t xml:space="preserve">Wellen statt Warteschlange</a:t>
            </a:r>
          </a:p>
        </p:txBody>
      </p:sp>
      <p:sp>
        <p:nvSpPr>
          <p:cNvPr id="4" name="Rule"/>
          <p:cNvSpPr/>
          <p:nvPr/>
        </p:nvSpPr>
        <p:spPr>
          <a:xfrm>
            <a:off x="502920" y="1216152"/>
            <a:ext cx="1051560" cy="457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"/>
          <p:cNvSpPr txBox="1"/>
          <p:nvPr/>
        </p:nvSpPr>
        <p:spPr>
          <a:xfrm>
            <a:off x="502920" y="1481328"/>
            <a:ext cx="10600000" cy="5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C5C5C"/>
                </a:solidFill>
                <a:latin typeface="Arial"/>
              </a:rPr>
              <a:t xml:space="preserve">Der Plan wird nicht Task für Task ausgeführt, sondern in Wellen dateidisjunkter Arbeit. Innerhalb einer Welle laufen die Implementer gleichzeitig — die Wellen selbst strikt nacheinander.</a:t>
            </a:r>
          </a:p>
        </p:txBody>
      </p:sp>
      <p:sp>
        <p:nvSpPr>
          <p:cNvPr id="6" name="Num"/>
          <p:cNvSpPr/>
          <p:nvPr/>
        </p:nvSpPr>
        <p:spPr>
          <a:xfrm>
            <a:off x="502920" y="2450000"/>
            <a:ext cx="380000" cy="380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502920" y="245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 xml:space="preserve">1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1022920" y="2430000"/>
            <a:ext cx="5250000" cy="8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141414"/>
                </a:solidFill>
                <a:latin typeface="Arial"/>
              </a:rPr>
              <a:t xml:space="preserve">Dateidisjunkt, maximal fünf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 xml:space="preserve">Zwei Tasks teilen eine Welle nur, wenn sich ihre File(s) und allowedAdjacentEdits nicht überschneiden. Wellen aus einem einzigen Task sind normal, kein Versäumnis.</a:t>
            </a:r>
          </a:p>
        </p:txBody>
      </p:sp>
      <p:sp>
        <p:nvSpPr>
          <p:cNvPr id="9" name="Num"/>
          <p:cNvSpPr/>
          <p:nvPr/>
        </p:nvSpPr>
        <p:spPr>
          <a:xfrm>
            <a:off x="502920" y="3400000"/>
            <a:ext cx="380000" cy="380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502920" y="340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 xml:space="preserve">2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1022920" y="3380000"/>
            <a:ext cx="5250000" cy="8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141414"/>
                </a:solidFill>
                <a:latin typeface="Arial"/>
              </a:rPr>
              <a:t xml:space="preserve">Der Orchestrator committet, nicht der Subagent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 xml:space="preserve">Parallele git-Aufrufe würden sich verschränken. Implementer schreiben nur Dateien — jeder Commit und jedes STATE-Update kommt vom Orchestrator.</a:t>
            </a:r>
          </a:p>
        </p:txBody>
      </p:sp>
      <p:sp>
        <p:nvSpPr>
          <p:cNvPr id="12" name="Num"/>
          <p:cNvSpPr/>
          <p:nvPr/>
        </p:nvSpPr>
        <p:spPr>
          <a:xfrm>
            <a:off x="502920" y="4350000"/>
            <a:ext cx="380000" cy="380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"/>
          <p:cNvSpPr txBox="1"/>
          <p:nvPr/>
        </p:nvSpPr>
        <p:spPr>
          <a:xfrm>
            <a:off x="502920" y="435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 xml:space="preserve">3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1022920" y="4330000"/>
            <a:ext cx="5250000" cy="8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141414"/>
                </a:solidFill>
                <a:latin typeface="Arial"/>
              </a:rPr>
              <a:t xml:space="preserve">Zwei Preise, nicht einer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 xml:space="preserve">Implementer laufen auf haiku, Reviewer auf dem Session-Modell. Nicht die Zahl der Subagenten treibt die Kosten, sondern wie viele Tasks einen Reviewer brauchen.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6600000" y="2057400"/>
            <a:ext cx="5088775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 spc="120">
                <a:solidFill>
                  <a:srgbClr val="8A8A8A"/>
                </a:solidFill>
                <a:latin typeface="Arial"/>
              </a:rPr>
              <a:t xml:space="preserve">DAS GATE JEDER WELLE</a:t>
            </a:r>
          </a:p>
        </p:txBody>
      </p:sp>
      <p:sp>
        <p:nvSpPr>
          <p:cNvPr id="16" name="FBox"/>
          <p:cNvSpPr/>
          <p:nvPr/>
        </p:nvSpPr>
        <p:spPr>
          <a:xfrm>
            <a:off x="6600000" y="2470000"/>
            <a:ext cx="5088775" cy="64000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"/>
          <p:cNvSpPr txBox="1"/>
          <p:nvPr/>
        </p:nvSpPr>
        <p:spPr>
          <a:xfrm>
            <a:off x="6600000" y="2470000"/>
            <a:ext cx="5088775" cy="6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 spc="80">
                <a:solidFill>
                  <a:srgbClr val="141414"/>
                </a:solidFill>
                <a:latin typeface="Arial"/>
              </a:rPr>
              <a:t xml:space="preserve">BOUNDARY CHECK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C5C5C"/>
                </a:solidFill>
                <a:latin typeface="Arial"/>
              </a:rPr>
              <a:t xml:space="preserve">Jeder berührte Pfad muss deklariert sein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6600000" y="3170000"/>
            <a:ext cx="5088775" cy="30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 xml:space="preserve">↓</a:t>
            </a:r>
          </a:p>
        </p:txBody>
      </p:sp>
      <p:sp>
        <p:nvSpPr>
          <p:cNvPr id="19" name="FBox"/>
          <p:cNvSpPr/>
          <p:nvPr/>
        </p:nvSpPr>
        <p:spPr>
          <a:xfrm>
            <a:off x="6600000" y="3490000"/>
            <a:ext cx="5088775" cy="64000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"/>
          <p:cNvSpPr txBox="1"/>
          <p:nvPr/>
        </p:nvSpPr>
        <p:spPr>
          <a:xfrm>
            <a:off x="6600000" y="3490000"/>
            <a:ext cx="5088775" cy="6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 spc="80">
                <a:solidFill>
                  <a:srgbClr val="141414"/>
                </a:solidFill>
                <a:latin typeface="Arial"/>
              </a:rPr>
              <a:t xml:space="preserve">FAST PATH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C5C5C"/>
                </a:solidFill>
                <a:latin typeface="Arial"/>
              </a:rPr>
              <a:t xml:space="preserve">Kleiner Diff, keine Logik, ein Verify:, das Inhalt prüft</a:t>
            </a:r>
          </a:p>
        </p:txBody>
      </p:sp>
      <p:sp>
        <p:nvSpPr>
          <p:cNvPr id="21" name="TextBox"/>
          <p:cNvSpPr txBox="1"/>
          <p:nvPr/>
        </p:nvSpPr>
        <p:spPr>
          <a:xfrm>
            <a:off x="6600000" y="4190000"/>
            <a:ext cx="5088775" cy="30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 xml:space="preserve">oder</a:t>
            </a:r>
          </a:p>
        </p:txBody>
      </p:sp>
      <p:sp>
        <p:nvSpPr>
          <p:cNvPr id="22" name="FBox"/>
          <p:cNvSpPr/>
          <p:nvPr/>
        </p:nvSpPr>
        <p:spPr>
          <a:xfrm>
            <a:off x="6600000" y="4510000"/>
            <a:ext cx="5088775" cy="640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TextBox"/>
          <p:cNvSpPr txBox="1"/>
          <p:nvPr/>
        </p:nvSpPr>
        <p:spPr>
          <a:xfrm>
            <a:off x="6600000" y="4510000"/>
            <a:ext cx="5088775" cy="6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 spc="80">
                <a:solidFill>
                  <a:srgbClr val="FFFFFF"/>
                </a:solidFill>
                <a:latin typeface="Arial"/>
              </a:rPr>
              <a:t xml:space="preserve">REVIEWER  —  Spec und Qualität in einem Bericht</a:t>
            </a:r>
          </a:p>
        </p:txBody>
      </p:sp>
      <p:sp>
        <p:nvSpPr>
          <p:cNvPr id="24" name="Banner"/>
          <p:cNvSpPr/>
          <p:nvPr/>
        </p:nvSpPr>
        <p:spPr>
          <a:xfrm>
            <a:off x="502920" y="5650992"/>
            <a:ext cx="11183112" cy="56692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"/>
          <p:cNvSpPr txBox="1"/>
          <p:nvPr/>
        </p:nvSpPr>
        <p:spPr>
          <a:xfrm>
            <a:off x="502920" y="5650992"/>
            <a:ext cx="11183112" cy="566928"/>
          </a:xfrm>
          <a:prstGeom prst="rect">
            <a:avLst/>
          </a:prstGeom>
          <a:noFill/>
        </p:spPr>
        <p:txBody>
          <a:bodyPr wrap="square" lIns="228600" rIns="0" tIns="0" bIns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 xml:space="preserve">Erst wenn die Welle sauber ist, wird committet — ein Commit pro logischer Änderung, jeder mit seinem eigenen STATE-Update.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502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 xml:space="preserve">16</a:t>
            </a:r>
          </a:p>
        </p:txBody>
      </p:sp>
      <p:pic>
        <p:nvPicPr>
          <p:cNvPr id="27" name="Picture" descr="vi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400800"/>
            <a:ext cx="777240" cy="29786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40">
                <a:solidFill>
                  <a:srgbClr val="FF3C00"/>
                </a:solidFill>
                <a:latin typeface="Arial"/>
              </a:rPr>
              <a:t>PHASE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6751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41414"/>
                </a:solidFill>
                <a:latin typeface="Arial"/>
              </a:rPr>
              <a:t>/implement: Der Plan wird ausführbarer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16152"/>
            <a:ext cx="1051560" cy="457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572768"/>
            <a:ext cx="713232" cy="246888"/>
          </a:xfrm>
          <a:prstGeom prst="rect">
            <a:avLst/>
          </a:prstGeom>
          <a:solidFill>
            <a:srgbClr val="5C5C5C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i="0" spc="120">
                <a:solidFill>
                  <a:srgbClr val="FFFFFF"/>
                </a:solidFill>
                <a:latin typeface="Arial"/>
              </a:rPr>
              <a:t>READS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414"/>
                </a:solidFill>
                <a:latin typeface="Courier New"/>
              </a:rPr>
              <a:t>thoughts/shared/plans/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59" y="1517904"/>
            <a:ext cx="457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572768"/>
            <a:ext cx="868680" cy="246888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i="0" spc="120">
                <a:solidFill>
                  <a:srgbClr val="FFFFFF"/>
                </a:solidFill>
                <a:latin typeface="Arial"/>
              </a:rPr>
              <a:t>PRODUCES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554480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3C00"/>
                </a:solidFill>
                <a:latin typeface="Courier New"/>
              </a:rPr>
              <a:t>Produktionsbereiter Quellcode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2590038" cy="1207008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t" wrap="square" lIns="146304" rIns="146304" tIns="118872" bIns="0"/>
          <a:lstStyle/>
          <a:p>
            <a:pPr algn="l">
              <a:spcAft>
                <a:spcPts val="0"/>
              </a:spcAft>
            </a:pPr>
            <a:r>
              <a:rPr sz="900" b="1" i="0" spc="80">
                <a:solidFill>
                  <a:srgbClr val="FF3C00"/>
                </a:solidFill>
                <a:latin typeface="Arial"/>
              </a:rPr>
              <a:t>1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350" b="1" i="0">
                <a:solidFill>
                  <a:srgbClr val="141414"/>
                </a:solidFill>
                <a:latin typeface="Arial"/>
              </a:rPr>
              <a:t>Pre-Flight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5C5C5C"/>
                </a:solidFill>
                <a:latin typeface="Arial"/>
              </a:rPr>
              <a:t>Branch prüfen, Plan vollständig lesen, Baseline setzen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7278" y="2286000"/>
            <a:ext cx="2590038" cy="1207008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t" wrap="square" lIns="146304" rIns="146304" tIns="118872" bIns="0"/>
          <a:lstStyle/>
          <a:p>
            <a:pPr algn="l">
              <a:spcAft>
                <a:spcPts val="0"/>
              </a:spcAft>
            </a:pPr>
            <a:r>
              <a:rPr sz="900" b="1" i="0" spc="80">
                <a:solidFill>
                  <a:srgbClr val="FF3C00"/>
                </a:solidFill>
                <a:latin typeface="Arial"/>
              </a:rPr>
              <a:t>2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350" b="1" i="0">
                <a:solidFill>
                  <a:srgbClr val="141414"/>
                </a:solidFill>
                <a:latin typeface="Arial"/>
              </a:rPr>
              <a:t>Wellen planen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5C5C5C"/>
                </a:solidFill>
                <a:latin typeface="Arial"/>
              </a:rPr>
              <a:t>Dateidisjunkte Tasks gruppieren, maximal 5 gleichzeitig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2286000"/>
            <a:ext cx="2590038" cy="1207008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t" wrap="square" lIns="146304" rIns="146304" tIns="118872" bIns="0"/>
          <a:lstStyle/>
          <a:p>
            <a:pPr algn="l">
              <a:spcAft>
                <a:spcPts val="0"/>
              </a:spcAft>
            </a:pPr>
            <a:r>
              <a:rPr sz="900" b="1" i="0" spc="80">
                <a:solidFill>
                  <a:srgbClr val="FF3C00"/>
                </a:solidFill>
                <a:latin typeface="Arial"/>
              </a:rPr>
              <a:t>3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350" b="1" i="0">
                <a:solidFill>
                  <a:srgbClr val="141414"/>
                </a:solidFill>
                <a:latin typeface="Arial"/>
              </a:rPr>
              <a:t>Dispatch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5C5C5C"/>
                </a:solidFill>
                <a:latin typeface="Arial"/>
              </a:rPr>
              <a:t>Implementer parallel auf haiku — sie committen nie selbst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95994" y="2286000"/>
            <a:ext cx="2590038" cy="1207008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t" wrap="square" lIns="146304" rIns="146304" tIns="118872" bIns="0"/>
          <a:lstStyle/>
          <a:p>
            <a:pPr algn="l">
              <a:spcAft>
                <a:spcPts val="0"/>
              </a:spcAft>
            </a:pPr>
            <a:r>
              <a:rPr sz="900" b="1" i="0" spc="80">
                <a:solidFill>
                  <a:srgbClr val="FF3C00"/>
                </a:solidFill>
                <a:latin typeface="Arial"/>
              </a:rPr>
              <a:t>4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350" b="1" i="0">
                <a:solidFill>
                  <a:srgbClr val="141414"/>
                </a:solidFill>
                <a:latin typeface="Arial"/>
              </a:rPr>
              <a:t>Boundary Check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5C5C5C"/>
                </a:solidFill>
                <a:latin typeface="Arial"/>
              </a:rPr>
              <a:t>Nur deklarierte Pfade dürfen berührt sein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767328"/>
            <a:ext cx="2590038" cy="1207008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t" wrap="square" lIns="146304" rIns="146304" tIns="118872" bIns="0"/>
          <a:lstStyle/>
          <a:p>
            <a:pPr algn="l">
              <a:spcAft>
                <a:spcPts val="0"/>
              </a:spcAft>
            </a:pPr>
            <a:r>
              <a:rPr sz="900" b="1" i="0" spc="80">
                <a:solidFill>
                  <a:srgbClr val="FF3C00"/>
                </a:solidFill>
                <a:latin typeface="Arial"/>
              </a:rPr>
              <a:t>5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350" b="1" i="0">
                <a:solidFill>
                  <a:srgbClr val="141414"/>
                </a:solidFill>
                <a:latin typeface="Arial"/>
              </a:rPr>
              <a:t>Review-Gate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5C5C5C"/>
                </a:solidFill>
                <a:latin typeface="Arial"/>
              </a:rPr>
              <a:t>Fast Path oder Reviewer: Spec und Qualität in einem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67278" y="3767328"/>
            <a:ext cx="2590038" cy="1207008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t" wrap="square" lIns="146304" rIns="146304" tIns="118872" bIns="0"/>
          <a:lstStyle/>
          <a:p>
            <a:pPr algn="l">
              <a:spcAft>
                <a:spcPts val="0"/>
              </a:spcAft>
            </a:pPr>
            <a:r>
              <a:rPr sz="900" b="1" i="0" spc="80">
                <a:solidFill>
                  <a:srgbClr val="FF3C00"/>
                </a:solidFill>
                <a:latin typeface="Arial"/>
              </a:rPr>
              <a:t>6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350" b="1" i="0">
                <a:solidFill>
                  <a:srgbClr val="141414"/>
                </a:solidFill>
                <a:latin typeface="Arial"/>
              </a:rPr>
              <a:t>Commit &amp; STATE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5C5C5C"/>
                </a:solidFill>
                <a:latin typeface="Arial"/>
              </a:rPr>
              <a:t>Ein Commit pro Änderung, jeder mit seinem STATE-Update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1636" y="3767328"/>
            <a:ext cx="2590038" cy="1207008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t" wrap="square" lIns="146304" rIns="146304" tIns="118872" bIns="0"/>
          <a:lstStyle/>
          <a:p>
            <a:pPr algn="l">
              <a:spcAft>
                <a:spcPts val="0"/>
              </a:spcAft>
            </a:pPr>
            <a:r>
              <a:rPr sz="900" b="1" i="0" spc="80">
                <a:solidFill>
                  <a:srgbClr val="FF3C00"/>
                </a:solidFill>
                <a:latin typeface="Arial"/>
              </a:rPr>
              <a:t>7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350" b="1" i="0">
                <a:solidFill>
                  <a:srgbClr val="141414"/>
                </a:solidFill>
                <a:latin typeface="Arial"/>
              </a:rPr>
              <a:t>Nächste Welle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5C5C5C"/>
                </a:solidFill>
                <a:latin typeface="Arial"/>
              </a:rPr>
              <a:t>Wellen laufen strikt sequenziell, nie überlappend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95994" y="3767328"/>
            <a:ext cx="2590038" cy="1207008"/>
          </a:xfrm>
          <a:prstGeom prst="rect">
            <a:avLst/>
          </a:prstGeom>
          <a:solidFill>
            <a:srgbClr val="FF3C00"/>
          </a:solidFill>
          <a:ln w="12700">
            <a:solidFill>
              <a:srgbClr val="FF3C00"/>
            </a:solidFill>
          </a:ln>
          <a:effectLst/>
        </p:spPr>
        <p:txBody>
          <a:bodyPr rtlCol="0" anchor="t" wrap="square" lIns="146304" rIns="146304" tIns="118872" bIns="0"/>
          <a:lstStyle/>
          <a:p>
            <a:pPr algn="l">
              <a:spcAft>
                <a:spcPts val="0"/>
              </a:spcAft>
            </a:pPr>
            <a:r>
              <a:rPr sz="900" b="1" i="0" spc="80">
                <a:solidFill>
                  <a:srgbClr val="FFFFFF"/>
                </a:solidFill>
                <a:latin typeface="Arial"/>
              </a:rPr>
              <a:t>ABNAHME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Acceptance Criteria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status: complete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806440"/>
            <a:ext cx="11183112" cy="566928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228600" rIns="22860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Erst wenn die Acceptance Criteria und der Verification Plan des Epics geprüft sind, setzt /implement status: complete — der einzige Schreiber dieses Feldes.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17</a:t>
            </a:r>
          </a:p>
        </p:txBody>
      </p:sp>
      <p:pic>
        <p:nvPicPr>
          <p:cNvPr id="20" name="Picture 19" descr="vi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400800"/>
            <a:ext cx="777240" cy="2978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40">
                <a:solidFill>
                  <a:srgbClr val="FF3C00"/>
                </a:solidFill>
                <a:latin typeface="Arial"/>
              </a:rPr>
              <a:t>SUB-AGENTEN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6751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41414"/>
                </a:solidFill>
                <a:latin typeface="Arial"/>
              </a:rPr>
              <a:t>Die unsichtbare Flotte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16152"/>
            <a:ext cx="1051560" cy="457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32807" y="1627632"/>
            <a:ext cx="2926080" cy="50292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Orchestrator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468880"/>
            <a:ext cx="3514344" cy="283464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2706624"/>
            <a:ext cx="3038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1414"/>
                </a:solidFill>
                <a:latin typeface="Arial"/>
              </a:rPr>
              <a:t>Die Kartografen  </a:t>
            </a:r>
            <a:r>
              <a:rPr sz="1000" b="0" i="1">
                <a:solidFill>
                  <a:srgbClr val="8A8A8A"/>
                </a:solidFill>
                <a:latin typeface="Arial"/>
              </a:rPr>
              <a:t>(Codebase)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" y="3072384"/>
            <a:ext cx="3038856" cy="2286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3236976"/>
            <a:ext cx="3038856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3C00"/>
                </a:solidFill>
                <a:latin typeface="Courier New"/>
              </a:rPr>
              <a:t>codebase-locator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30" b="0" i="0">
                <a:solidFill>
                  <a:srgbClr val="5C5C5C"/>
                </a:solidFill>
                <a:latin typeface="Arial"/>
              </a:rPr>
              <a:t>Findet Dateien nach Zweck und Topologie.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3968496"/>
            <a:ext cx="3038856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3C00"/>
                </a:solidFill>
                <a:latin typeface="Courier New"/>
              </a:rPr>
              <a:t>codebase-pattern-finder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30" b="0" i="0">
                <a:solidFill>
                  <a:srgbClr val="5C5C5C"/>
                </a:solidFill>
                <a:latin typeface="Arial"/>
              </a:rPr>
              <a:t>Extrahiert dominante Implementierungsmuster.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4700016"/>
            <a:ext cx="3038856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3C00"/>
                </a:solidFill>
                <a:latin typeface="Courier New"/>
              </a:rPr>
              <a:t>codebase-analyzer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30" b="0" i="0">
                <a:solidFill>
                  <a:srgbClr val="5C5C5C"/>
                </a:solidFill>
                <a:latin typeface="Arial"/>
              </a:rPr>
              <a:t>Verfolgt Logik und Datenflüsse in Dateien.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37304" y="2468880"/>
            <a:ext cx="3514344" cy="283464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5048" y="2706624"/>
            <a:ext cx="3038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1414"/>
                </a:solidFill>
                <a:latin typeface="Arial"/>
              </a:rPr>
              <a:t>Die Archivare  </a:t>
            </a:r>
            <a:r>
              <a:rPr sz="1000" b="0" i="1">
                <a:solidFill>
                  <a:srgbClr val="8A8A8A"/>
                </a:solidFill>
                <a:latin typeface="Arial"/>
              </a:rPr>
              <a:t>(Historie)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5048" y="3072384"/>
            <a:ext cx="3038856" cy="2286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3236976"/>
            <a:ext cx="3038856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3C00"/>
                </a:solidFill>
                <a:latin typeface="Courier New"/>
              </a:rPr>
              <a:t>thoughts-locator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30" b="0" i="0">
                <a:solidFill>
                  <a:srgbClr val="5C5C5C"/>
                </a:solidFill>
                <a:latin typeface="Arial"/>
              </a:rPr>
              <a:t>Sucht historische Entscheidungsdokumente.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5048" y="3968496"/>
            <a:ext cx="3038856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3C00"/>
                </a:solidFill>
                <a:latin typeface="Courier New"/>
              </a:rPr>
              <a:t>thoughts-analyzer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30" b="0" i="0">
                <a:solidFill>
                  <a:srgbClr val="5C5C5C"/>
                </a:solidFill>
                <a:latin typeface="Arial"/>
              </a:rPr>
              <a:t>Extrahiert reine Signale: Entscheidungen, Specs.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71688" y="2468880"/>
            <a:ext cx="3514344" cy="283464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09432" y="2706624"/>
            <a:ext cx="3038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1414"/>
                </a:solidFill>
                <a:latin typeface="Arial"/>
              </a:rPr>
              <a:t>Die Pfadfinder  </a:t>
            </a:r>
            <a:r>
              <a:rPr sz="1000" b="0" i="1">
                <a:solidFill>
                  <a:srgbClr val="8A8A8A"/>
                </a:solidFill>
                <a:latin typeface="Arial"/>
              </a:rPr>
              <a:t>(Extern)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09432" y="3072384"/>
            <a:ext cx="3038856" cy="2286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09432" y="3236976"/>
            <a:ext cx="3038856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3C00"/>
                </a:solidFill>
                <a:latin typeface="Courier New"/>
              </a:rPr>
              <a:t>web-search-researcher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30" b="0" i="0">
                <a:solidFill>
                  <a:srgbClr val="5C5C5C"/>
                </a:solidFill>
                <a:latin typeface="Arial"/>
              </a:rPr>
              <a:t>Recherchiert externe APIs, Bibliotheken und Best Practices.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532120"/>
            <a:ext cx="111831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1">
                <a:solidFill>
                  <a:srgbClr val="5C5C5C"/>
                </a:solidFill>
                <a:latin typeface="Arial"/>
              </a:rPr>
              <a:t>Diese sechs Agenten sprechen nur mit dem Orchestrator. /implement ist die Ausnahme: seine Implementer und Reviewer laufen als general-purpose — auf haiku bzw. dem Session-Modell.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18</a:t>
            </a:r>
          </a:p>
        </p:txBody>
      </p:sp>
      <p:pic>
        <p:nvPicPr>
          <p:cNvPr id="23" name="Picture 22" descr="vi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400800"/>
            <a:ext cx="777240" cy="29786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40">
                <a:solidFill>
                  <a:srgbClr val="FF3C00"/>
                </a:solidFill>
                <a:latin typeface="Arial"/>
              </a:rPr>
              <a:t>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6751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41414"/>
                </a:solidFill>
                <a:latin typeface="Arial"/>
              </a:rPr>
              <a:t>Das DOX-Framework: Jedes Verzeichnis hat einen Vertrag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16152"/>
            <a:ext cx="1051560" cy="457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1">
                <a:solidFill>
                  <a:srgbClr val="FF3C00"/>
                </a:solidFill>
                <a:latin typeface="Arial"/>
              </a:rPr>
              <a:t>Kein Installations-Paket. Keine Abhängigkeiten. Nur AGENTS.md-Dateien — dort, wo die Arbeit stattfindet.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65960"/>
            <a:ext cx="540867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41414"/>
                </a:solidFill>
                <a:latin typeface="Arial"/>
              </a:rPr>
              <a:t>Was sind AGENTS.md-Dateien?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 i="0">
                <a:solidFill>
                  <a:srgbClr val="5C5C5C"/>
                </a:solidFill>
                <a:latin typeface="Arial"/>
              </a:rPr>
              <a:t>Hierarchische Governance-Verträge für Verzeichnis-Teilbäume. Die Root-AGENTS.md setzt projektweite Regeln; jede Child-AGENTS.md konkretisiert sie für ihre Domäne. Je näher an der Datei, desto stärker gilt sie.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703320"/>
            <a:ext cx="5408676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3C00"/>
            </a:solidFill>
          </a:ln>
          <a:effectLst/>
        </p:spPr>
        <p:txBody>
          <a:bodyPr rtlCol="0" anchor="ctr" wrap="square" lIns="182880" rIns="182880" tIns="0" bIns="0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FF3C00"/>
                </a:solidFill>
                <a:latin typeface="Arial"/>
              </a:rPr>
              <a:t>Nähe-Regel:  </a:t>
            </a:r>
            <a:r>
              <a:rPr sz="1050" b="0" i="0">
                <a:solidFill>
                  <a:srgbClr val="141414"/>
                </a:solidFill>
                <a:latin typeface="Arial"/>
              </a:rPr>
              <a:t>Die nächste AGENTS.md zur Zieldatei ist der lokale Vertrag. Eltern liefern übergeordnete Regeln. Keine AGENTS.md überschreibt CLAUDE.md — und .claude/** liegt bewusst außerhalb von DOX.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7356" y="1965960"/>
            <a:ext cx="54086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41414"/>
                </a:solidFill>
                <a:latin typeface="Arial"/>
              </a:rPr>
              <a:t>Das Protokoll: Zwei Pflichten</a:t>
            </a:r>
          </a:p>
        </p:txBody>
      </p:sp>
      <p:sp>
        <p:nvSpPr>
          <p:cNvPr id="9" name="Rectangle 8"/>
          <p:cNvSpPr/>
          <p:nvPr/>
        </p:nvSpPr>
        <p:spPr>
          <a:xfrm>
            <a:off x="6277356" y="2350008"/>
            <a:ext cx="5408676" cy="1078992"/>
          </a:xfrm>
          <a:prstGeom prst="rect">
            <a:avLst/>
          </a:prstGeom>
          <a:solidFill>
            <a:srgbClr val="FFFFFF"/>
          </a:solidFill>
          <a:ln w="19050">
            <a:solidFill>
              <a:srgbClr val="FF3C00"/>
            </a:solidFill>
          </a:ln>
          <a:effectLst/>
        </p:spPr>
        <p:txBody>
          <a:bodyPr rtlCol="0" anchor="ctr" wrap="square" lIns="182880" rIns="182880" tIns="0" bIns="0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1414"/>
                </a:solidFill>
                <a:latin typeface="Arial"/>
              </a:rPr>
              <a:t>Vor jeder Dateiänderung — Lesen</a:t>
            </a:r>
          </a:p>
          <a:p>
            <a:pPr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</a:pPr>
            <a:r>
              <a:rPr sz="1080" b="0" i="0">
                <a:solidFill>
                  <a:srgbClr val="5C5C5C"/>
                </a:solidFill>
                <a:latin typeface="Arial"/>
              </a:rPr>
              <a:t>Vom Repository-Root bis zur Zieldatei jede Ebene prüfen und vorhandene AGENTS.md einlesen.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7356" y="3557015"/>
            <a:ext cx="5408676" cy="1078992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182880" rIns="182880" tIns="0" bIns="0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1414"/>
                </a:solidFill>
                <a:latin typeface="Arial"/>
              </a:rPr>
              <a:t>Nach bedeutsamer Änderung — Schreiben</a:t>
            </a:r>
          </a:p>
          <a:p>
            <a:pPr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</a:pPr>
            <a:r>
              <a:rPr sz="1080" b="0" i="0">
                <a:solidFill>
                  <a:srgbClr val="5C5C5C"/>
                </a:solidFill>
                <a:latin typeface="Arial"/>
              </a:rPr>
              <a:t>Wenn Zweck, Struktur, Ownership oder Konventionen betroffen sind, die nächste AGENTS.md aktualisieren.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806440"/>
            <a:ext cx="11183112" cy="54864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228600" rIns="22860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/dox-init bootstrappt den Vertragsbaum einmalig und überschreibt nie; /dox-update repariert veraltete Verträge nach größeren Änderungen. DOX ist kein Glied der Kette — es ist die Schicht, die alle Glieder umhüllt.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19</a:t>
            </a:r>
          </a:p>
        </p:txBody>
      </p:sp>
      <p:pic>
        <p:nvPicPr>
          <p:cNvPr id="13" name="Picture 12" descr="vi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400800"/>
            <a:ext cx="777240" cy="29786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40">
                <a:solidFill>
                  <a:srgbClr val="FF3C00"/>
                </a:solidFill>
                <a:latin typeface="Arial"/>
              </a:rPr>
              <a:t>QUALITÄTSSICHERUNG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6751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41414"/>
                </a:solidFill>
                <a:latin typeface="Arial"/>
              </a:rPr>
              <a:t>Der parallele QA-Workflow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16152"/>
            <a:ext cx="1051560" cy="457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 i="0">
                <a:solidFill>
                  <a:srgbClr val="FF3C00"/>
                </a:solidFill>
                <a:latin typeface="Arial"/>
              </a:rPr>
              <a:t>Trigger: /fact-finder mit QA-Keywords; der Bericht landet in thoughts/shared/qa/. Er ist selbst eine festgehaltene Absicht — das Regelwerk der Lens ist der Soll, die Funde sind die Lücke. Nur deshalb darf /planner direkt daraus planen.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148840"/>
            <a:ext cx="5408676" cy="1755648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148840"/>
            <a:ext cx="5408676" cy="50292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48600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1414"/>
                </a:solidFill>
                <a:latin typeface="Arial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70632"/>
            <a:ext cx="48600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3C00"/>
                </a:solidFill>
                <a:latin typeface="Courier New"/>
              </a:rPr>
              <a:t>python-qa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18104"/>
            <a:ext cx="4860036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5C5C5C"/>
                </a:solidFill>
                <a:latin typeface="Courier New"/>
              </a:rPr>
              <a:t>ruff (Style), pyright (Types), bandit (Security), interrogate (Docstrings)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7356" y="2148840"/>
            <a:ext cx="5408676" cy="1755648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77356" y="2148840"/>
            <a:ext cx="5408676" cy="50292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1676" y="2423160"/>
            <a:ext cx="48600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1414"/>
                </a:solidFill>
                <a:latin typeface="Arial"/>
              </a:rPr>
              <a:t>TypeScript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1676" y="2770632"/>
            <a:ext cx="48600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3C00"/>
                </a:solidFill>
                <a:latin typeface="Courier New"/>
              </a:rPr>
              <a:t>typescript-qa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1676" y="3118104"/>
            <a:ext cx="4860036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5C5C5C"/>
                </a:solidFill>
                <a:latin typeface="Courier New"/>
              </a:rPr>
              <a:t>tsc (Compilation), eslint (Quality), knip (Dead Code)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224528"/>
            <a:ext cx="5408676" cy="1755648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224528"/>
            <a:ext cx="5408676" cy="50292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498848"/>
            <a:ext cx="48600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1414"/>
                </a:solidFill>
                <a:latin typeface="Arial"/>
              </a:rPr>
              <a:t>Logik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846320"/>
            <a:ext cx="48600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3C00"/>
                </a:solidFill>
                <a:latin typeface="Courier New"/>
              </a:rPr>
              <a:t>logic-bugs-qa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193792"/>
            <a:ext cx="4860036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5C5C5C"/>
                </a:solidFill>
                <a:latin typeface="Courier New"/>
              </a:rPr>
              <a:t>Ausführungsverfolgung für Control Flow &amp; Edge Cases (keine einfachen Linter)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77356" y="4224528"/>
            <a:ext cx="5408676" cy="1755648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77356" y="4224528"/>
            <a:ext cx="5408676" cy="50292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1676" y="4498848"/>
            <a:ext cx="48600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1414"/>
                </a:solidFill>
                <a:latin typeface="Arial"/>
              </a:rPr>
              <a:t>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1676" y="4846320"/>
            <a:ext cx="48600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3C00"/>
                </a:solidFill>
                <a:latin typeface="Courier New"/>
              </a:rPr>
              <a:t>clean-code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1676" y="5193792"/>
            <a:ext cx="4860036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5C5C5C"/>
                </a:solidFill>
                <a:latin typeface="Courier New"/>
              </a:rPr>
              <a:t>Komplexität (lizard), Umfang (scc), Duplizierung (jscpd)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20</a:t>
            </a:r>
          </a:p>
        </p:txBody>
      </p:sp>
      <p:pic>
        <p:nvPicPr>
          <p:cNvPr id="27" name="Picture 26" descr="vi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400800"/>
            <a:ext cx="777240" cy="29786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40">
                <a:solidFill>
                  <a:srgbClr val="FF3C00"/>
                </a:solidFill>
                <a:latin typeface="Arial"/>
              </a:rPr>
              <a:t>MCP 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6751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41414"/>
                </a:solidFill>
                <a:latin typeface="Arial"/>
              </a:rPr>
              <a:t>Drei remote Server, kein lokaler Build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16152"/>
            <a:ext cx="1051560" cy="457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828800"/>
            <a:ext cx="3514344" cy="224000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95528" y="2121408"/>
            <a:ext cx="310896" cy="310896"/>
          </a:xfrm>
          <a:prstGeom prst="ellipse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2139696"/>
            <a:ext cx="24719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1414"/>
                </a:solidFill>
                <a:latin typeface="Courier New"/>
              </a:rPr>
              <a:t>crawl4ai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670048"/>
            <a:ext cx="2929128" cy="1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 i="0">
                <a:solidFill>
                  <a:srgbClr val="5C5C5C"/>
                </a:solidFill>
                <a:latin typeface="Arial"/>
              </a:rPr>
              <a:t>Extrahiert Web-Inhalte mit BM25/LLM-Filterung zur Token-Reduktion. Modi: crawl, markdown, screenshot.
${CRAWL4AI_MCP_URL}</a:t>
            </a:r>
          </a:p>
        </p:txBody>
      </p:sp>
      <p:sp>
        <p:nvSpPr>
          <p:cNvPr id="9" name="Rectangle 8"/>
          <p:cNvSpPr/>
          <p:nvPr/>
        </p:nvSpPr>
        <p:spPr>
          <a:xfrm>
            <a:off x="4337304" y="1828800"/>
            <a:ext cx="3514344" cy="224000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29912" y="2121408"/>
            <a:ext cx="310896" cy="310896"/>
          </a:xfrm>
          <a:prstGeom prst="ellipse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7112" y="2139696"/>
            <a:ext cx="24719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1414"/>
                </a:solidFill>
                <a:latin typeface="Courier New"/>
              </a:rPr>
              <a:t>searxng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9912" y="2670048"/>
            <a:ext cx="2929128" cy="1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 i="0">
                <a:solidFill>
                  <a:srgbClr val="5C5C5C"/>
                </a:solidFill>
                <a:latin typeface="Arial"/>
              </a:rPr>
              <a:t>Web-Suche über eine gehostete SearXNG-Instanz — für externe Dokumentation, ohne kommerziellen Suchdienst.
${SEARXNG_MCP_URL}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71688" y="1828800"/>
            <a:ext cx="3514344" cy="224000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64296" y="2121408"/>
            <a:ext cx="310896" cy="310896"/>
          </a:xfrm>
          <a:prstGeom prst="ellipse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21496" y="2139696"/>
            <a:ext cx="24719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1414"/>
                </a:solidFill>
                <a:latin typeface="Courier New"/>
              </a:rPr>
              <a:t>context7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64296" y="2670048"/>
            <a:ext cx="2929128" cy="1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 i="0">
                <a:solidFill>
                  <a:srgbClr val="5C5C5C"/>
                </a:solidFill>
                <a:latin typeface="Arial"/>
              </a:rPr>
              <a:t>resolve-library-id und query-docs liefern tagesaktuelle Bibliotheks-Dokumentation statt veraltetem Trainingswissen.
mcp.context7.com/mcp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21</a:t>
            </a:r>
          </a:p>
        </p:txBody>
      </p:sp>
      <p:pic>
        <p:nvPicPr>
          <p:cNvPr id="22" name="Picture 21" descr="vi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400800"/>
            <a:ext cx="777240" cy="297864"/>
          </a:xfrm>
          <a:prstGeom prst="rect">
            <a:avLst/>
          </a:prstGeom>
        </p:spPr>
      </p:pic>
      <p:sp>
        <p:nvSpPr>
          <p:cNvPr id="23" name="Band"/>
          <p:cNvSpPr/>
          <p:nvPr/>
        </p:nvSpPr>
        <p:spPr>
          <a:xfrm>
            <a:off x="502920" y="4360000"/>
            <a:ext cx="11183112" cy="96012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256032" rIns="256032" tIns="0" bIns="0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1" i="0">
                <a:solidFill>
                  <a:srgbClr val="FF3C00"/>
                </a:solidFill>
                <a:latin typeface="Arial"/>
              </a:rPr>
              <a:t xml:space="preserve">Alle drei sind remote:  </a:t>
            </a:r>
            <a:r>
              <a:rPr sz="1150" b="0" i="0">
                <a:solidFill>
                  <a:srgbClr val="141414"/>
                </a:solidFill>
                <a:latin typeface="Arial"/>
              </a:rPr>
              <a:t>deklariert in der Wurzel-.mcp.json, ohne lokalen Build, und über enableAllProjectMcpServers automatisch aktiv. Seit V4.0.1 kommen die Endpunkte aus der gitignorierten .env — CRAWL4AI_MCP_URL, SEARXNG_MCP_URL und CONTEXT7_API_KEY. Ein Klon ohne .env startet daher ganz ohne funktionierenden MCP-Server; die aktuellen Werte stehen in .env.example.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40">
                <a:solidFill>
                  <a:srgbClr val="FF3C00"/>
                </a:solidFill>
                <a:latin typeface="Arial"/>
              </a:rPr>
              <a:t>QUICK-START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6751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41414"/>
                </a:solidFill>
                <a:latin typeface="Arial"/>
              </a:rPr>
              <a:t>Command Reference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16152"/>
            <a:ext cx="1051560" cy="457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920240"/>
            <a:ext cx="11183112" cy="4160520"/>
          </a:xfrm>
          <a:prstGeom prst="rect">
            <a:avLst/>
          </a:prstGeom>
          <a:solidFill>
            <a:srgbClr val="1E203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2194560"/>
            <a:ext cx="155448" cy="155448"/>
          </a:xfrm>
          <a:prstGeom prst="ellipse">
            <a:avLst/>
          </a:prstGeom>
          <a:solidFill>
            <a:srgbClr val="E055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78992" y="2194560"/>
            <a:ext cx="155448" cy="155448"/>
          </a:xfrm>
          <a:prstGeom prst="ellipse">
            <a:avLst/>
          </a:prstGeom>
          <a:solidFill>
            <a:srgbClr val="E0B0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35024" y="2194560"/>
            <a:ext cx="155448" cy="155448"/>
          </a:xfrm>
          <a:prstGeom prst="ellipse">
            <a:avLst/>
          </a:prstGeom>
          <a:solidFill>
            <a:srgbClr val="55B87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5088636"/>
            <a:ext cx="10515600" cy="10972"/>
          </a:xfrm>
          <a:prstGeom prst="rect">
            <a:avLst/>
          </a:prstGeom>
          <a:solidFill>
            <a:srgbClr val="3A3D4E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22</a:t>
            </a:r>
          </a:p>
        </p:txBody>
      </p:sp>
      <p:pic>
        <p:nvPicPr>
          <p:cNvPr id="32" name="Picture 31" descr="vi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400800"/>
            <a:ext cx="777240" cy="297864"/>
          </a:xfrm>
          <a:prstGeom prst="rect">
            <a:avLst/>
          </a:prstGeom>
        </p:spPr>
      </p:pic>
      <p:sp>
        <p:nvSpPr>
          <p:cNvPr id="33" name="Row"/>
          <p:cNvSpPr txBox="1"/>
          <p:nvPr/>
        </p:nvSpPr>
        <p:spPr>
          <a:xfrm>
            <a:off x="822960" y="2304288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7A9A"/>
                </a:solidFill>
                <a:latin typeface="Courier New"/>
              </a:rPr>
              <a:t>&gt;</a:t>
            </a:r>
          </a:p>
        </p:txBody>
      </p:sp>
      <p:sp>
        <p:nvSpPr>
          <p:cNvPr id="34" name="Row"/>
          <p:cNvSpPr txBox="1"/>
          <p:nvPr/>
        </p:nvSpPr>
        <p:spPr>
          <a:xfrm>
            <a:off x="1188720" y="2304288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8A070"/>
                </a:solidFill>
                <a:latin typeface="Courier New"/>
              </a:rPr>
              <a:t>/prototype</a:t>
            </a:r>
          </a:p>
        </p:txBody>
      </p:sp>
      <p:sp>
        <p:nvSpPr>
          <p:cNvPr id="35" name="Row"/>
          <p:cNvSpPr txBox="1"/>
          <p:nvPr/>
        </p:nvSpPr>
        <p:spPr>
          <a:xfrm>
            <a:off x="4251959" y="2304288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9AB0C8"/>
                </a:solidFill>
                <a:latin typeface="Arial"/>
              </a:rPr>
              <a:t>Idee im isolierten git-Worktree prüfen — optional, noch vor der Kette</a:t>
            </a:r>
          </a:p>
        </p:txBody>
      </p:sp>
      <p:sp>
        <p:nvSpPr>
          <p:cNvPr id="36" name="Row"/>
          <p:cNvSpPr txBox="1"/>
          <p:nvPr/>
        </p:nvSpPr>
        <p:spPr>
          <a:xfrm>
            <a:off x="822960" y="2551176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7A9A"/>
                </a:solidFill>
                <a:latin typeface="Courier New"/>
              </a:rPr>
              <a:t>&gt;</a:t>
            </a:r>
          </a:p>
        </p:txBody>
      </p:sp>
      <p:sp>
        <p:nvSpPr>
          <p:cNvPr id="37" name="Row"/>
          <p:cNvSpPr txBox="1"/>
          <p:nvPr/>
        </p:nvSpPr>
        <p:spPr>
          <a:xfrm>
            <a:off x="1188720" y="2551176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8A070"/>
                </a:solidFill>
                <a:latin typeface="Courier New"/>
              </a:rPr>
              <a:t>/mission-architect</a:t>
            </a:r>
          </a:p>
        </p:txBody>
      </p:sp>
      <p:sp>
        <p:nvSpPr>
          <p:cNvPr id="38" name="Row"/>
          <p:cNvSpPr txBox="1"/>
          <p:nvPr/>
        </p:nvSpPr>
        <p:spPr>
          <a:xfrm>
            <a:off x="4251959" y="2551176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9AB0C8"/>
                </a:solidFill>
                <a:latin typeface="Arial"/>
              </a:rPr>
              <a:t>Neues Projekt oder Subsystem starten (Greenfield)</a:t>
            </a:r>
          </a:p>
        </p:txBody>
      </p:sp>
      <p:sp>
        <p:nvSpPr>
          <p:cNvPr id="39" name="Row"/>
          <p:cNvSpPr txBox="1"/>
          <p:nvPr/>
        </p:nvSpPr>
        <p:spPr>
          <a:xfrm>
            <a:off x="822960" y="2798064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7A9A"/>
                </a:solidFill>
                <a:latin typeface="Courier New"/>
              </a:rPr>
              <a:t>&gt;</a:t>
            </a:r>
          </a:p>
        </p:txBody>
      </p:sp>
      <p:sp>
        <p:nvSpPr>
          <p:cNvPr id="40" name="Row"/>
          <p:cNvSpPr txBox="1"/>
          <p:nvPr/>
        </p:nvSpPr>
        <p:spPr>
          <a:xfrm>
            <a:off x="1188720" y="2798064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8A070"/>
                </a:solidFill>
                <a:latin typeface="Courier New"/>
              </a:rPr>
              <a:t>/feature-architect</a:t>
            </a:r>
          </a:p>
        </p:txBody>
      </p:sp>
      <p:sp>
        <p:nvSpPr>
          <p:cNvPr id="41" name="Row"/>
          <p:cNvSpPr txBox="1"/>
          <p:nvPr/>
        </p:nvSpPr>
        <p:spPr>
          <a:xfrm>
            <a:off x="4251959" y="2798064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9AB0C8"/>
                </a:solidFill>
                <a:latin typeface="Arial"/>
              </a:rPr>
              <a:t>Neues Feature im bestehenden System definieren (Brownfield)</a:t>
            </a:r>
          </a:p>
        </p:txBody>
      </p:sp>
      <p:sp>
        <p:nvSpPr>
          <p:cNvPr id="42" name="Row"/>
          <p:cNvSpPr txBox="1"/>
          <p:nvPr/>
        </p:nvSpPr>
        <p:spPr>
          <a:xfrm>
            <a:off x="822960" y="3291840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7A9A"/>
                </a:solidFill>
                <a:latin typeface="Courier New"/>
              </a:rPr>
              <a:t>&gt;</a:t>
            </a:r>
          </a:p>
        </p:txBody>
      </p:sp>
      <p:sp>
        <p:nvSpPr>
          <p:cNvPr id="43" name="Row"/>
          <p:cNvSpPr txBox="1"/>
          <p:nvPr/>
        </p:nvSpPr>
        <p:spPr>
          <a:xfrm>
            <a:off x="1188720" y="3291840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8A070"/>
                </a:solidFill>
                <a:latin typeface="Courier New"/>
              </a:rPr>
              <a:t>/specifier</a:t>
            </a:r>
          </a:p>
        </p:txBody>
      </p:sp>
      <p:sp>
        <p:nvSpPr>
          <p:cNvPr id="44" name="Row"/>
          <p:cNvSpPr txBox="1"/>
          <p:nvPr/>
        </p:nvSpPr>
        <p:spPr>
          <a:xfrm>
            <a:off x="4251959" y="329184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9AB0C8"/>
                </a:solidFill>
                <a:latin typeface="Arial"/>
              </a:rPr>
              <a:t>Mission in eine technologieneutrale Spezifikation übersetzen</a:t>
            </a:r>
          </a:p>
        </p:txBody>
      </p:sp>
      <p:sp>
        <p:nvSpPr>
          <p:cNvPr id="45" name="Row"/>
          <p:cNvSpPr txBox="1"/>
          <p:nvPr/>
        </p:nvSpPr>
        <p:spPr>
          <a:xfrm>
            <a:off x="822960" y="3538728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7A9A"/>
                </a:solidFill>
                <a:latin typeface="Courier New"/>
              </a:rPr>
              <a:t>&gt;</a:t>
            </a:r>
          </a:p>
        </p:txBody>
      </p:sp>
      <p:sp>
        <p:nvSpPr>
          <p:cNvPr id="46" name="Row"/>
          <p:cNvSpPr txBox="1"/>
          <p:nvPr/>
        </p:nvSpPr>
        <p:spPr>
          <a:xfrm>
            <a:off x="1188720" y="3538728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8A070"/>
                </a:solidFill>
                <a:latin typeface="Courier New"/>
              </a:rPr>
              <a:t>/epic-planner</a:t>
            </a:r>
          </a:p>
        </p:txBody>
      </p:sp>
      <p:sp>
        <p:nvSpPr>
          <p:cNvPr id="47" name="Row"/>
          <p:cNvSpPr txBox="1"/>
          <p:nvPr/>
        </p:nvSpPr>
        <p:spPr>
          <a:xfrm>
            <a:off x="4251959" y="3538728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9AB0C8"/>
                </a:solidFill>
                <a:latin typeface="Arial"/>
              </a:rPr>
              <a:t>Spec in Epics zerlegen — nur auf dem Greenfield-Pfad</a:t>
            </a:r>
          </a:p>
        </p:txBody>
      </p:sp>
      <p:sp>
        <p:nvSpPr>
          <p:cNvPr id="48" name="Row"/>
          <p:cNvSpPr txBox="1"/>
          <p:nvPr/>
        </p:nvSpPr>
        <p:spPr>
          <a:xfrm>
            <a:off x="822960" y="3785616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7A9A"/>
                </a:solidFill>
                <a:latin typeface="Courier New"/>
              </a:rPr>
              <a:t>&gt;</a:t>
            </a:r>
          </a:p>
        </p:txBody>
      </p:sp>
      <p:sp>
        <p:nvSpPr>
          <p:cNvPr id="49" name="Row"/>
          <p:cNvSpPr txBox="1"/>
          <p:nvPr/>
        </p:nvSpPr>
        <p:spPr>
          <a:xfrm>
            <a:off x="1188720" y="3785616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8A070"/>
                </a:solidFill>
                <a:latin typeface="Courier New"/>
              </a:rPr>
              <a:t>/fact-finder</a:t>
            </a:r>
          </a:p>
        </p:txBody>
      </p:sp>
      <p:sp>
        <p:nvSpPr>
          <p:cNvPr id="50" name="Row"/>
          <p:cNvSpPr txBox="1"/>
          <p:nvPr/>
        </p:nvSpPr>
        <p:spPr>
          <a:xfrm>
            <a:off x="4251959" y="3785616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9AB0C8"/>
                </a:solidFill>
                <a:latin typeface="Arial"/>
              </a:rPr>
              <a:t>Codebasis und externes Wissen verifiziert erheben</a:t>
            </a:r>
          </a:p>
        </p:txBody>
      </p:sp>
      <p:sp>
        <p:nvSpPr>
          <p:cNvPr id="51" name="Row"/>
          <p:cNvSpPr txBox="1"/>
          <p:nvPr/>
        </p:nvSpPr>
        <p:spPr>
          <a:xfrm>
            <a:off x="822960" y="4032504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7A9A"/>
                </a:solidFill>
                <a:latin typeface="Courier New"/>
              </a:rPr>
              <a:t>&gt;</a:t>
            </a:r>
          </a:p>
        </p:txBody>
      </p:sp>
      <p:sp>
        <p:nvSpPr>
          <p:cNvPr id="52" name="Row"/>
          <p:cNvSpPr txBox="1"/>
          <p:nvPr/>
        </p:nvSpPr>
        <p:spPr>
          <a:xfrm>
            <a:off x="1188720" y="4032504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8A070"/>
                </a:solidFill>
                <a:latin typeface="Courier New"/>
              </a:rPr>
              <a:t>/fact-finder QA</a:t>
            </a:r>
          </a:p>
        </p:txBody>
      </p:sp>
      <p:sp>
        <p:nvSpPr>
          <p:cNvPr id="53" name="Row"/>
          <p:cNvSpPr txBox="1"/>
          <p:nvPr/>
        </p:nvSpPr>
        <p:spPr>
          <a:xfrm>
            <a:off x="4251959" y="4032504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9AB0C8"/>
                </a:solidFill>
                <a:latin typeface="Arial"/>
              </a:rPr>
              <a:t>Parallelen Code-Quality-Review starten (Bericht nach qa/)</a:t>
            </a:r>
          </a:p>
        </p:txBody>
      </p:sp>
      <p:sp>
        <p:nvSpPr>
          <p:cNvPr id="54" name="Row"/>
          <p:cNvSpPr txBox="1"/>
          <p:nvPr/>
        </p:nvSpPr>
        <p:spPr>
          <a:xfrm>
            <a:off x="822960" y="4279392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7A9A"/>
                </a:solidFill>
                <a:latin typeface="Courier New"/>
              </a:rPr>
              <a:t>&gt;</a:t>
            </a:r>
          </a:p>
        </p:txBody>
      </p:sp>
      <p:sp>
        <p:nvSpPr>
          <p:cNvPr id="55" name="Row"/>
          <p:cNvSpPr txBox="1"/>
          <p:nvPr/>
        </p:nvSpPr>
        <p:spPr>
          <a:xfrm>
            <a:off x="1188720" y="4279392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8A070"/>
                </a:solidFill>
                <a:latin typeface="Courier New"/>
              </a:rPr>
              <a:t>/planner</a:t>
            </a:r>
          </a:p>
        </p:txBody>
      </p:sp>
      <p:sp>
        <p:nvSpPr>
          <p:cNvPr id="56" name="Row"/>
          <p:cNvSpPr txBox="1"/>
          <p:nvPr/>
        </p:nvSpPr>
        <p:spPr>
          <a:xfrm>
            <a:off x="4251959" y="4279392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9AB0C8"/>
                </a:solidFill>
                <a:latin typeface="Arial"/>
              </a:rPr>
              <a:t>Plan mit Wellen, Evidenz und Verify-Kommandos schreiben</a:t>
            </a:r>
          </a:p>
        </p:txBody>
      </p:sp>
      <p:sp>
        <p:nvSpPr>
          <p:cNvPr id="57" name="Row"/>
          <p:cNvSpPr txBox="1"/>
          <p:nvPr/>
        </p:nvSpPr>
        <p:spPr>
          <a:xfrm>
            <a:off x="822960" y="4526279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7A9A"/>
                </a:solidFill>
                <a:latin typeface="Courier New"/>
              </a:rPr>
              <a:t>&gt;</a:t>
            </a:r>
          </a:p>
        </p:txBody>
      </p:sp>
      <p:sp>
        <p:nvSpPr>
          <p:cNvPr id="58" name="Row"/>
          <p:cNvSpPr txBox="1"/>
          <p:nvPr/>
        </p:nvSpPr>
        <p:spPr>
          <a:xfrm>
            <a:off x="1188720" y="4526279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8A070"/>
                </a:solidFill>
                <a:latin typeface="Courier New"/>
              </a:rPr>
              <a:t>/implement</a:t>
            </a:r>
          </a:p>
        </p:txBody>
      </p:sp>
      <p:sp>
        <p:nvSpPr>
          <p:cNvPr id="59" name="Row"/>
          <p:cNvSpPr txBox="1"/>
          <p:nvPr/>
        </p:nvSpPr>
        <p:spPr>
          <a:xfrm>
            <a:off x="4251959" y="4526279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9AB0C8"/>
                </a:solidFill>
                <a:latin typeface="Arial"/>
              </a:rPr>
              <a:t>Plan wellenweise ausführen — oder nach Abbruch fortsetzen</a:t>
            </a:r>
          </a:p>
        </p:txBody>
      </p:sp>
      <p:sp>
        <p:nvSpPr>
          <p:cNvPr id="60" name="Row"/>
          <p:cNvSpPr txBox="1"/>
          <p:nvPr/>
        </p:nvSpPr>
        <p:spPr>
          <a:xfrm>
            <a:off x="822960" y="5166360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7A9A"/>
                </a:solidFill>
                <a:latin typeface="Courier New"/>
              </a:rPr>
              <a:t>&gt;</a:t>
            </a:r>
          </a:p>
        </p:txBody>
      </p:sp>
      <p:sp>
        <p:nvSpPr>
          <p:cNvPr id="61" name="Row"/>
          <p:cNvSpPr txBox="1"/>
          <p:nvPr/>
        </p:nvSpPr>
        <p:spPr>
          <a:xfrm>
            <a:off x="1188720" y="5166360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8A070"/>
                </a:solidFill>
                <a:latin typeface="Courier New"/>
              </a:rPr>
              <a:t>/dox-init</a:t>
            </a:r>
          </a:p>
        </p:txBody>
      </p:sp>
      <p:sp>
        <p:nvSpPr>
          <p:cNvPr id="62" name="Row"/>
          <p:cNvSpPr txBox="1"/>
          <p:nvPr/>
        </p:nvSpPr>
        <p:spPr>
          <a:xfrm>
            <a:off x="4251959" y="516636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9AB0C8"/>
                </a:solidFill>
                <a:latin typeface="Arial"/>
              </a:rPr>
              <a:t>Governance-Baum bootstrappen (einmalig bei Projektstart)</a:t>
            </a:r>
          </a:p>
        </p:txBody>
      </p:sp>
      <p:sp>
        <p:nvSpPr>
          <p:cNvPr id="63" name="Row"/>
          <p:cNvSpPr txBox="1"/>
          <p:nvPr/>
        </p:nvSpPr>
        <p:spPr>
          <a:xfrm>
            <a:off x="822960" y="5413248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7A9A"/>
                </a:solidFill>
                <a:latin typeface="Courier New"/>
              </a:rPr>
              <a:t>&gt;</a:t>
            </a:r>
          </a:p>
        </p:txBody>
      </p:sp>
      <p:sp>
        <p:nvSpPr>
          <p:cNvPr id="64" name="Row"/>
          <p:cNvSpPr txBox="1"/>
          <p:nvPr/>
        </p:nvSpPr>
        <p:spPr>
          <a:xfrm>
            <a:off x="1188720" y="5413248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8A070"/>
                </a:solidFill>
                <a:latin typeface="Courier New"/>
              </a:rPr>
              <a:t>/dox-update</a:t>
            </a:r>
          </a:p>
        </p:txBody>
      </p:sp>
      <p:sp>
        <p:nvSpPr>
          <p:cNvPr id="65" name="Row"/>
          <p:cNvSpPr txBox="1"/>
          <p:nvPr/>
        </p:nvSpPr>
        <p:spPr>
          <a:xfrm>
            <a:off x="4251959" y="5413248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9AB0C8"/>
                </a:solidFill>
                <a:latin typeface="Arial"/>
              </a:rPr>
              <a:t>Veraltete AGENTS.md-Dateien nach Codeänderungen reparieren</a:t>
            </a:r>
          </a:p>
        </p:txBody>
      </p:sp>
      <p:sp>
        <p:nvSpPr>
          <p:cNvPr id="66" name="Row"/>
          <p:cNvSpPr txBox="1"/>
          <p:nvPr/>
        </p:nvSpPr>
        <p:spPr>
          <a:xfrm>
            <a:off x="822960" y="5660136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7A9A"/>
                </a:solidFill>
                <a:latin typeface="Courier New"/>
              </a:rPr>
              <a:t>&gt;</a:t>
            </a:r>
          </a:p>
        </p:txBody>
      </p:sp>
      <p:sp>
        <p:nvSpPr>
          <p:cNvPr id="67" name="Row"/>
          <p:cNvSpPr txBox="1"/>
          <p:nvPr/>
        </p:nvSpPr>
        <p:spPr>
          <a:xfrm>
            <a:off x="1188720" y="5660136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8A070"/>
                </a:solidFill>
                <a:latin typeface="Courier New"/>
              </a:rPr>
              <a:t>/commit</a:t>
            </a:r>
          </a:p>
        </p:txBody>
      </p:sp>
      <p:sp>
        <p:nvSpPr>
          <p:cNvPr id="68" name="Row"/>
          <p:cNvSpPr txBox="1"/>
          <p:nvPr/>
        </p:nvSpPr>
        <p:spPr>
          <a:xfrm>
            <a:off x="4251959" y="5660136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9AB0C8"/>
                </a:solidFill>
                <a:latin typeface="Arial"/>
              </a:rPr>
              <a:t>Änderungen gruppiert committen — nur manuell aufrufbar</a:t>
            </a:r>
          </a:p>
        </p:txBody>
      </p:sp>
      <p:sp>
        <p:nvSpPr>
          <p:cNvPr id="33" name="Row"/>
          <p:cNvSpPr txBox="1"/>
          <p:nvPr/>
        </p:nvSpPr>
        <p:spPr>
          <a:xfrm>
            <a:off x="822960" y="3044952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7A9A"/>
                </a:solidFill>
                <a:latin typeface="Courier New"/>
              </a:rPr>
              <a:t>&gt;</a:t>
            </a:r>
          </a:p>
        </p:txBody>
      </p:sp>
      <p:sp>
        <p:nvSpPr>
          <p:cNvPr id="34" name="Row"/>
          <p:cNvSpPr txBox="1"/>
          <p:nvPr/>
        </p:nvSpPr>
        <p:spPr>
          <a:xfrm>
            <a:off x="1188720" y="3044952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8A070"/>
                </a:solidFill>
                <a:latin typeface="Courier New"/>
              </a:rPr>
              <a:t>/change-architect</a:t>
            </a:r>
          </a:p>
        </p:txBody>
      </p:sp>
      <p:sp>
        <p:nvSpPr>
          <p:cNvPr id="35" name="Row"/>
          <p:cNvSpPr txBox="1"/>
          <p:nvPr/>
        </p:nvSpPr>
        <p:spPr>
          <a:xfrm>
            <a:off x="4251959" y="3044952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9AB0C8"/>
                </a:solidFill>
                <a:latin typeface="Arial"/>
              </a:rPr>
              <a:t>Zielzustand einer kleinen Änderung festhalten (Change Brief)</a:t>
            </a:r>
          </a:p>
        </p:txBody>
      </p:sp>
      <p:sp>
        <p:nvSpPr>
          <p:cNvPr id="33" name="Row"/>
          <p:cNvSpPr txBox="1"/>
          <p:nvPr/>
        </p:nvSpPr>
        <p:spPr>
          <a:xfrm>
            <a:off x="822960" y="4773167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7A9A"/>
                </a:solidFill>
                <a:latin typeface="Courier New"/>
              </a:rPr>
              <a:t>&gt;</a:t>
            </a:r>
          </a:p>
        </p:txBody>
      </p:sp>
      <p:sp>
        <p:nvSpPr>
          <p:cNvPr id="34" name="Row"/>
          <p:cNvSpPr txBox="1"/>
          <p:nvPr/>
        </p:nvSpPr>
        <p:spPr>
          <a:xfrm>
            <a:off x="1188720" y="4773167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8A070"/>
                </a:solidFill>
                <a:latin typeface="Courier New"/>
              </a:rPr>
              <a:t>/just-do-it</a:t>
            </a:r>
          </a:p>
        </p:txBody>
      </p:sp>
      <p:sp>
        <p:nvSpPr>
          <p:cNvPr id="35" name="Row"/>
          <p:cNvSpPr txBox="1"/>
          <p:nvPr/>
        </p:nvSpPr>
        <p:spPr>
          <a:xfrm>
            <a:off x="4251959" y="4773167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9AB0C8"/>
                </a:solidFill>
                <a:latin typeface="Arial"/>
              </a:rPr>
              <a:t>route: direct-Brief direkt zu einem Commit — nur manuell aufrufbar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40">
                <a:solidFill>
                  <a:srgbClr val="FF3C00"/>
                </a:solidFill>
                <a:latin typeface="Arial"/>
              </a:rPr>
              <a:t>ZUSAMMENFASSUNG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6751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Eine Kette, fünf Längen, ein Versprechen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16152"/>
            <a:ext cx="1051560" cy="457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111831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B8B8B8"/>
                </a:solidFill>
                <a:latin typeface="Courier New"/>
              </a:rPr>
              <a:t>Absicht   →   Ist   →   Plan   →   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2057400"/>
            <a:ext cx="10085832" cy="1143000"/>
          </a:xfrm>
          <a:prstGeom prst="rect">
            <a:avLst/>
          </a:prstGeom>
          <a:solidFill>
            <a:srgbClr val="202020"/>
          </a:solidFill>
          <a:ln w="12700">
            <a:solidFill>
              <a:srgbClr val="3A3A3A"/>
            </a:solidFill>
          </a:ln>
          <a:effectLst/>
        </p:spPr>
        <p:txBody>
          <a:bodyPr rtlCol="0" anchor="ctr" wrap="square" lIns="365760" rIns="365760" tIns="0" bIns="0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Erfolgreiche KI-gestützte Entwicklung beruht nicht auf besseren Coding-Modellen, sondern auf einer Kette von Dokumenten, die bei der Absicht beginnt und im Code endet.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3727" y="352044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3C00"/>
                </a:solidFill>
                <a:latin typeface="Arial"/>
              </a:rPr>
              <a:t>Die Absicht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B8B8B8"/>
                </a:solidFill>
                <a:latin typeface="Arial"/>
              </a:rPr>
              <a:t>steht vor dem Code.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71035" y="3566160"/>
            <a:ext cx="10972" cy="64008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04207" y="352044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3C00"/>
                </a:solidFill>
                <a:latin typeface="Arial"/>
              </a:rPr>
              <a:t>Belege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B8B8B8"/>
                </a:solidFill>
                <a:latin typeface="Arial"/>
              </a:rPr>
              <a:t>ersetzen Annahmen.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11515" y="3566160"/>
            <a:ext cx="10972" cy="64008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4687" y="352044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3C00"/>
                </a:solidFill>
                <a:latin typeface="Arial"/>
              </a:rPr>
              <a:t>Die Prüfung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B8B8B8"/>
                </a:solidFill>
                <a:latin typeface="Arial"/>
              </a:rPr>
              <a:t>kommt von außen.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074920"/>
            <a:ext cx="11183112" cy="77724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228600" rIns="22860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Der Weg zwischen Absicht und Code richtet sich nach der Absicht — nicht umgekehrt.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8B8B8"/>
                </a:solidFill>
                <a:latin typeface="Arial"/>
              </a:rPr>
              <a:t>23</a:t>
            </a:r>
          </a:p>
        </p:txBody>
      </p:sp>
      <p:pic>
        <p:nvPicPr>
          <p:cNvPr id="15" name="Picture 14" descr="vier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400800"/>
            <a:ext cx="777240" cy="2978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